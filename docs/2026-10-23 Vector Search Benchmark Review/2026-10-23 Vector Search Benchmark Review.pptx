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075"/>
          <c:y val="0.03"/>
          <c:w val="0.74"/>
          <c:h val="0.83"/>
        </c:manualLayout>
      </c:layout>
      <c:scatterChart>
        <c:scatterStyle val="lineMarker"/>
        <c:varyColors val="0"/>
        <c:ser>
          <c:idx val="0"/>
          <c:order val="0"/>
          <c:tx>
            <c:strRef>
              <c:f>Sheet1!$B$1</c:f>
              <c:strCache>
                <c:ptCount val="1"/>
                <c:pt idx="0">
                  <c:v>VectorChord</c:v>
                </c:pt>
              </c:strCache>
            </c:strRef>
          </c:tx>
          <c:spPr>
            <a:ln w="28575">
              <a:solidFill>
                <a:srgbClr val="F89E5D"/>
              </a:solidFill>
            </a:ln>
          </c:spPr>
          <c:marker>
            <c:symbol val="circle"/>
            <c:size val="5"/>
            <c:spPr>
              <a:solidFill>
                <a:srgbClr val="F89E5D"/>
              </a:solidFill>
              <a:ln>
                <a:solidFill>
                  <a:srgbClr val="F89E5D"/>
                </a:solidFill>
              </a:ln>
            </c:spPr>
          </c:marker>
          <c:dLbls>
            <c:dLbl>
              <c:idx val="9"/>
              <c:tx>
                <c:rich>
                  <a:bodyPr/>
                  <a:lstStyle/>
                  <a:p>
                    <a:r>
                      <a:rPr sz="1000" b="1">
                        <a:solidFill>
                          <a:srgbClr val="F89E5D"/>
                        </a:solidFill>
                        <a:latin typeface="Roboto"/>
                      </a:rPr>
                      <a:t>VectorChord</a:t>
                    </a:r>
                  </a:p>
                </c:rich>
              </c:tx>
              <c:dLblPos val="l"/>
              <c:showLegendKey val="0"/>
              <c:showVal val="1"/>
              <c:showCatName val="0"/>
              <c:showSerName val="0"/>
              <c:showPercent val="0"/>
              <c:showBubbleSize val="0"/>
            </c:dLbl>
            <c:showLegendKey val="0"/>
            <c:showVal val="0"/>
            <c:showCatName val="0"/>
            <c:showSerName val="0"/>
            <c:showPercent val="0"/>
            <c:showBubbleSize val="0"/>
            <c:showLeaderLines val="1"/>
          </c:dLbls>
          <c:xVal>
            <c:numRef>
              <c:f>Sheet1!$A$2:$A$11</c:f>
              <c:numCache>
                <c:formatCode>General</c:formatCode>
                <c:ptCount val="10"/>
                <c:pt idx="0">
                  <c:v>0.332</c:v>
                </c:pt>
                <c:pt idx="1">
                  <c:v>0.448</c:v>
                </c:pt>
                <c:pt idx="2">
                  <c:v>0.578</c:v>
                </c:pt>
                <c:pt idx="3">
                  <c:v>0.724</c:v>
                </c:pt>
                <c:pt idx="4">
                  <c:v>0.914</c:v>
                </c:pt>
                <c:pt idx="5">
                  <c:v>0.978</c:v>
                </c:pt>
                <c:pt idx="6">
                  <c:v>0.992</c:v>
                </c:pt>
                <c:pt idx="7">
                  <c:v>0.992</c:v>
                </c:pt>
                <c:pt idx="8">
                  <c:v>0.992</c:v>
                </c:pt>
                <c:pt idx="9">
                  <c:v>0.992</c:v>
                </c:pt>
              </c:numCache>
            </c:numRef>
          </c:xVal>
          <c:yVal>
            <c:numRef>
              <c:f>Sheet1!$B$2:$B$11</c:f>
              <c:numCache>
                <c:formatCode>General</c:formatCode>
                <c:ptCount val="10"/>
                <c:pt idx="0">
                  <c:v>4.375</c:v>
                </c:pt>
                <c:pt idx="1">
                  <c:v>7.856</c:v>
                </c:pt>
                <c:pt idx="2">
                  <c:v>12.211</c:v>
                </c:pt>
                <c:pt idx="3">
                  <c:v>18.634</c:v>
                </c:pt>
                <c:pt idx="4">
                  <c:v>33.558</c:v>
                </c:pt>
                <c:pt idx="5">
                  <c:v>60.864</c:v>
                </c:pt>
                <c:pt idx="6">
                  <c:v>99.638</c:v>
                </c:pt>
                <c:pt idx="7">
                  <c:v>111.031</c:v>
                </c:pt>
                <c:pt idx="8">
                  <c:v>127.457</c:v>
                </c:pt>
                <c:pt idx="9">
                  <c:v>147.508</c:v>
                </c:pt>
              </c:numCache>
            </c:numRef>
          </c:yVal>
          <c:smooth val="0"/>
        </c:ser>
        <c:ser>
          <c:idx val="1"/>
          <c:order val="1"/>
          <c:tx>
            <c:strRef>
              <c:f>Sheet1!$B$13</c:f>
              <c:strCache>
                <c:ptCount val="1"/>
                <c:pt idx="0">
                  <c:v>IVFFlat PG</c:v>
                </c:pt>
              </c:strCache>
            </c:strRef>
          </c:tx>
          <c:spPr>
            <a:ln w="28575">
              <a:solidFill>
                <a:srgbClr val="567F8D"/>
              </a:solidFill>
              <a:prstDash val="dash"/>
            </a:ln>
          </c:spPr>
          <c:marker>
            <c:symbol val="circle"/>
            <c:size val="5"/>
            <c:spPr>
              <a:solidFill>
                <a:srgbClr val="567F8D"/>
              </a:solidFill>
              <a:ln>
                <a:solidFill>
                  <a:srgbClr val="567F8D"/>
                </a:solidFill>
              </a:ln>
            </c:spPr>
          </c:marker>
          <c:dLbls>
            <c:dLbl>
              <c:idx val="8"/>
              <c:tx>
                <c:rich>
                  <a:bodyPr/>
                  <a:lstStyle/>
                  <a:p>
                    <a:r>
                      <a:rPr sz="1000" b="1">
                        <a:solidFill>
                          <a:srgbClr val="567F8D"/>
                        </a:solidFill>
                        <a:latin typeface="Roboto"/>
                      </a:rPr>
                      <a:t>IVFFlat PG</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Sheet1!$A$14:$A$22</c:f>
              <c:numCache>
                <c:formatCode>General</c:formatCode>
                <c:ptCount val="9"/>
                <c:pt idx="0">
                  <c:v>0.256</c:v>
                </c:pt>
                <c:pt idx="1">
                  <c:v>0.41</c:v>
                </c:pt>
                <c:pt idx="2">
                  <c:v>0.642</c:v>
                </c:pt>
                <c:pt idx="3">
                  <c:v>0.78</c:v>
                </c:pt>
                <c:pt idx="4">
                  <c:v>0.938</c:v>
                </c:pt>
                <c:pt idx="5">
                  <c:v>0.992</c:v>
                </c:pt>
                <c:pt idx="6">
                  <c:v>1.0</c:v>
                </c:pt>
                <c:pt idx="7">
                  <c:v>1.0</c:v>
                </c:pt>
                <c:pt idx="8">
                  <c:v>1.0</c:v>
                </c:pt>
              </c:numCache>
            </c:numRef>
          </c:xVal>
          <c:yVal>
            <c:numRef>
              <c:f>Sheet1!$B$14:$B$22</c:f>
              <c:numCache>
                <c:formatCode>General</c:formatCode>
                <c:ptCount val="9"/>
                <c:pt idx="0">
                  <c:v>2.258</c:v>
                </c:pt>
                <c:pt idx="1">
                  <c:v>4.054</c:v>
                </c:pt>
                <c:pt idx="2">
                  <c:v>8.412</c:v>
                </c:pt>
                <c:pt idx="3">
                  <c:v>16.943</c:v>
                </c:pt>
                <c:pt idx="4">
                  <c:v>34.796</c:v>
                </c:pt>
                <c:pt idx="5">
                  <c:v>74.655</c:v>
                </c:pt>
                <c:pt idx="6">
                  <c:v>145.12</c:v>
                </c:pt>
                <c:pt idx="7">
                  <c:v>237.701</c:v>
                </c:pt>
                <c:pt idx="8">
                  <c:v>460.789</c:v>
                </c:pt>
              </c:numCache>
            </c:numRef>
          </c:yVal>
          <c:smooth val="0"/>
        </c:ser>
        <c:ser>
          <c:idx val="2"/>
          <c:order val="2"/>
          <c:tx>
            <c:strRef>
              <c:f>Sheet1!$B$24</c:f>
              <c:strCache>
                <c:ptCount val="1"/>
                <c:pt idx="0">
                  <c:v>IVFFlat WHPG</c:v>
                </c:pt>
              </c:strCache>
            </c:strRef>
          </c:tx>
          <c:spPr>
            <a:ln w="28575">
              <a:solidFill>
                <a:srgbClr val="567F8D"/>
              </a:solidFill>
            </a:ln>
          </c:spPr>
          <c:marker>
            <c:symbol val="circle"/>
            <c:size val="5"/>
            <c:spPr>
              <a:solidFill>
                <a:srgbClr val="567F8D"/>
              </a:solidFill>
              <a:ln>
                <a:solidFill>
                  <a:srgbClr val="567F8D"/>
                </a:solidFill>
              </a:ln>
            </c:spPr>
          </c:marker>
          <c:dLbls>
            <c:dLbl>
              <c:idx val="8"/>
              <c:tx>
                <c:rich>
                  <a:bodyPr/>
                  <a:lstStyle/>
                  <a:p>
                    <a:r>
                      <a:rPr sz="1000" b="1">
                        <a:solidFill>
                          <a:srgbClr val="567F8D"/>
                        </a:solidFill>
                        <a:latin typeface="Roboto"/>
                      </a:rPr>
                      <a:t>IVFFlat WHPG</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Sheet1!$A$25:$A$33</c:f>
              <c:numCache>
                <c:formatCode>General</c:formatCode>
                <c:ptCount val="9"/>
                <c:pt idx="0">
                  <c:v>0.334</c:v>
                </c:pt>
                <c:pt idx="1">
                  <c:v>0.462</c:v>
                </c:pt>
                <c:pt idx="2">
                  <c:v>0.666</c:v>
                </c:pt>
                <c:pt idx="3">
                  <c:v>0.812</c:v>
                </c:pt>
                <c:pt idx="4">
                  <c:v>0.946</c:v>
                </c:pt>
                <c:pt idx="5">
                  <c:v>0.992</c:v>
                </c:pt>
                <c:pt idx="6">
                  <c:v>1.0</c:v>
                </c:pt>
                <c:pt idx="7">
                  <c:v>1.0</c:v>
                </c:pt>
                <c:pt idx="8">
                  <c:v>1.0</c:v>
                </c:pt>
              </c:numCache>
            </c:numRef>
          </c:xVal>
          <c:yVal>
            <c:numRef>
              <c:f>Sheet1!$B$25:$B$33</c:f>
              <c:numCache>
                <c:formatCode>General</c:formatCode>
                <c:ptCount val="9"/>
                <c:pt idx="0">
                  <c:v>1.894</c:v>
                </c:pt>
                <c:pt idx="1">
                  <c:v>2.696</c:v>
                </c:pt>
                <c:pt idx="2">
                  <c:v>3.839</c:v>
                </c:pt>
                <c:pt idx="3">
                  <c:v>6.878</c:v>
                </c:pt>
                <c:pt idx="4">
                  <c:v>12.627</c:v>
                </c:pt>
                <c:pt idx="5">
                  <c:v>29.636</c:v>
                </c:pt>
                <c:pt idx="6">
                  <c:v>56.434</c:v>
                </c:pt>
                <c:pt idx="7">
                  <c:v>91.538</c:v>
                </c:pt>
                <c:pt idx="8">
                  <c:v>179.644</c:v>
                </c:pt>
              </c:numCache>
            </c:numRef>
          </c:yVal>
          <c:smooth val="0"/>
        </c:ser>
        <c:ser>
          <c:idx val="3"/>
          <c:order val="3"/>
          <c:tx>
            <c:strRef>
              <c:f>Sheet1!$B$35</c:f>
              <c:strCache>
                <c:ptCount val="1"/>
                <c:pt idx="0">
                  <c:v>pgvector HNSW</c:v>
                </c:pt>
              </c:strCache>
            </c:strRef>
          </c:tx>
          <c:spPr>
            <a:ln w="28575">
              <a:solidFill>
                <a:srgbClr val="05825F"/>
              </a:solidFill>
            </a:ln>
          </c:spPr>
          <c:marker>
            <c:symbol val="circle"/>
            <c:size val="5"/>
            <c:spPr>
              <a:solidFill>
                <a:srgbClr val="05825F"/>
              </a:solidFill>
              <a:ln>
                <a:solidFill>
                  <a:srgbClr val="05825F"/>
                </a:solidFill>
              </a:ln>
            </c:spPr>
          </c:marker>
          <c:dLbls>
            <c:dLbl>
              <c:idx val="6"/>
              <c:tx>
                <c:rich>
                  <a:bodyPr/>
                  <a:lstStyle/>
                  <a:p>
                    <a:r>
                      <a:rPr sz="1000" b="1">
                        <a:solidFill>
                          <a:srgbClr val="05825F"/>
                        </a:solidFill>
                        <a:latin typeface="Roboto"/>
                      </a:rPr>
                      <a:t>pgvector HNSW</a:t>
                    </a:r>
                  </a:p>
                </c:rich>
              </c:tx>
              <c:dLblPos val="l"/>
              <c:showLegendKey val="0"/>
              <c:showVal val="1"/>
              <c:showCatName val="0"/>
              <c:showSerName val="0"/>
              <c:showPercent val="0"/>
              <c:showBubbleSize val="0"/>
            </c:dLbl>
            <c:showLegendKey val="0"/>
            <c:showVal val="0"/>
            <c:showCatName val="0"/>
            <c:showSerName val="0"/>
            <c:showPercent val="0"/>
            <c:showBubbleSize val="0"/>
            <c:showLeaderLines val="1"/>
          </c:dLbls>
          <c:xVal>
            <c:numRef>
              <c:f>Sheet1!$A$36:$A$42</c:f>
              <c:numCache>
                <c:formatCode>General</c:formatCode>
                <c:ptCount val="7"/>
                <c:pt idx="0">
                  <c:v>0.562</c:v>
                </c:pt>
                <c:pt idx="1">
                  <c:v>0.638</c:v>
                </c:pt>
                <c:pt idx="2">
                  <c:v>0.768</c:v>
                </c:pt>
                <c:pt idx="3">
                  <c:v>0.836</c:v>
                </c:pt>
                <c:pt idx="4">
                  <c:v>0.888</c:v>
                </c:pt>
                <c:pt idx="5">
                  <c:v>0.92</c:v>
                </c:pt>
                <c:pt idx="6">
                  <c:v>0.936</c:v>
                </c:pt>
              </c:numCache>
            </c:numRef>
          </c:xVal>
          <c:yVal>
            <c:numRef>
              <c:f>Sheet1!$B$36:$B$42</c:f>
              <c:numCache>
                <c:formatCode>General</c:formatCode>
                <c:ptCount val="7"/>
                <c:pt idx="0">
                  <c:v>7.399</c:v>
                </c:pt>
                <c:pt idx="1">
                  <c:v>2.594</c:v>
                </c:pt>
                <c:pt idx="2">
                  <c:v>13.104</c:v>
                </c:pt>
                <c:pt idx="3">
                  <c:v>6.288</c:v>
                </c:pt>
                <c:pt idx="4">
                  <c:v>10.049</c:v>
                </c:pt>
                <c:pt idx="5">
                  <c:v>16.893</c:v>
                </c:pt>
                <c:pt idx="6">
                  <c:v>31.14</c:v>
                </c:pt>
              </c:numCache>
            </c:numRef>
          </c:yVal>
          <c:smooth val="0"/>
        </c:ser>
        <c:ser>
          <c:idx val="4"/>
          <c:order val="4"/>
          <c:tx>
            <c:strRef>
              <c:f>Sheet1!$B$44</c:f>
              <c:strCache>
                <c:ptCount val="1"/>
                <c:pt idx="0">
                  <c:v>ivfplus PG</c:v>
                </c:pt>
              </c:strCache>
            </c:strRef>
          </c:tx>
          <c:spPr>
            <a:ln w="28575">
              <a:solidFill>
                <a:srgbClr val="28495A"/>
              </a:solidFill>
              <a:prstDash val="dash"/>
            </a:ln>
          </c:spPr>
          <c:marker>
            <c:symbol val="circle"/>
            <c:size val="5"/>
            <c:spPr>
              <a:solidFill>
                <a:srgbClr val="28495A"/>
              </a:solidFill>
              <a:ln>
                <a:solidFill>
                  <a:srgbClr val="28495A"/>
                </a:solidFill>
              </a:ln>
            </c:spPr>
          </c:marker>
          <c:dLbls>
            <c:dLbl>
              <c:idx val="4"/>
              <c:tx>
                <c:rich>
                  <a:bodyPr/>
                  <a:lstStyle/>
                  <a:p>
                    <a:r>
                      <a:rPr sz="1000" b="1">
                        <a:solidFill>
                          <a:srgbClr val="28495A"/>
                        </a:solidFill>
                        <a:latin typeface="Roboto"/>
                      </a:rPr>
                      <a:t>ivfplus PG</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Sheet1!$A$45:$A$49</c:f>
              <c:numCache>
                <c:formatCode>General</c:formatCode>
                <c:ptCount val="5"/>
                <c:pt idx="0">
                  <c:v>0.258</c:v>
                </c:pt>
                <c:pt idx="1">
                  <c:v>0.4</c:v>
                </c:pt>
                <c:pt idx="2">
                  <c:v>0.602</c:v>
                </c:pt>
                <c:pt idx="3">
                  <c:v>0.764</c:v>
                </c:pt>
                <c:pt idx="4">
                  <c:v>0.882</c:v>
                </c:pt>
              </c:numCache>
            </c:numRef>
          </c:xVal>
          <c:yVal>
            <c:numRef>
              <c:f>Sheet1!$B$45:$B$49</c:f>
              <c:numCache>
                <c:formatCode>General</c:formatCode>
                <c:ptCount val="5"/>
                <c:pt idx="0">
                  <c:v>1.619</c:v>
                </c:pt>
                <c:pt idx="1">
                  <c:v>1.57</c:v>
                </c:pt>
                <c:pt idx="2">
                  <c:v>2.385</c:v>
                </c:pt>
                <c:pt idx="3">
                  <c:v>2.759</c:v>
                </c:pt>
                <c:pt idx="4">
                  <c:v>4.337</c:v>
                </c:pt>
              </c:numCache>
            </c:numRef>
          </c:yVal>
          <c:smooth val="0"/>
        </c:ser>
        <c:ser>
          <c:idx val="5"/>
          <c:order val="5"/>
          <c:tx>
            <c:strRef>
              <c:f>Sheet1!$B$51</c:f>
              <c:strCache>
                <c:ptCount val="1"/>
                <c:pt idx="0">
                  <c:v>ivfplus WHPG</c:v>
                </c:pt>
              </c:strCache>
            </c:strRef>
          </c:tx>
          <c:spPr>
            <a:ln w="38100">
              <a:solidFill>
                <a:srgbClr val="28495A"/>
              </a:solidFill>
            </a:ln>
          </c:spPr>
          <c:marker>
            <c:symbol val="circle"/>
            <c:size val="5"/>
            <c:spPr>
              <a:solidFill>
                <a:srgbClr val="28495A"/>
              </a:solidFill>
              <a:ln>
                <a:solidFill>
                  <a:srgbClr val="28495A"/>
                </a:solidFill>
              </a:ln>
            </c:spPr>
          </c:marker>
          <c:dLbls>
            <c:dLbl>
              <c:idx val="4"/>
              <c:tx>
                <c:rich>
                  <a:bodyPr/>
                  <a:lstStyle/>
                  <a:p>
                    <a:r>
                      <a:rPr sz="1000" b="1">
                        <a:solidFill>
                          <a:srgbClr val="28495A"/>
                        </a:solidFill>
                        <a:latin typeface="Roboto"/>
                      </a:rPr>
                      <a:t>ivfplus WHPG</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xVal>
            <c:numRef>
              <c:f>Sheet1!$A$52:$A$56</c:f>
              <c:numCache>
                <c:formatCode>General</c:formatCode>
                <c:ptCount val="5"/>
                <c:pt idx="0">
                  <c:v>0.316</c:v>
                </c:pt>
                <c:pt idx="1">
                  <c:v>0.48</c:v>
                </c:pt>
                <c:pt idx="2">
                  <c:v>0.64</c:v>
                </c:pt>
                <c:pt idx="3">
                  <c:v>0.812</c:v>
                </c:pt>
                <c:pt idx="4">
                  <c:v>0.914</c:v>
                </c:pt>
              </c:numCache>
            </c:numRef>
          </c:xVal>
          <c:yVal>
            <c:numRef>
              <c:f>Sheet1!$B$52:$B$56</c:f>
              <c:numCache>
                <c:formatCode>General</c:formatCode>
                <c:ptCount val="5"/>
                <c:pt idx="0">
                  <c:v>2.096</c:v>
                </c:pt>
                <c:pt idx="1">
                  <c:v>2.225</c:v>
                </c:pt>
                <c:pt idx="2">
                  <c:v>3.036</c:v>
                </c:pt>
                <c:pt idx="3">
                  <c:v>3.656</c:v>
                </c:pt>
                <c:pt idx="4">
                  <c:v>4.003</c:v>
                </c:pt>
              </c:numCache>
            </c:numRef>
          </c:yVal>
          <c:smooth val="0"/>
        </c:ser>
        <c:ser>
          <c:idx val="6"/>
          <c:order val="6"/>
          <c:tx>
            <c:strRef>
              <c:f>Sheet1!$B$58</c:f>
              <c:strCache>
                <c:ptCount val="1"/>
                <c:pt idx="0">
                  <c:v>bar</c:v>
                </c:pt>
              </c:strCache>
            </c:strRef>
          </c:tx>
          <c:spPr>
            <a:ln w="12700">
              <a:solidFill>
                <a:srgbClr val="567F8D"/>
              </a:solidFill>
              <a:prstDash val="sysDash"/>
            </a:ln>
          </c:spPr>
          <c:marker>
            <c:symbol val="none"/>
          </c:marker>
          <c:dLbls>
            <c:dLbl>
              <c:idx val="1"/>
              <c:tx>
                <c:rich>
                  <a:bodyPr/>
                  <a:lstStyle/>
                  <a:p>
                    <a:r>
                      <a:rPr sz="1000">
                        <a:solidFill>
                          <a:srgbClr val="567F8D"/>
                        </a:solidFill>
                        <a:latin typeface="Roboto"/>
                      </a:rPr>
                      <a:t>90% recall</a:t>
                    </a:r>
                  </a:p>
                </c:rich>
              </c:tx>
              <c:dLblPos val="l"/>
              <c:showLegendKey val="0"/>
              <c:showVal val="1"/>
              <c:showCatName val="0"/>
              <c:showSerName val="0"/>
              <c:showPercent val="0"/>
              <c:showBubbleSize val="0"/>
            </c:dLbl>
            <c:showLegendKey val="0"/>
            <c:showVal val="0"/>
            <c:showCatName val="0"/>
            <c:showSerName val="0"/>
            <c:showPercent val="0"/>
            <c:showBubbleSize val="0"/>
            <c:showLeaderLines val="1"/>
          </c:dLbls>
          <c:xVal>
            <c:numRef>
              <c:f>Sheet1!$A$59:$A$61</c:f>
              <c:numCache>
                <c:formatCode>General</c:formatCode>
                <c:ptCount val="3"/>
                <c:pt idx="0">
                  <c:v>0.9</c:v>
                </c:pt>
                <c:pt idx="1">
                  <c:v>0.9</c:v>
                </c:pt>
                <c:pt idx="2">
                  <c:v>0.9</c:v>
                </c:pt>
              </c:numCache>
            </c:numRef>
          </c:xVal>
          <c:yVal>
            <c:numRef>
              <c:f>Sheet1!$B$59:$B$61</c:f>
              <c:numCache>
                <c:formatCode>General</c:formatCode>
                <c:ptCount val="3"/>
                <c:pt idx="0">
                  <c:v>1</c:v>
                </c:pt>
                <c:pt idx="1">
                  <c:v>400</c:v>
                </c:pt>
                <c:pt idx="2">
                  <c:v>1000</c:v>
                </c:pt>
              </c:numCache>
            </c:numRef>
          </c:yVal>
          <c:smooth val="0"/>
        </c:ser>
        <c:axId val="-2128940872"/>
        <c:axId val="-2129643912"/>
      </c:scatterChart>
      <c:valAx>
        <c:axId val="-2128940872"/>
        <c:scaling>
          <c:orientation val="minMax"/>
          <c:max val="1.0"/>
          <c:min val="0.2"/>
        </c:scaling>
        <c:delete val="0"/>
        <c:axPos val="b"/>
        <c:title>
          <c:tx>
            <c:rich>
              <a:bodyPr/>
              <a:lstStyle/>
              <a:p>
                <a:r>
                  <a:rPr sz="1000" b="0">
                    <a:solidFill>
                      <a:srgbClr val="567F8D"/>
                    </a:solidFill>
                    <a:latin typeface="Roboto"/>
                  </a:rPr>
                  <a:t>Recall@10</a:t>
                </a:r>
              </a:p>
            </c:rich>
          </c:tx>
          <c:layout/>
          <c:overlay val="0"/>
        </c:title>
        <c:numFmt formatCode="0.0" sourceLinked="0"/>
        <c:majorTickMark val="none"/>
        <c:minorTickMark val="none"/>
        <c:tickLblPos val="nextTo"/>
        <c:spPr>
          <a:ln>
            <a:solidFill>
              <a:srgbClr val="A8C2CA"/>
            </a:solidFill>
          </a:ln>
        </c:spPr>
        <c:txPr>
          <a:bodyPr/>
          <a:lstStyle/>
          <a:p>
            <a:pPr>
              <a:defRPr sz="1000">
                <a:solidFill>
                  <a:srgbClr val="567F8D"/>
                </a:solidFill>
                <a:latin typeface="Roboto"/>
              </a:defRPr>
            </a:pPr>
          </a:p>
        </c:txPr>
        <c:crossAx val="-2129643912"/>
        <c:crosses val="autoZero"/>
        <c:crossBetween val="midCat"/>
        <c:majorUnit val="0.1"/>
      </c:valAx>
      <c:valAx>
        <c:axId val="-2129643912"/>
        <c:scaling>
          <c:logBase val="10"/>
          <c:orientation val="minMax"/>
          <c:max val="1000.0"/>
          <c:min val="1.0"/>
        </c:scaling>
        <c:delete val="0"/>
        <c:axPos val="l"/>
        <c:majorGridlines>
          <c:spPr>
            <a:ln w="9525">
              <a:solidFill>
                <a:srgbClr val="E8F2F5"/>
              </a:solidFill>
            </a:ln>
          </c:spPr>
        </c:majorGridlines>
        <c:title>
          <c:tx>
            <c:rich>
              <a:bodyPr/>
              <a:lstStyle/>
              <a:p>
                <a:r>
                  <a:rPr sz="1000" b="0">
                    <a:solidFill>
                      <a:srgbClr val="567F8D"/>
                    </a:solidFill>
                    <a:latin typeface="Roboto"/>
                  </a:rPr>
                  <a:t>Milliseconds per query (log scale)</a:t>
                </a:r>
              </a:p>
            </c:rich>
          </c:tx>
          <c:layout/>
          <c:overlay val="0"/>
        </c:title>
        <c:numFmt formatCode="0" sourceLinked="0"/>
        <c:majorTickMark val="none"/>
        <c:minorTickMark val="none"/>
        <c:tickLblPos val="nextTo"/>
        <c:spPr>
          <a:ln>
            <a:solidFill>
              <a:srgbClr val="A8C2CA"/>
            </a:solidFill>
          </a:ln>
        </c:spPr>
        <c:txPr>
          <a:bodyPr/>
          <a:lstStyle/>
          <a:p>
            <a:pPr>
              <a:defRPr sz="1000">
                <a:solidFill>
                  <a:srgbClr val="567F8D"/>
                </a:solidFill>
                <a:latin typeface="Roboto"/>
              </a:defRPr>
            </a:pPr>
          </a:p>
        </c:txPr>
        <c:crossAx val="-2128940872"/>
        <c:crosses val="autoZero"/>
        <c:crossBetween val="midCat"/>
      </c:valAx>
    </c:plotArea>
    <c:plotVisOnly val="1"/>
    <c:dispBlanksAs val="gap"/>
    <c:showDLblsOverMax val="0"/>
  </c:chart>
  <c:txPr>
    <a:bodyPr/>
    <a:lstStyle/>
    <a:p>
      <a:pPr>
        <a:defRPr sz="1000">
          <a:latin typeface="Robot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075"/>
          <c:y val="0.03"/>
          <c:w val="0.74"/>
          <c:h val="0.83"/>
        </c:manualLayout>
      </c:layout>
      <c:scatterChart>
        <c:scatterStyle val="lineMarker"/>
        <c:varyColors val="0"/>
        <c:ser>
          <c:idx val="0"/>
          <c:order val="0"/>
          <c:tx>
            <c:strRef>
              <c:f>Sheet1!$B$1</c:f>
              <c:strCache>
                <c:ptCount val="1"/>
                <c:pt idx="0">
                  <c:v>VectorChord</c:v>
                </c:pt>
              </c:strCache>
            </c:strRef>
          </c:tx>
          <c:spPr>
            <a:ln w="28575">
              <a:solidFill>
                <a:srgbClr val="F89E5D"/>
              </a:solidFill>
            </a:ln>
          </c:spPr>
          <c:marker>
            <c:symbol val="circle"/>
            <c:size val="5"/>
            <c:spPr>
              <a:solidFill>
                <a:srgbClr val="F89E5D"/>
              </a:solidFill>
              <a:ln>
                <a:solidFill>
                  <a:srgbClr val="F89E5D"/>
                </a:solidFill>
              </a:ln>
            </c:spPr>
          </c:marker>
          <c:dLbls>
            <c:dLbl>
              <c:idx val="8"/>
              <c:tx>
                <c:rich>
                  <a:bodyPr/>
                  <a:lstStyle/>
                  <a:p>
                    <a:r>
                      <a:rPr sz="1000" b="1">
                        <a:solidFill>
                          <a:srgbClr val="F89E5D"/>
                        </a:solidFill>
                        <a:latin typeface="Roboto"/>
                      </a:rPr>
                      <a:t>VectorChord</a:t>
                    </a:r>
                  </a:p>
                </c:rich>
              </c:tx>
              <c:dLblPos val="l"/>
              <c:showLegendKey val="0"/>
              <c:showVal val="1"/>
              <c:showCatName val="0"/>
              <c:showSerName val="0"/>
              <c:showPercent val="0"/>
              <c:showBubbleSize val="0"/>
            </c:dLbl>
            <c:showLegendKey val="0"/>
            <c:showVal val="0"/>
            <c:showCatName val="0"/>
            <c:showSerName val="0"/>
            <c:showPercent val="0"/>
            <c:showBubbleSize val="0"/>
            <c:showLeaderLines val="1"/>
          </c:dLbls>
          <c:xVal>
            <c:numRef>
              <c:f>Sheet1!$A$2:$A$10</c:f>
              <c:numCache>
                <c:formatCode>General</c:formatCode>
                <c:ptCount val="9"/>
                <c:pt idx="0">
                  <c:v>0.224</c:v>
                </c:pt>
                <c:pt idx="1">
                  <c:v>0.404</c:v>
                </c:pt>
                <c:pt idx="2">
                  <c:v>0.598</c:v>
                </c:pt>
                <c:pt idx="3">
                  <c:v>0.78</c:v>
                </c:pt>
                <c:pt idx="4">
                  <c:v>0.904</c:v>
                </c:pt>
                <c:pt idx="5">
                  <c:v>0.96</c:v>
                </c:pt>
                <c:pt idx="6">
                  <c:v>0.988</c:v>
                </c:pt>
                <c:pt idx="7">
                  <c:v>0.988</c:v>
                </c:pt>
                <c:pt idx="8">
                  <c:v>0.988</c:v>
                </c:pt>
              </c:numCache>
            </c:numRef>
          </c:xVal>
          <c:yVal>
            <c:numRef>
              <c:f>Sheet1!$B$2:$B$10</c:f>
              <c:numCache>
                <c:formatCode>General</c:formatCode>
                <c:ptCount val="9"/>
                <c:pt idx="0">
                  <c:v>4.279</c:v>
                </c:pt>
                <c:pt idx="1">
                  <c:v>8.542</c:v>
                </c:pt>
                <c:pt idx="2">
                  <c:v>14.17</c:v>
                </c:pt>
                <c:pt idx="3">
                  <c:v>28.195</c:v>
                </c:pt>
                <c:pt idx="4">
                  <c:v>47.298</c:v>
                </c:pt>
                <c:pt idx="5">
                  <c:v>75.816</c:v>
                </c:pt>
                <c:pt idx="6">
                  <c:v>174.686</c:v>
                </c:pt>
                <c:pt idx="7">
                  <c:v>243.921</c:v>
                </c:pt>
                <c:pt idx="8">
                  <c:v>242.11</c:v>
                </c:pt>
              </c:numCache>
            </c:numRef>
          </c:yVal>
          <c:smooth val="0"/>
        </c:ser>
        <c:ser>
          <c:idx val="1"/>
          <c:order val="1"/>
          <c:tx>
            <c:strRef>
              <c:f>Sheet1!$B$12</c:f>
              <c:strCache>
                <c:ptCount val="1"/>
                <c:pt idx="0">
                  <c:v>IVFFlat PG</c:v>
                </c:pt>
              </c:strCache>
            </c:strRef>
          </c:tx>
          <c:spPr>
            <a:ln w="28575">
              <a:solidFill>
                <a:srgbClr val="567F8D"/>
              </a:solidFill>
              <a:prstDash val="dash"/>
            </a:ln>
          </c:spPr>
          <c:marker>
            <c:symbol val="circle"/>
            <c:size val="5"/>
            <c:spPr>
              <a:solidFill>
                <a:srgbClr val="567F8D"/>
              </a:solidFill>
              <a:ln>
                <a:solidFill>
                  <a:srgbClr val="567F8D"/>
                </a:solidFill>
              </a:ln>
            </c:spPr>
          </c:marker>
          <c:dLbls>
            <c:dLbl>
              <c:idx val="8"/>
              <c:tx>
                <c:rich>
                  <a:bodyPr/>
                  <a:lstStyle/>
                  <a:p>
                    <a:r>
                      <a:rPr sz="1000" b="1">
                        <a:solidFill>
                          <a:srgbClr val="567F8D"/>
                        </a:solidFill>
                        <a:latin typeface="Roboto"/>
                      </a:rPr>
                      <a:t>IVFFlat PG</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xVal>
            <c:numRef>
              <c:f>Sheet1!$A$13:$A$21</c:f>
              <c:numCache>
                <c:formatCode>General</c:formatCode>
                <c:ptCount val="9"/>
                <c:pt idx="0">
                  <c:v>0.322</c:v>
                </c:pt>
                <c:pt idx="1">
                  <c:v>0.506</c:v>
                </c:pt>
                <c:pt idx="2">
                  <c:v>0.636</c:v>
                </c:pt>
                <c:pt idx="3">
                  <c:v>0.764</c:v>
                </c:pt>
                <c:pt idx="4">
                  <c:v>0.906</c:v>
                </c:pt>
                <c:pt idx="5">
                  <c:v>0.968</c:v>
                </c:pt>
                <c:pt idx="6">
                  <c:v>0.998</c:v>
                </c:pt>
                <c:pt idx="7">
                  <c:v>1.0</c:v>
                </c:pt>
                <c:pt idx="8">
                  <c:v>1.0</c:v>
                </c:pt>
              </c:numCache>
            </c:numRef>
          </c:xVal>
          <c:yVal>
            <c:numRef>
              <c:f>Sheet1!$B$13:$B$21</c:f>
              <c:numCache>
                <c:formatCode>General</c:formatCode>
                <c:ptCount val="9"/>
                <c:pt idx="0">
                  <c:v>4.095</c:v>
                </c:pt>
                <c:pt idx="1">
                  <c:v>7.181</c:v>
                </c:pt>
                <c:pt idx="2">
                  <c:v>12.981</c:v>
                </c:pt>
                <c:pt idx="3">
                  <c:v>25.598</c:v>
                </c:pt>
                <c:pt idx="4">
                  <c:v>52.241</c:v>
                </c:pt>
                <c:pt idx="5">
                  <c:v>107.664</c:v>
                </c:pt>
                <c:pt idx="6">
                  <c:v>215.823</c:v>
                </c:pt>
                <c:pt idx="7">
                  <c:v>355.011</c:v>
                </c:pt>
                <c:pt idx="8">
                  <c:v>648.36</c:v>
                </c:pt>
              </c:numCache>
            </c:numRef>
          </c:yVal>
          <c:smooth val="0"/>
        </c:ser>
        <c:ser>
          <c:idx val="2"/>
          <c:order val="2"/>
          <c:tx>
            <c:strRef>
              <c:f>Sheet1!$B$23</c:f>
              <c:strCache>
                <c:ptCount val="1"/>
                <c:pt idx="0">
                  <c:v>IVFFlat WHPG</c:v>
                </c:pt>
              </c:strCache>
            </c:strRef>
          </c:tx>
          <c:spPr>
            <a:ln w="28575">
              <a:solidFill>
                <a:srgbClr val="567F8D"/>
              </a:solidFill>
            </a:ln>
          </c:spPr>
          <c:marker>
            <c:symbol val="circle"/>
            <c:size val="5"/>
            <c:spPr>
              <a:solidFill>
                <a:srgbClr val="567F8D"/>
              </a:solidFill>
              <a:ln>
                <a:solidFill>
                  <a:srgbClr val="567F8D"/>
                </a:solidFill>
              </a:ln>
            </c:spPr>
          </c:marker>
          <c:dLbls>
            <c:dLbl>
              <c:idx val="8"/>
              <c:tx>
                <c:rich>
                  <a:bodyPr/>
                  <a:lstStyle/>
                  <a:p>
                    <a:r>
                      <a:rPr sz="1000" b="1">
                        <a:solidFill>
                          <a:srgbClr val="567F8D"/>
                        </a:solidFill>
                        <a:latin typeface="Roboto"/>
                      </a:rPr>
                      <a:t>IVFFlat WHPG</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Sheet1!$A$24:$A$32</c:f>
              <c:numCache>
                <c:formatCode>General</c:formatCode>
                <c:ptCount val="9"/>
                <c:pt idx="0">
                  <c:v>0.274</c:v>
                </c:pt>
                <c:pt idx="1">
                  <c:v>0.42</c:v>
                </c:pt>
                <c:pt idx="2">
                  <c:v>0.634</c:v>
                </c:pt>
                <c:pt idx="3">
                  <c:v>0.794</c:v>
                </c:pt>
                <c:pt idx="4">
                  <c:v>0.916</c:v>
                </c:pt>
                <c:pt idx="5">
                  <c:v>0.982</c:v>
                </c:pt>
                <c:pt idx="6">
                  <c:v>0.998</c:v>
                </c:pt>
                <c:pt idx="7">
                  <c:v>1.0</c:v>
                </c:pt>
                <c:pt idx="8">
                  <c:v>1.0</c:v>
                </c:pt>
              </c:numCache>
            </c:numRef>
          </c:xVal>
          <c:yVal>
            <c:numRef>
              <c:f>Sheet1!$B$24:$B$32</c:f>
              <c:numCache>
                <c:formatCode>General</c:formatCode>
                <c:ptCount val="9"/>
                <c:pt idx="0">
                  <c:v>2.302</c:v>
                </c:pt>
                <c:pt idx="1">
                  <c:v>3.174</c:v>
                </c:pt>
                <c:pt idx="2">
                  <c:v>5.249</c:v>
                </c:pt>
                <c:pt idx="3">
                  <c:v>9.177</c:v>
                </c:pt>
                <c:pt idx="4">
                  <c:v>19.269</c:v>
                </c:pt>
                <c:pt idx="5">
                  <c:v>41.133</c:v>
                </c:pt>
                <c:pt idx="6">
                  <c:v>82.212</c:v>
                </c:pt>
                <c:pt idx="7">
                  <c:v>139.324</c:v>
                </c:pt>
                <c:pt idx="8">
                  <c:v>257.791</c:v>
                </c:pt>
              </c:numCache>
            </c:numRef>
          </c:yVal>
          <c:smooth val="0"/>
        </c:ser>
        <c:ser>
          <c:idx val="3"/>
          <c:order val="3"/>
          <c:tx>
            <c:strRef>
              <c:f>Sheet1!$B$34</c:f>
              <c:strCache>
                <c:ptCount val="1"/>
                <c:pt idx="0">
                  <c:v>ivfplus PG</c:v>
                </c:pt>
              </c:strCache>
            </c:strRef>
          </c:tx>
          <c:spPr>
            <a:ln w="28575">
              <a:solidFill>
                <a:srgbClr val="28495A"/>
              </a:solidFill>
              <a:prstDash val="dash"/>
            </a:ln>
          </c:spPr>
          <c:marker>
            <c:symbol val="circle"/>
            <c:size val="5"/>
            <c:spPr>
              <a:solidFill>
                <a:srgbClr val="28495A"/>
              </a:solidFill>
              <a:ln>
                <a:solidFill>
                  <a:srgbClr val="28495A"/>
                </a:solidFill>
              </a:ln>
            </c:spPr>
          </c:marker>
          <c:dLbls>
            <c:dLbl>
              <c:idx val="8"/>
              <c:tx>
                <c:rich>
                  <a:bodyPr/>
                  <a:lstStyle/>
                  <a:p>
                    <a:r>
                      <a:rPr sz="1000" b="1">
                        <a:solidFill>
                          <a:srgbClr val="28495A"/>
                        </a:solidFill>
                        <a:latin typeface="Roboto"/>
                      </a:rPr>
                      <a:t>ivfplus PG</a:t>
                    </a:r>
                  </a:p>
                </c:rich>
              </c:tx>
              <c:dLblPos val="l"/>
              <c:showLegendKey val="0"/>
              <c:showVal val="1"/>
              <c:showCatName val="0"/>
              <c:showSerName val="0"/>
              <c:showPercent val="0"/>
              <c:showBubbleSize val="0"/>
            </c:dLbl>
            <c:showLegendKey val="0"/>
            <c:showVal val="0"/>
            <c:showCatName val="0"/>
            <c:showSerName val="0"/>
            <c:showPercent val="0"/>
            <c:showBubbleSize val="0"/>
            <c:showLeaderLines val="1"/>
          </c:dLbls>
          <c:xVal>
            <c:numRef>
              <c:f>Sheet1!$A$35:$A$43</c:f>
              <c:numCache>
                <c:formatCode>General</c:formatCode>
                <c:ptCount val="9"/>
                <c:pt idx="0">
                  <c:v>0.294</c:v>
                </c:pt>
                <c:pt idx="1">
                  <c:v>0.44</c:v>
                </c:pt>
                <c:pt idx="2">
                  <c:v>0.592</c:v>
                </c:pt>
                <c:pt idx="3">
                  <c:v>0.734</c:v>
                </c:pt>
                <c:pt idx="4">
                  <c:v>0.834</c:v>
                </c:pt>
                <c:pt idx="5">
                  <c:v>0.88</c:v>
                </c:pt>
                <c:pt idx="6">
                  <c:v>0.886</c:v>
                </c:pt>
                <c:pt idx="7">
                  <c:v>0.886</c:v>
                </c:pt>
                <c:pt idx="8">
                  <c:v>0.886</c:v>
                </c:pt>
              </c:numCache>
            </c:numRef>
          </c:xVal>
          <c:yVal>
            <c:numRef>
              <c:f>Sheet1!$B$35:$B$43</c:f>
              <c:numCache>
                <c:formatCode>General</c:formatCode>
                <c:ptCount val="9"/>
                <c:pt idx="0">
                  <c:v>1.578</c:v>
                </c:pt>
                <c:pt idx="1">
                  <c:v>1.926</c:v>
                </c:pt>
                <c:pt idx="2">
                  <c:v>2.524</c:v>
                </c:pt>
                <c:pt idx="3">
                  <c:v>3.567</c:v>
                </c:pt>
                <c:pt idx="4">
                  <c:v>5.664</c:v>
                </c:pt>
                <c:pt idx="5">
                  <c:v>10.025</c:v>
                </c:pt>
                <c:pt idx="6">
                  <c:v>18.069</c:v>
                </c:pt>
                <c:pt idx="7">
                  <c:v>28.818</c:v>
                </c:pt>
                <c:pt idx="8">
                  <c:v>51.499</c:v>
                </c:pt>
              </c:numCache>
            </c:numRef>
          </c:yVal>
          <c:smooth val="0"/>
        </c:ser>
        <c:ser>
          <c:idx val="4"/>
          <c:order val="4"/>
          <c:tx>
            <c:strRef>
              <c:f>Sheet1!$B$45</c:f>
              <c:strCache>
                <c:ptCount val="1"/>
                <c:pt idx="0">
                  <c:v>ivfplus WHPG</c:v>
                </c:pt>
              </c:strCache>
            </c:strRef>
          </c:tx>
          <c:spPr>
            <a:ln w="38100">
              <a:solidFill>
                <a:srgbClr val="28495A"/>
              </a:solidFill>
            </a:ln>
          </c:spPr>
          <c:marker>
            <c:symbol val="circle"/>
            <c:size val="5"/>
            <c:spPr>
              <a:solidFill>
                <a:srgbClr val="28495A"/>
              </a:solidFill>
              <a:ln>
                <a:solidFill>
                  <a:srgbClr val="28495A"/>
                </a:solidFill>
              </a:ln>
            </c:spPr>
          </c:marker>
          <c:dLbls>
            <c:dLbl>
              <c:idx val="5"/>
              <c:tx>
                <c:rich>
                  <a:bodyPr/>
                  <a:lstStyle/>
                  <a:p>
                    <a:r>
                      <a:rPr sz="1000" b="1">
                        <a:solidFill>
                          <a:srgbClr val="28495A"/>
                        </a:solidFill>
                        <a:latin typeface="Roboto"/>
                      </a:rPr>
                      <a:t>ivfplus WHPG</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Sheet1!$A$46:$A$51</c:f>
              <c:numCache>
                <c:formatCode>General</c:formatCode>
                <c:ptCount val="6"/>
                <c:pt idx="0">
                  <c:v>0.282</c:v>
                </c:pt>
                <c:pt idx="1">
                  <c:v>0.444</c:v>
                </c:pt>
                <c:pt idx="2">
                  <c:v>0.606</c:v>
                </c:pt>
                <c:pt idx="3">
                  <c:v>0.742</c:v>
                </c:pt>
                <c:pt idx="4">
                  <c:v>0.874</c:v>
                </c:pt>
                <c:pt idx="5">
                  <c:v>0.936</c:v>
                </c:pt>
              </c:numCache>
            </c:numRef>
          </c:xVal>
          <c:yVal>
            <c:numRef>
              <c:f>Sheet1!$B$46:$B$51</c:f>
              <c:numCache>
                <c:formatCode>General</c:formatCode>
                <c:ptCount val="6"/>
                <c:pt idx="0">
                  <c:v>2.702</c:v>
                </c:pt>
                <c:pt idx="1">
                  <c:v>2.84</c:v>
                </c:pt>
                <c:pt idx="2">
                  <c:v>3.714</c:v>
                </c:pt>
                <c:pt idx="3">
                  <c:v>4.414</c:v>
                </c:pt>
                <c:pt idx="4">
                  <c:v>5.275</c:v>
                </c:pt>
                <c:pt idx="5">
                  <c:v>6.13</c:v>
                </c:pt>
              </c:numCache>
            </c:numRef>
          </c:yVal>
          <c:smooth val="0"/>
        </c:ser>
        <c:ser>
          <c:idx val="5"/>
          <c:order val="5"/>
          <c:tx>
            <c:strRef>
              <c:f>Sheet1!$B$53</c:f>
              <c:strCache>
                <c:ptCount val="1"/>
                <c:pt idx="0">
                  <c:v>ClickHouse</c:v>
                </c:pt>
              </c:strCache>
            </c:strRef>
          </c:tx>
          <c:spPr>
            <a:ln w="28575">
              <a:solidFill>
                <a:srgbClr val="E96F4C"/>
              </a:solidFill>
            </a:ln>
          </c:spPr>
          <c:marker>
            <c:symbol val="circle"/>
            <c:size val="5"/>
            <c:spPr>
              <a:solidFill>
                <a:srgbClr val="E96F4C"/>
              </a:solidFill>
              <a:ln>
                <a:solidFill>
                  <a:srgbClr val="E96F4C"/>
                </a:solidFill>
              </a:ln>
            </c:spPr>
          </c:marker>
          <c:dLbls>
            <c:dLbl>
              <c:idx val="4"/>
              <c:tx>
                <c:rich>
                  <a:bodyPr/>
                  <a:lstStyle/>
                  <a:p>
                    <a:r>
                      <a:rPr sz="1000" b="1">
                        <a:solidFill>
                          <a:srgbClr val="E96F4C"/>
                        </a:solidFill>
                        <a:latin typeface="Roboto"/>
                      </a:rPr>
                      <a:t>ClickHouse</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Sheet1!$A$54:$A$58</c:f>
              <c:numCache>
                <c:formatCode>General</c:formatCode>
                <c:ptCount val="5"/>
                <c:pt idx="0">
                  <c:v>0.458</c:v>
                </c:pt>
                <c:pt idx="1">
                  <c:v>0.514</c:v>
                </c:pt>
                <c:pt idx="2">
                  <c:v>0.602</c:v>
                </c:pt>
                <c:pt idx="3">
                  <c:v>0.7</c:v>
                </c:pt>
                <c:pt idx="4">
                  <c:v>0.76</c:v>
                </c:pt>
              </c:numCache>
            </c:numRef>
          </c:xVal>
          <c:yVal>
            <c:numRef>
              <c:f>Sheet1!$B$54:$B$58</c:f>
              <c:numCache>
                <c:formatCode>General</c:formatCode>
                <c:ptCount val="5"/>
                <c:pt idx="0">
                  <c:v>10.771</c:v>
                </c:pt>
                <c:pt idx="1">
                  <c:v>10.829</c:v>
                </c:pt>
                <c:pt idx="2">
                  <c:v>10.864</c:v>
                </c:pt>
                <c:pt idx="3">
                  <c:v>11.344</c:v>
                </c:pt>
                <c:pt idx="4">
                  <c:v>11.957</c:v>
                </c:pt>
              </c:numCache>
            </c:numRef>
          </c:yVal>
          <c:smooth val="0"/>
        </c:ser>
        <c:ser>
          <c:idx val="6"/>
          <c:order val="6"/>
          <c:tx>
            <c:strRef>
              <c:f>Sheet1!$B$60</c:f>
              <c:strCache>
                <c:ptCount val="1"/>
                <c:pt idx="0">
                  <c:v>bar</c:v>
                </c:pt>
              </c:strCache>
            </c:strRef>
          </c:tx>
          <c:spPr>
            <a:ln w="12700">
              <a:solidFill>
                <a:srgbClr val="567F8D"/>
              </a:solidFill>
              <a:prstDash val="sysDash"/>
            </a:ln>
          </c:spPr>
          <c:marker>
            <c:symbol val="none"/>
          </c:marker>
          <c:dLbls>
            <c:dLbl>
              <c:idx val="1"/>
              <c:tx>
                <c:rich>
                  <a:bodyPr/>
                  <a:lstStyle/>
                  <a:p>
                    <a:r>
                      <a:rPr sz="1000">
                        <a:solidFill>
                          <a:srgbClr val="567F8D"/>
                        </a:solidFill>
                        <a:latin typeface="Roboto"/>
                      </a:rPr>
                      <a:t>90% recall</a:t>
                    </a:r>
                  </a:p>
                </c:rich>
              </c:tx>
              <c:dLblPos val="l"/>
              <c:showLegendKey val="0"/>
              <c:showVal val="1"/>
              <c:showCatName val="0"/>
              <c:showSerName val="0"/>
              <c:showPercent val="0"/>
              <c:showBubbleSize val="0"/>
            </c:dLbl>
            <c:showLegendKey val="0"/>
            <c:showVal val="0"/>
            <c:showCatName val="0"/>
            <c:showSerName val="0"/>
            <c:showPercent val="0"/>
            <c:showBubbleSize val="0"/>
            <c:showLeaderLines val="1"/>
          </c:dLbls>
          <c:xVal>
            <c:numRef>
              <c:f>Sheet1!$A$61:$A$63</c:f>
              <c:numCache>
                <c:formatCode>General</c:formatCode>
                <c:ptCount val="3"/>
                <c:pt idx="0">
                  <c:v>0.9</c:v>
                </c:pt>
                <c:pt idx="1">
                  <c:v>0.9</c:v>
                </c:pt>
                <c:pt idx="2">
                  <c:v>0.9</c:v>
                </c:pt>
              </c:numCache>
            </c:numRef>
          </c:xVal>
          <c:yVal>
            <c:numRef>
              <c:f>Sheet1!$B$61:$B$63</c:f>
              <c:numCache>
                <c:formatCode>General</c:formatCode>
                <c:ptCount val="3"/>
                <c:pt idx="0">
                  <c:v>1</c:v>
                </c:pt>
                <c:pt idx="1">
                  <c:v>400</c:v>
                </c:pt>
                <c:pt idx="2">
                  <c:v>1000</c:v>
                </c:pt>
              </c:numCache>
            </c:numRef>
          </c:yVal>
          <c:smooth val="0"/>
        </c:ser>
        <c:axId val="-2128940872"/>
        <c:axId val="-2129643912"/>
      </c:scatterChart>
      <c:valAx>
        <c:axId val="-2128940872"/>
        <c:scaling>
          <c:orientation val="minMax"/>
          <c:max val="1.0"/>
          <c:min val="0.2"/>
        </c:scaling>
        <c:delete val="0"/>
        <c:axPos val="b"/>
        <c:title>
          <c:tx>
            <c:rich>
              <a:bodyPr/>
              <a:lstStyle/>
              <a:p>
                <a:r>
                  <a:rPr sz="1000" b="0">
                    <a:solidFill>
                      <a:srgbClr val="567F8D"/>
                    </a:solidFill>
                    <a:latin typeface="Roboto"/>
                  </a:rPr>
                  <a:t>Recall@10</a:t>
                </a:r>
              </a:p>
            </c:rich>
          </c:tx>
          <c:layout/>
          <c:overlay val="0"/>
        </c:title>
        <c:numFmt formatCode="0.0" sourceLinked="0"/>
        <c:majorTickMark val="none"/>
        <c:minorTickMark val="none"/>
        <c:tickLblPos val="nextTo"/>
        <c:spPr>
          <a:ln>
            <a:solidFill>
              <a:srgbClr val="A8C2CA"/>
            </a:solidFill>
          </a:ln>
        </c:spPr>
        <c:txPr>
          <a:bodyPr/>
          <a:lstStyle/>
          <a:p>
            <a:pPr>
              <a:defRPr sz="1000">
                <a:solidFill>
                  <a:srgbClr val="567F8D"/>
                </a:solidFill>
                <a:latin typeface="Roboto"/>
              </a:defRPr>
            </a:pPr>
          </a:p>
        </c:txPr>
        <c:crossAx val="-2129643912"/>
        <c:crosses val="autoZero"/>
        <c:crossBetween val="midCat"/>
        <c:majorUnit val="0.1"/>
      </c:valAx>
      <c:valAx>
        <c:axId val="-2129643912"/>
        <c:scaling>
          <c:logBase val="10"/>
          <c:orientation val="minMax"/>
          <c:max val="1000.0"/>
          <c:min val="1.0"/>
        </c:scaling>
        <c:delete val="0"/>
        <c:axPos val="l"/>
        <c:majorGridlines>
          <c:spPr>
            <a:ln w="9525">
              <a:solidFill>
                <a:srgbClr val="E8F2F5"/>
              </a:solidFill>
            </a:ln>
          </c:spPr>
        </c:majorGridlines>
        <c:title>
          <c:tx>
            <c:rich>
              <a:bodyPr/>
              <a:lstStyle/>
              <a:p>
                <a:r>
                  <a:rPr sz="1000" b="0">
                    <a:solidFill>
                      <a:srgbClr val="567F8D"/>
                    </a:solidFill>
                    <a:latin typeface="Roboto"/>
                  </a:rPr>
                  <a:t>Milliseconds per query (log scale)</a:t>
                </a:r>
              </a:p>
            </c:rich>
          </c:tx>
          <c:layout/>
          <c:overlay val="0"/>
        </c:title>
        <c:numFmt formatCode="0" sourceLinked="0"/>
        <c:majorTickMark val="none"/>
        <c:minorTickMark val="none"/>
        <c:tickLblPos val="nextTo"/>
        <c:spPr>
          <a:ln>
            <a:solidFill>
              <a:srgbClr val="A8C2CA"/>
            </a:solidFill>
          </a:ln>
        </c:spPr>
        <c:txPr>
          <a:bodyPr/>
          <a:lstStyle/>
          <a:p>
            <a:pPr>
              <a:defRPr sz="1000">
                <a:solidFill>
                  <a:srgbClr val="567F8D"/>
                </a:solidFill>
                <a:latin typeface="Roboto"/>
              </a:defRPr>
            </a:pPr>
          </a:p>
        </c:txPr>
        <c:crossAx val="-2128940872"/>
        <c:crosses val="autoZero"/>
        <c:crossBetween val="midCat"/>
      </c:valAx>
    </c:plotArea>
    <c:plotVisOnly val="1"/>
    <c:dispBlanksAs val="gap"/>
    <c:showDLblsOverMax val="0"/>
  </c:chart>
  <c:txPr>
    <a:bodyPr/>
    <a:lstStyle/>
    <a:p>
      <a:pPr>
        <a:defRPr sz="1000">
          <a:latin typeface="Roboto"/>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dPt>
            <c:idx val="0"/>
            <c:spPr>
              <a:solidFill>
                <a:srgbClr val="567F8D"/>
              </a:solidFill>
              <a:ln>
                <a:noFill/>
              </a:ln>
            </c:spPr>
          </c:dPt>
          <c:dPt>
            <c:idx val="1"/>
            <c:spPr>
              <a:solidFill>
                <a:srgbClr val="567F8D"/>
              </a:solidFill>
              <a:ln>
                <a:noFill/>
              </a:ln>
            </c:spPr>
          </c:dPt>
          <c:dPt>
            <c:idx val="2"/>
            <c:spPr>
              <a:solidFill>
                <a:srgbClr val="567F8D"/>
              </a:solidFill>
              <a:ln>
                <a:noFill/>
              </a:ln>
            </c:spPr>
          </c:dPt>
          <c:dPt>
            <c:idx val="3"/>
            <c:spPr>
              <a:solidFill>
                <a:srgbClr val="28495A"/>
              </a:solidFill>
              <a:ln>
                <a:noFill/>
              </a:ln>
            </c:spPr>
          </c:dPt>
          <c:dPt>
            <c:idx val="4"/>
            <c:spPr>
              <a:solidFill>
                <a:srgbClr val="28495A"/>
              </a:solidFill>
              <a:ln>
                <a:noFill/>
              </a:ln>
            </c:spPr>
          </c:dPt>
          <c:dPt>
            <c:idx val="5"/>
            <c:spPr>
              <a:solidFill>
                <a:srgbClr val="567F8D"/>
              </a:solidFill>
              <a:ln>
                <a:noFill/>
              </a:ln>
            </c:spPr>
          </c:dPt>
          <c:cat>
            <c:strRef>
              <c:f>Sheet1!$A$2:$A$7</c:f>
              <c:strCache>
                <c:ptCount val="6"/>
                <c:pt idx="0">
                  <c:v>pgvector IVFFlat @ WHPG</c:v>
                </c:pt>
                <c:pt idx="1">
                  <c:v>ClickHouse</c:v>
                </c:pt>
                <c:pt idx="2">
                  <c:v>VectorChord</c:v>
                </c:pt>
                <c:pt idx="3">
                  <c:v>EDB ivfplus @ WHPG</c:v>
                </c:pt>
                <c:pt idx="4">
                  <c:v>EDB Vector Plus</c:v>
                </c:pt>
                <c:pt idx="5">
                  <c:v>pgvector IVFFlat</c:v>
                </c:pt>
              </c:strCache>
            </c:strRef>
          </c:cat>
          <c:val>
            <c:numRef>
              <c:f>Sheet1!$B$2:$B$7</c:f>
              <c:numCache>
                <c:formatCode>General</c:formatCode>
                <c:ptCount val="6"/>
                <c:pt idx="0">
                  <c:v>406</c:v>
                </c:pt>
                <c:pt idx="1">
                  <c:v>465</c:v>
                </c:pt>
                <c:pt idx="2">
                  <c:v>471</c:v>
                </c:pt>
                <c:pt idx="3">
                  <c:v>650</c:v>
                </c:pt>
                <c:pt idx="4">
                  <c:v>678</c:v>
                </c:pt>
                <c:pt idx="5">
                  <c:v>685</c:v>
                </c:pt>
              </c:numCache>
            </c:numRef>
          </c:val>
        </c:ser>
        <c:dLbls>
          <c:numFmt formatCode="0" sourceLinked="0"/>
          <c:txPr>
            <a:bodyPr/>
            <a:lstStyle/>
            <a:p>
              <a:pPr>
                <a:defRPr sz="1200" b="1">
                  <a:solidFill>
                    <a:srgbClr val="28495A"/>
                  </a:solidFill>
                  <a:latin typeface="Robo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solidFill>
              <a:srgbClr val="A8C2CA"/>
            </a:solidFill>
          </a:ln>
        </c:spPr>
        <c:txPr>
          <a:bodyPr/>
          <a:lstStyle/>
          <a:p>
            <a:pPr>
              <a:defRPr sz="1100">
                <a:solidFill>
                  <a:srgbClr val="28495A"/>
                </a:solidFill>
              </a:defRPr>
            </a:pPr>
          </a:p>
        </c:txPr>
        <c:crossAx val="-2113994440"/>
        <c:crosses val="autoZero"/>
        <c:auto val="1"/>
        <c:lblAlgn val="ctr"/>
        <c:lblOffset val="100"/>
        <c:noMultiLvlLbl val="0"/>
      </c:catAx>
      <c:valAx>
        <c:axId val="-2113994440"/>
        <c:scaling>
          <c:max val="835.6999999999999"/>
          <c:min val="0.0"/>
        </c:scaling>
        <c:delete/>
        <c:axPos val="b"/>
        <c:majorTickMark val="out"/>
        <c:minorTickMark val="none"/>
        <c:tickLblPos val="nextTo"/>
        <c:crossAx val="-2068027336"/>
        <c:crosses val="autoZero"/>
      </c:valAx>
    </c:plotArea>
    <c:dispBlanksAs val="gap"/>
  </c:chart>
  <c:txPr>
    <a:bodyPr/>
    <a:lstStyle/>
    <a:p>
      <a:pPr>
        <a:defRPr sz="1100">
          <a:latin typeface="Roboto"/>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dPt>
            <c:idx val="0"/>
            <c:spPr>
              <a:solidFill>
                <a:srgbClr val="567F8D"/>
              </a:solidFill>
              <a:ln>
                <a:noFill/>
              </a:ln>
            </c:spPr>
          </c:dPt>
          <c:dPt>
            <c:idx val="1"/>
            <c:spPr>
              <a:solidFill>
                <a:srgbClr val="28495A"/>
              </a:solidFill>
              <a:ln>
                <a:noFill/>
              </a:ln>
            </c:spPr>
          </c:dPt>
          <c:dPt>
            <c:idx val="2"/>
            <c:spPr>
              <a:solidFill>
                <a:srgbClr val="28495A"/>
              </a:solidFill>
              <a:ln>
                <a:noFill/>
              </a:ln>
            </c:spPr>
          </c:dPt>
          <c:dPt>
            <c:idx val="3"/>
            <c:spPr>
              <a:solidFill>
                <a:srgbClr val="567F8D"/>
              </a:solidFill>
              <a:ln>
                <a:noFill/>
              </a:ln>
            </c:spPr>
          </c:dPt>
          <c:dPt>
            <c:idx val="4"/>
            <c:spPr>
              <a:solidFill>
                <a:srgbClr val="567F8D"/>
              </a:solidFill>
              <a:ln>
                <a:noFill/>
              </a:ln>
            </c:spPr>
          </c:dPt>
          <c:dPt>
            <c:idx val="5"/>
            <c:spPr>
              <a:solidFill>
                <a:srgbClr val="567F8D"/>
              </a:solidFill>
              <a:ln>
                <a:noFill/>
              </a:ln>
            </c:spPr>
          </c:dPt>
          <c:cat>
            <c:strRef>
              <c:f>Sheet1!$A$2:$A$7</c:f>
              <c:strCache>
                <c:ptCount val="6"/>
                <c:pt idx="0">
                  <c:v>ClickHouse</c:v>
                </c:pt>
                <c:pt idx="1">
                  <c:v>EDB ivfplus @ WHPG</c:v>
                </c:pt>
                <c:pt idx="2">
                  <c:v>EDB Vector Plus</c:v>
                </c:pt>
                <c:pt idx="3">
                  <c:v>pgvector IVFFlat @ WHPG</c:v>
                </c:pt>
                <c:pt idx="4">
                  <c:v>pgvector IVFFlat</c:v>
                </c:pt>
                <c:pt idx="5">
                  <c:v>VectorChord</c:v>
                </c:pt>
              </c:strCache>
            </c:strRef>
          </c:cat>
          <c:val>
            <c:numRef>
              <c:f>Sheet1!$B$2:$B$7</c:f>
              <c:numCache>
                <c:formatCode>General</c:formatCode>
                <c:ptCount val="6"/>
                <c:pt idx="0">
                  <c:v>3.05</c:v>
                </c:pt>
                <c:pt idx="1">
                  <c:v>3.49</c:v>
                </c:pt>
                <c:pt idx="2">
                  <c:v>3.55</c:v>
                </c:pt>
                <c:pt idx="3">
                  <c:v>6.2</c:v>
                </c:pt>
                <c:pt idx="4">
                  <c:v>7.64</c:v>
                </c:pt>
                <c:pt idx="5">
                  <c:v>7.95</c:v>
                </c:pt>
              </c:numCache>
            </c:numRef>
          </c:val>
        </c:ser>
        <c:dLbls>
          <c:numFmt formatCode="0.00" sourceLinked="0"/>
          <c:txPr>
            <a:bodyPr/>
            <a:lstStyle/>
            <a:p>
              <a:pPr>
                <a:defRPr sz="1200" b="1">
                  <a:solidFill>
                    <a:srgbClr val="28495A"/>
                  </a:solidFill>
                  <a:latin typeface="Robo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solidFill>
              <a:srgbClr val="A8C2CA"/>
            </a:solidFill>
          </a:ln>
        </c:spPr>
        <c:txPr>
          <a:bodyPr/>
          <a:lstStyle/>
          <a:p>
            <a:pPr>
              <a:defRPr sz="1100">
                <a:solidFill>
                  <a:srgbClr val="28495A"/>
                </a:solidFill>
              </a:defRPr>
            </a:pPr>
          </a:p>
        </c:txPr>
        <c:crossAx val="-2113994440"/>
        <c:crosses val="autoZero"/>
        <c:auto val="1"/>
        <c:lblAlgn val="ctr"/>
        <c:lblOffset val="100"/>
        <c:noMultiLvlLbl val="0"/>
      </c:catAx>
      <c:valAx>
        <c:axId val="-2113994440"/>
        <c:scaling>
          <c:max val="9.699"/>
          <c:min val="0.0"/>
        </c:scaling>
        <c:delete/>
        <c:axPos val="b"/>
        <c:majorTickMark val="out"/>
        <c:minorTickMark val="none"/>
        <c:tickLblPos val="nextTo"/>
        <c:crossAx val="-2068027336"/>
        <c:crosses val="autoZero"/>
      </c:valAx>
    </c:plotArea>
    <c:dispBlanksAs val="gap"/>
  </c:chart>
  <c:txPr>
    <a:bodyPr/>
    <a:lstStyle/>
    <a:p>
      <a:pPr>
        <a:defRPr sz="1100">
          <a:latin typeface="Roboto"/>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ClickHouse recall</c:v>
                </c:pt>
              </c:strCache>
            </c:strRef>
          </c:tx>
          <c:spPr>
            <a:ln w="38100">
              <a:solidFill>
                <a:srgbClr val="E96F4C"/>
              </a:solidFill>
            </a:ln>
          </c:spPr>
          <c:marker>
            <c:symbol val="circle"/>
            <c:size val="8"/>
            <c:spPr>
              <a:solidFill>
                <a:srgbClr val="E96F4C"/>
              </a:solidFill>
              <a:ln>
                <a:solidFill>
                  <a:srgbClr val="E96F4C"/>
                </a:solidFill>
              </a:ln>
            </c:spPr>
          </c:marker>
          <c:dLbls>
            <c:numFmt formatCode="0.00" sourceLinked="0"/>
            <c:txPr>
              <a:bodyPr/>
              <a:lstStyle/>
              <a:p>
                <a:pPr>
                  <a:defRPr sz="1200" b="1">
                    <a:solidFill>
                      <a:srgbClr val="E96F4C"/>
                    </a:solidFill>
                  </a:defRPr>
                </a:pPr>
              </a:p>
            </c:txPr>
            <c:dLblPos val="t"/>
            <c:showLegendKey val="0"/>
            <c:showVal val="1"/>
            <c:showCatName val="0"/>
            <c:showSerName val="0"/>
            <c:showPercent val="0"/>
            <c:showBubbleSize val="0"/>
            <c:showLeaderLines val="1"/>
          </c:dLbls>
          <c:cat>
            <c:strRef>
              <c:f>Sheet1!$A$2:$A$6</c:f>
              <c:strCache>
                <c:ptCount val="5"/>
                <c:pt idx="0">
                  <c:v>10</c:v>
                </c:pt>
                <c:pt idx="1">
                  <c:v>16</c:v>
                </c:pt>
                <c:pt idx="2">
                  <c:v>32</c:v>
                </c:pt>
                <c:pt idx="3">
                  <c:v>64</c:v>
                </c:pt>
                <c:pt idx="4">
                  <c:v>128</c:v>
                </c:pt>
              </c:strCache>
            </c:strRef>
          </c:cat>
          <c:val>
            <c:numRef>
              <c:f>Sheet1!$B$2:$B$6</c:f>
              <c:numCache>
                <c:formatCode>General</c:formatCode>
                <c:ptCount val="5"/>
                <c:pt idx="0">
                  <c:v>0.458</c:v>
                </c:pt>
                <c:pt idx="1">
                  <c:v>0.514</c:v>
                </c:pt>
                <c:pt idx="2">
                  <c:v>0.602</c:v>
                </c:pt>
                <c:pt idx="3">
                  <c:v>0.7</c:v>
                </c:pt>
                <c:pt idx="4">
                  <c:v>0.76</c:v>
                </c:pt>
              </c:numCache>
            </c:numRef>
          </c:val>
          <c:smooth val="0"/>
        </c:ser>
        <c:ser>
          <c:idx val="1"/>
          <c:order val="1"/>
          <c:tx>
            <c:strRef>
              <c:f>Sheet1!$C$1</c:f>
              <c:strCache>
                <c:ptCount val="1"/>
                <c:pt idx="0">
                  <c:v>90% recall bar</c:v>
                </c:pt>
              </c:strCache>
            </c:strRef>
          </c:tx>
          <c:spPr>
            <a:ln w="12700">
              <a:solidFill>
                <a:srgbClr val="567F8D"/>
              </a:solidFill>
              <a:prstDash val="sysDash"/>
            </a:ln>
          </c:spPr>
          <c:marker>
            <c:symbol val="none"/>
          </c:marker>
          <c:dLbls>
            <c:dLbl>
              <c:idx val="4"/>
              <c:tx>
                <c:rich>
                  <a:bodyPr/>
                  <a:lstStyle/>
                  <a:p>
                    <a:r>
                      <a:rPr sz="1000">
                        <a:solidFill>
                          <a:srgbClr val="567F8D"/>
                        </a:solidFill>
                        <a:latin typeface="Roboto"/>
                      </a:rPr>
                      <a:t>90% bar</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10</c:v>
                </c:pt>
                <c:pt idx="1">
                  <c:v>16</c:v>
                </c:pt>
                <c:pt idx="2">
                  <c:v>32</c:v>
                </c:pt>
                <c:pt idx="3">
                  <c:v>64</c:v>
                </c:pt>
                <c:pt idx="4">
                  <c:v>128</c:v>
                </c:pt>
              </c:strCache>
            </c:strRef>
          </c:cat>
          <c:val>
            <c:numRef>
              <c:f>Sheet1!$C$2:$C$6</c:f>
              <c:numCache>
                <c:formatCode>General</c:formatCode>
                <c:ptCount val="5"/>
                <c:pt idx="0">
                  <c:v>0.9</c:v>
                </c:pt>
                <c:pt idx="1">
                  <c:v>0.9</c:v>
                </c:pt>
                <c:pt idx="2">
                  <c:v>0.9</c:v>
                </c:pt>
                <c:pt idx="3">
                  <c:v>0.9</c:v>
                </c:pt>
                <c:pt idx="4">
                  <c:v>0.9</c:v>
                </c:pt>
              </c:numCache>
            </c:numRef>
          </c:val>
          <c:smooth val="0"/>
        </c:ser>
        <c:marker val="1"/>
        <c:smooth val="0"/>
        <c:axId val="2118791784"/>
        <c:axId val="2140495176"/>
      </c:lineChart>
      <c:catAx>
        <c:axId val="2118791784"/>
        <c:scaling>
          <c:orientation val="minMax"/>
        </c:scaling>
        <c:delete val="0"/>
        <c:axPos val="b"/>
        <c:title>
          <c:tx>
            <c:rich>
              <a:bodyPr/>
              <a:lstStyle/>
              <a:p>
                <a:r>
                  <a:rPr sz="1100" b="0">
                    <a:solidFill>
                      <a:srgbClr val="567F8D"/>
                    </a:solidFill>
                    <a:latin typeface="Roboto"/>
                  </a:rPr>
                  <a:t>ef_search (hnsw_candidate_list_size_for_search)</a:t>
                </a:r>
              </a:p>
            </c:rich>
          </c:tx>
          <c:layout/>
          <c:overlay val="0"/>
        </c:title>
        <c:majorTickMark val="none"/>
        <c:minorTickMark val="none"/>
        <c:tickLblPos val="nextTo"/>
        <c:spPr>
          <a:ln>
            <a:solidFill>
              <a:srgbClr val="A8C2CA"/>
            </a:solidFill>
          </a:ln>
        </c:spPr>
        <c:txPr>
          <a:bodyPr/>
          <a:lstStyle/>
          <a:p>
            <a:pPr>
              <a:defRPr sz="1100">
                <a:solidFill>
                  <a:srgbClr val="567F8D"/>
                </a:solidFill>
                <a:latin typeface="Roboto"/>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E8F2F5"/>
              </a:solidFill>
            </a:ln>
          </c:spPr>
        </c:majorGridlines>
        <c:title>
          <c:tx>
            <c:rich>
              <a:bodyPr/>
              <a:lstStyle/>
              <a:p>
                <a:r>
                  <a:rPr sz="1100" b="0">
                    <a:solidFill>
                      <a:srgbClr val="567F8D"/>
                    </a:solidFill>
                    <a:latin typeface="Roboto"/>
                  </a:rPr>
                  <a:t>Recall@10</a:t>
                </a:r>
              </a:p>
            </c:rich>
          </c:tx>
          <c:layout/>
          <c:overlay val="0"/>
        </c:title>
        <c:numFmt formatCode="0.0" sourceLinked="0"/>
        <c:majorTickMark val="none"/>
        <c:minorTickMark val="none"/>
        <c:tickLblPos val="nextTo"/>
        <c:spPr>
          <a:ln>
            <a:solidFill>
              <a:srgbClr val="A8C2CA"/>
            </a:solidFill>
          </a:ln>
        </c:spPr>
        <c:txPr>
          <a:bodyPr/>
          <a:lstStyle/>
          <a:p>
            <a:pPr>
              <a:defRPr sz="1100">
                <a:solidFill>
                  <a:srgbClr val="567F8D"/>
                </a:solidFill>
                <a:latin typeface="Roboto"/>
              </a:defRPr>
            </a:pPr>
          </a:p>
        </c:txPr>
        <c:crossAx val="2118791784"/>
        <c:crosses val="autoZero"/>
        <c:majorUnit val="0.2"/>
      </c:valAx>
    </c:plotArea>
    <c:plotVisOnly val="1"/>
    <c:dispBlanksAs val="gap"/>
    <c:showDLblsOverMax val="0"/>
  </c:chart>
  <c:txPr>
    <a:bodyPr/>
    <a:lstStyle/>
    <a:p>
      <a:pPr>
        <a:defRPr sz="1100">
          <a:latin typeface="Robo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sweeps ran on 22 and 23 October: one at 1M rows and five at 2M. This deck covers what was tested and how, then the results, then what the sweeps could not show yet.</a:t>
            </a:r>
          </a:p>
          <a:p/>
          <a:p>
            <a:r>
              <a:t>--- LIVING DECK (edb-bento-lite) ---</a:t>
            </a:r>
          </a:p>
          <a:p>
            <a:r>
              <a:t>This file is generated and reconciled. It is safe to edit by hand, and safe to</a:t>
            </a:r>
          </a:p>
          <a:p>
            <a:r>
              <a:t>regenerate: the two do not conflict.</a:t>
            </a:r>
          </a:p>
          <a:p/>
          <a:p>
            <a:r>
              <a:t>Humans: edit this .pptx freely, in PowerPoint or in Google Slides</a:t>
            </a:r>
          </a:p>
          <a:p>
            <a:r>
              <a:t>Office-compatibility mode (keep the .PPTX badge; never File &gt; Save as Google</a:t>
            </a:r>
          </a:p>
          <a:p>
            <a:r>
              <a:t>Slides -- conversion breaks shape identity). Your edits survive rebuilds.</a:t>
            </a:r>
          </a:p>
          <a:p/>
          <a:p>
            <a:r>
              <a:t>Claude (any session with the edb-bento-lite skill installed): this deck's</a:t>
            </a:r>
          </a:p>
          <a:p>
            <a:r>
              <a:t>source folder is: /mnt/user-data/outputs/2026-10-23 Vector Search Benchmark Review</a:t>
            </a:r>
          </a:p>
          <a:p>
            <a:r>
              <a:t>It contains the build script (build_deck.py), &lt;deck&gt;.pptx.manifest.json and &lt;deck&gt;.overrides.json.</a:t>
            </a:r>
          </a:p>
          <a:p>
            <a:r>
              <a:t>Before ANY rebuild: run the skill's scripts/reconcile.py against this pptx and</a:t>
            </a:r>
          </a:p>
          <a:p>
            <a:r>
              <a:t>the manifest to fold human edits into overrides.json (the build script applies</a:t>
            </a:r>
          </a:p>
          <a:p>
            <a:r>
              <a:t>overrides as its last step). Shapes carry semantic IDs (mbl:*) in their</a:t>
            </a:r>
          </a:p>
          <a:p>
            <a:r>
              <a:t>alt-text descriptions -- that is the identity system; do not strip alt text.</a:t>
            </a:r>
          </a:p>
          <a:p>
            <a:r>
              <a:t>If you only have this file and not the folder, the shape tags still let you</a:t>
            </a:r>
          </a:p>
          <a:p>
            <a:r>
              <a:t>rebuild a manifest from the file itself; ask the deck owner for the folder to</a:t>
            </a:r>
          </a:p>
          <a:p>
            <a:r>
              <a:t>recover the build script.</a:t>
            </a:r>
          </a:p>
          <a:p/>
          <a:p>
            <a:r>
              <a:t>Machine pointer (also in core document properties / comments):</a:t>
            </a:r>
          </a:p>
          <a:p>
            <a:r>
              <a:t>{"living_deck": 1, "skill": "edb-bento-lite", "folder": "/mnt/user-data/outputs/2026-10-23 Vector Search Benchmark Review", "build": "build_deck.py", "protocol": "reconcile-before-rebuild"}</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speed comparison is at equal recall, read off the measured recall-latency curves. On WarehousePG both engines reach 90% recall, so that ratio is measured (6.1 ms against 19.7 ms at the points that first cross 90%, 5.6 against 17.5 interpolated). On Postgres, ivfplus never reaches 90%: run 6 extended the ladder to 256 probes and its recall stays at 0.886 from 64 probes on. The comparison is therefore made at 85%, inside the range ivfplus covers. Index size is the on-disk index at 2M rows.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configurations. The two WarehousePG engines run on Postgres 12 with pgvector 0.7.4, an older stack than the Postgres 18 engines. HNSW was only built at 1M rows, and ClickHouse only at 2M.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table is a copy of vp_docs made by the dashboard: Postgres clones with COPY, WarehousePG tables by binary COPY, and ClickHouse by streaming the same rows. The fingerprint check is what makes recall comparable across engines: every engine is asked about the same rows.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50 query vectors are real stored rows nudged with small noise, so each has genuine neighbours. The exact baseline took about 10.5 seconds per query at 2M rows and is computed once; later sweeps reuse it. For each setting the sweep runs one throwaway pass of three queries, then three timed passes, and keeps the median of the three for each query. Cold-cache mode exists but these sweeps were warm.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statement text the dashboard logs in its Query Log tab. The query returns id, topic, category, title and distance, so every engine does the same fetch work. WarehousePG uses the same SELECT against its own tables with optimizer = off.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HNSW has no probes, so the shared value is translated into an ef_search that grows four times as fast, with a floor of k. That translation is a choice, not a standard: it decides where each curve starts, but the recall-latency charts compare at equal recall, which does not depend on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Lists are 1000 at 1M rows and 1414 at 2M. HNSW used pgvector's default ef_construction of 64, while ClickHouse used 128, its form default, so the two HNSW builds are not matched. Build times are single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2 predates the rebuild of the WarehousePG IVFFlat index at 16:26 on 22 October, so its WarehousePG IVFFlat recall differs from runs 3 to 6. It also carries a stale build record for that engine. Runs 3 to 6 share an exact baseline computed at 06:24 on 23 October. Run 6 recorded no ClickHouse note, and its latencies match run 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90% bar: ivfplus on WarehousePG 4.0 ms at probes 16 (recall 0.914), IVFFlat on WarehousePG 12.6 ms (0.946), pgvector HNSW 16.9 ms at ef_search 320 (0.920), VectorChord 33.6 ms (0.914), IVFFlat on Postgres 34.8 ms (0.938). EDB Vector Plus on Postgres topped out at 0.882 because its 1M sweep list ended at 16 probes. This is a single run, so individual latencies carry noise; HNSW ran at 1M only.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2M figures are the lowest latency per setting across runs 3 to 6 (ClickHouse: runs 3 and 4). At the 90% bar ivfplus on WarehousePG took 6.1 ms (recall 0.936, 32 probes), IVFFlat on WarehousePG 19.3 ms (0.916, 16 probes), VectorChord 47.3 ms (0.904, 16 probes) and IVFFlat on Postgres 52.2 ms (0.906, 16 probes). EDB Vector Plus on Postgres plateaus at 0.886 from 64 probes to 256, so it never reaches the bar; ClickHouse stopped at 0.760 at ef_search 128, where its ladder ended.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at equal recall removes the effect of setting translation and of ivfplus needing more probes than IVFFlat for the same recall. On WarehousePG the advantage grows with recall, from 1.3× at 60% to 3.1× at 90%; ivfplus on WarehousePG has no value at 95% or 99% because its ladder ended at 32 probes and 0.936. On Postgres the advantage is 4.3× to 6.2× over the range ivfplus covers, which ends at 0.886: run 6 showed that more probes do not raise its recall. At 95% and 99% only the IVFFlat engines and, at 95%, VectorChord have values.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ClickHouse figure is the secondary index only, the table data is separate. VectorChord and ClickHouse build fastest at about 470 s on one node; ivfplus and IVFFlat take about 680 s. On WarehousePG IVFFlat took 406 s, the quickest build of all, but ivfplus took 650 s, so ivfplus gained little from the second segment.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Compared at 16 probes. Lists changed from 1000 to 1414 with the row count, so each list holds about 1,400 rows at both sizes. The recall drop at fixed probes is the expected cost of a larger corpus. The 1M latencies come from one run and may carry noise, which can move these ratios by a few percent.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probes, same index definition, different clusters. For IVFFlat the latency gain is 2.5 to 2.7× and recall rises by 0.01. For ivfplus the latency gain is 1.1× at 16 probes and 1.7× at 32 probes, but recall rises by 0.04 to 0.06 because each segment probes its own lists. The speed comparison on the equal-recall slide is the fair 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ClickHouse 26.1.2.1 EDB PoC preview build, HNSW with bf16 quantization, M 16, ef_construction 128. The recall curve was still rising at ef_search 128, so this is a floor and not a ceiling: 0.46, 0.51, 0.60, 0.70, 0.76. The flat 11 ms suggests the per-request cost (HTTP round trip, parsing, returning five columns) is larger than the search itself at these settings. The run 3 and 4 spikes were 76 ms at ef_search 64 and 68 ms at ef_search 32.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Benchmark tab's ranking recomputed on the consolidated 2M figures. The score is a summary, not a measurement: change the weights and the order can change. The 95% result for ivfplus on WarehousePG is a property of the sweep, not of the engine: its probe list stopped at 32, at 0.936. The DNQ for ivfplus on Postgres is different: run 6 showed its recall plateaus at 0.886, so it cannot reach 90% in this configuration. The Scoring tab in the dashboard shows the formula metric by metric.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Slowest outlier: VectorChord at 8 probes took 427 ms in run 3 and 186 ms in run 4 against 28 ms in run 5 and 28 ms in run 6. VectorChord is the most sensitive engine: at 64 and 128 probes in run 6 its pass-to-pass spread was large (standard deviation of the pass means above 500 ms), and those settings have no repeat. Run 6's note says the table check took 157 s, nearly all of it the WarehousePG IVFFlat table; running VACUUM ANALYZE on the WarehousePG tables is the likely fix, and it is a setup cost, not part of any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6 closed one question: the Postgres ivfplus curve was not cut short, it is flat at 0.886 from 64 to 256 probes. Index maintenance under churn (10% of the ranking weight) was not run, so the scores are rescaled over the other five metrics. With shared_buffers at 128 MB, every index is served from the operating system cache.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item completes the two curves that still end early. The second matters most for the headline claim: ivfplus is faster at equal recall, but on Postgres it cannot be compared above 0.886 until the ceiling is explained. The third uses the dashboard's Repeats and quiet-host options, which save each repeat as its own run and let the Benchmark tab take the lowest or the median latency.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EDB Title (manual)">
    <p:bg>
      <p:bgPr>
        <a:solidFill>
          <a:srgbClr val="0D1E2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65760" y="2130425"/>
            <a:ext cx="11430000" cy="1470025"/>
          </a:xfrm>
        </p:spPr>
        <p:txBody>
          <a:bodyPr/>
          <a:lstStyle/>
          <a:p>
            <a:pPr algn="l">
              <a:defRPr>
                <a:solidFill>
                  <a:srgbClr val="FFFFFF"/>
                </a:solidFill>
              </a:defRPr>
            </a:pPr>
            <a:r>
              <a:rPr lang="en-US" smtClean="0"/>
              <a:t>Click to edit Master title style</a:t>
            </a:r>
            <a:endParaRPr lang="en-US"/>
          </a:p>
        </p:txBody>
      </p:sp>
      <p:sp>
        <p:nvSpPr>
          <p:cNvPr id="3" name="Subtitle 2"/>
          <p:cNvSpPr>
            <a:spLocks noGrp="1"/>
          </p:cNvSpPr>
          <p:nvPr>
            <p:ph type="subTitle" idx="1"/>
          </p:nvPr>
        </p:nvSpPr>
        <p:spPr>
          <a:xfrm>
            <a:off x="365760" y="3886200"/>
            <a:ext cx="114300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lgn="l">
              <a:defRPr>
                <a:solidFill>
                  <a:srgbClr val="FFFFFF"/>
                </a:solidFill>
              </a:defRPr>
            </a:pPr>
            <a:r>
              <a:rPr lang="en-US" smtClean="0"/>
              <a:t>Click to edit Master subtitle style</a:t>
            </a:r>
            <a:endParaRPr lang="en-US"/>
          </a:p>
        </p:txBody>
      </p:sp>
      <p:sp>
        <p:nvSpPr>
          <p:cNvPr id="4" name="Date Placeholder 3"/>
          <p:cNvSpPr>
            <a:spLocks noGrp="1"/>
          </p:cNvSpPr>
          <p:nvPr>
            <p:ph type="dt" sz="half" idx="10"/>
          </p:nvPr>
        </p:nvSpPr>
        <p:spPr>
          <a:xfrm>
            <a:off x="365760" y="0"/>
            <a:ext cx="11430000" cy="0"/>
          </a:xfrm>
        </p:spPr>
        <p:txBody>
          <a:bodyPr/>
          <a:lstStyle/>
          <a:p>
            <a:pPr algn="l">
              <a:defRPr>
                <a:solidFill>
                  <a:srgbClr val="FFFFFF"/>
                </a:solidFill>
              </a:defRPr>
            </a:pPr>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365760" y="0"/>
            <a:ext cx="11430000" cy="0"/>
          </a:xfrm>
        </p:spPr>
        <p:txBody>
          <a:bodyPr/>
          <a:lstStyle/>
          <a:p>
            <a:pPr algn="l">
              <a:defRPr>
                <a:solidFill>
                  <a:srgbClr val="FFFFFF"/>
                </a:solidFill>
              </a:defRPr>
            </a:pPr>
            <a:endParaRPr lang="en-US"/>
          </a:p>
        </p:txBody>
      </p:sp>
      <p:sp>
        <p:nvSpPr>
          <p:cNvPr id="6" name="Slide Number Placeholder 5"/>
          <p:cNvSpPr>
            <a:spLocks noGrp="1"/>
          </p:cNvSpPr>
          <p:nvPr>
            <p:ph type="sldNum" sz="quarter" idx="12"/>
          </p:nvPr>
        </p:nvSpPr>
        <p:spPr>
          <a:xfrm>
            <a:off x="365760" y="0"/>
            <a:ext cx="11430000" cy="0"/>
          </a:xfrm>
        </p:spPr>
        <p:txBody>
          <a:bodyPr/>
          <a:lstStyle/>
          <a:p>
            <a:pPr algn="l">
              <a:defRPr>
                <a:solidFill>
                  <a:srgbClr val="FFFFFF"/>
                </a:solidFill>
              </a:defRPr>
            </a:pPr>
            <a:fld id="{C1FF6DA9-008F-8B48-92A6-B652298478BF}" type="slidenum">
              <a:rPr lang="en-US" smtClean="0"/>
              <a:t>‹#›</a:t>
            </a:fld>
            <a:endParaRPr lang="en-US"/>
          </a:p>
        </p:txBody>
      </p:sp>
      <p:pic>
        <p:nvPicPr>
          <p:cNvPr id="4" name="Picture 3" descr="edb_postgres_ai_darkmode.png"/>
          <p:cNvPicPr>
            <a:picLocks noChangeAspect="1"/>
          </p:cNvPicPr>
          <p:nvPr/>
        </p:nvPicPr>
        <p:blipFill>
          <a:blip r:embed="rId2"/>
          <a:stretch>
            <a:fillRect/>
          </a:stretch>
        </p:blipFill>
        <p:spPr>
          <a:xfrm>
            <a:off x="256032" y="6419088"/>
            <a:ext cx="877824" cy="201168"/>
          </a:xfrm>
          <a:prstGeom prst="rect">
            <a:avLst/>
          </a:prstGeom>
        </p:spPr>
      </p:pic>
      <p:sp>
        <p:nvSpPr>
          <p:cNvPr id="5" name="TextBox 4"/>
          <p:cNvSpPr txBox="1"/>
          <p:nvPr/>
        </p:nvSpPr>
        <p:spPr>
          <a:xfrm>
            <a:off x="8259775" y="6437376"/>
            <a:ext cx="3657600" cy="182880"/>
          </a:xfrm>
          <a:prstGeom prst="rect">
            <a:avLst/>
          </a:prstGeom>
          <a:noFill/>
        </p:spPr>
        <p:txBody>
          <a:bodyPr wrap="square">
            <a:noAutofit/>
          </a:bodyPr>
          <a:lstStyle/>
          <a:p>
            <a:pPr algn="r"/>
            <a:r>
              <a:rPr sz="750">
                <a:solidFill>
                  <a:srgbClr val="A8C2CA"/>
                </a:solidFill>
                <a:latin typeface="Roboto"/>
              </a:rPr>
              <a:t>©EDB 2026 — ALL RIGHTS RESERVED.</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EDB Content (manual)">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384048"/>
            <a:ext cx="11430000" cy="685800"/>
          </a:xfrm>
        </p:spPr>
        <p:txBody>
          <a:bodyPr/>
          <a:lstStyle/>
          <a:p>
            <a:r>
              <a:rPr lang="en-US" smtClean="0"/>
              <a:t>Click to edit Master title style</a:t>
            </a:r>
            <a:endParaRPr lang="en-US"/>
          </a:p>
        </p:txBody>
      </p:sp>
      <p:sp>
        <p:nvSpPr>
          <p:cNvPr id="3" name="Content Placeholder 2"/>
          <p:cNvSpPr>
            <a:spLocks noGrp="1"/>
          </p:cNvSpPr>
          <p:nvPr>
            <p:ph idx="1"/>
          </p:nvPr>
        </p:nvSpPr>
        <p:spPr>
          <a:xfrm>
            <a:off x="365760" y="1417320"/>
            <a:ext cx="11457432" cy="46634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365760" y="1417320"/>
            <a:ext cx="11457432" cy="466344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365760" y="1417320"/>
            <a:ext cx="11457432" cy="4663440"/>
          </a:xfrm>
        </p:spPr>
        <p:txBody>
          <a:bodyPr/>
          <a:lstStyle/>
          <a:p>
            <a:endParaRPr lang="en-US"/>
          </a:p>
        </p:txBody>
      </p:sp>
      <p:sp>
        <p:nvSpPr>
          <p:cNvPr id="6" name="Slide Number Placeholder 5"/>
          <p:cNvSpPr>
            <a:spLocks noGrp="1"/>
          </p:cNvSpPr>
          <p:nvPr>
            <p:ph type="sldNum" sz="quarter" idx="12"/>
          </p:nvPr>
        </p:nvSpPr>
        <p:spPr>
          <a:xfrm>
            <a:off x="365760" y="1417320"/>
            <a:ext cx="11457432" cy="4663440"/>
          </a:xfrm>
        </p:spPr>
        <p:txBody>
          <a:bodyPr/>
          <a:lstStyle/>
          <a:p>
            <a:fld id="{C1FF6DA9-008F-8B48-92A6-B652298478BF}" type="slidenum">
              <a:rPr lang="en-US" smtClean="0"/>
              <a:t>‹#›</a:t>
            </a:fld>
            <a:endParaRPr lang="en-US"/>
          </a:p>
        </p:txBody>
      </p:sp>
      <p:pic>
        <p:nvPicPr>
          <p:cNvPr id="4" name="Picture 3" descr="edb_postgres_ai_lightmode.png"/>
          <p:cNvPicPr>
            <a:picLocks noChangeAspect="1"/>
          </p:cNvPicPr>
          <p:nvPr/>
        </p:nvPicPr>
        <p:blipFill>
          <a:blip r:embed="rId2"/>
          <a:stretch>
            <a:fillRect/>
          </a:stretch>
        </p:blipFill>
        <p:spPr>
          <a:xfrm>
            <a:off x="256032" y="6419088"/>
            <a:ext cx="877824" cy="201168"/>
          </a:xfrm>
          <a:prstGeom prst="rect">
            <a:avLst/>
          </a:prstGeom>
        </p:spPr>
      </p:pic>
      <p:sp>
        <p:nvSpPr>
          <p:cNvPr id="5" name="TextBox 4"/>
          <p:cNvSpPr txBox="1"/>
          <p:nvPr/>
        </p:nvSpPr>
        <p:spPr>
          <a:xfrm>
            <a:off x="8259775" y="6437376"/>
            <a:ext cx="3657600" cy="182880"/>
          </a:xfrm>
          <a:prstGeom prst="rect">
            <a:avLst/>
          </a:prstGeom>
          <a:noFill/>
        </p:spPr>
        <p:txBody>
          <a:bodyPr wrap="square">
            <a:noAutofit/>
          </a:bodyPr>
          <a:lstStyle/>
          <a:p>
            <a:pPr algn="r"/>
            <a:r>
              <a:rPr sz="750">
                <a:solidFill>
                  <a:srgbClr val="567F8D"/>
                </a:solidFill>
                <a:latin typeface="Roboto"/>
              </a:rPr>
              <a:t>©EDB 2026 — ALL RIGHTS RESERVED.</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DB Divider (manual)">
    <p:bg>
      <p:bgPr>
        <a:solidFill>
          <a:srgbClr val="0D1E2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406900"/>
            <a:ext cx="11430000" cy="1362075"/>
          </a:xfrm>
        </p:spPr>
        <p:txBody>
          <a:bodyPr anchor="t"/>
          <a:lstStyle>
            <a:lvl1pPr algn="l">
              <a:defRPr sz="4000" b="1" cap="all"/>
            </a:lvl1pPr>
          </a:lstStyle>
          <a:p>
            <a:pPr algn="l">
              <a:defRPr>
                <a:solidFill>
                  <a:srgbClr val="FFFFFF"/>
                </a:solidFill>
              </a:defRPr>
            </a:pPr>
            <a:r>
              <a:rPr lang="en-US" smtClean="0"/>
              <a:t>Click to edit Master title style</a:t>
            </a:r>
            <a:endParaRPr lang="en-US"/>
          </a:p>
        </p:txBody>
      </p:sp>
      <p:sp>
        <p:nvSpPr>
          <p:cNvPr id="3" name="Text Placeholder 2"/>
          <p:cNvSpPr>
            <a:spLocks noGrp="1"/>
          </p:cNvSpPr>
          <p:nvPr>
            <p:ph type="body" idx="1"/>
          </p:nvPr>
        </p:nvSpPr>
        <p:spPr>
          <a:xfrm>
            <a:off x="365760" y="2906713"/>
            <a:ext cx="114300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lgn="l">
              <a:defRPr>
                <a:solidFill>
                  <a:srgbClr val="FFFFFF"/>
                </a:solidFill>
              </a:defRPr>
            </a:pPr>
            <a:r>
              <a:rPr lang="en-US" smtClean="0"/>
              <a:t>Click to edit Master text styles</a:t>
            </a:r>
          </a:p>
        </p:txBody>
      </p:sp>
      <p:sp>
        <p:nvSpPr>
          <p:cNvPr id="4" name="Date Placeholder 3"/>
          <p:cNvSpPr>
            <a:spLocks noGrp="1"/>
          </p:cNvSpPr>
          <p:nvPr>
            <p:ph type="dt" sz="half" idx="10"/>
          </p:nvPr>
        </p:nvSpPr>
        <p:spPr>
          <a:xfrm>
            <a:off x="365760" y="0"/>
            <a:ext cx="11430000" cy="0"/>
          </a:xfrm>
        </p:spPr>
        <p:txBody>
          <a:bodyPr/>
          <a:lstStyle/>
          <a:p>
            <a:pPr algn="l">
              <a:defRPr>
                <a:solidFill>
                  <a:srgbClr val="FFFFFF"/>
                </a:solidFill>
              </a:defRPr>
            </a:pPr>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365760" y="0"/>
            <a:ext cx="11430000" cy="0"/>
          </a:xfrm>
        </p:spPr>
        <p:txBody>
          <a:bodyPr/>
          <a:lstStyle/>
          <a:p>
            <a:pPr algn="l">
              <a:defRPr>
                <a:solidFill>
                  <a:srgbClr val="FFFFFF"/>
                </a:solidFill>
              </a:defRPr>
            </a:pPr>
            <a:endParaRPr lang="en-US"/>
          </a:p>
        </p:txBody>
      </p:sp>
      <p:sp>
        <p:nvSpPr>
          <p:cNvPr id="6" name="Slide Number Placeholder 5"/>
          <p:cNvSpPr>
            <a:spLocks noGrp="1"/>
          </p:cNvSpPr>
          <p:nvPr>
            <p:ph type="sldNum" sz="quarter" idx="12"/>
          </p:nvPr>
        </p:nvSpPr>
        <p:spPr>
          <a:xfrm>
            <a:off x="365760" y="0"/>
            <a:ext cx="11430000" cy="0"/>
          </a:xfrm>
        </p:spPr>
        <p:txBody>
          <a:bodyPr/>
          <a:lstStyle/>
          <a:p>
            <a:pPr algn="l">
              <a:defRPr>
                <a:solidFill>
                  <a:srgbClr val="FFFFFF"/>
                </a:solidFill>
              </a:defRPr>
            </a:pPr>
            <a:fld id="{C1FF6DA9-008F-8B48-92A6-B652298478BF}" type="slidenum">
              <a:rPr lang="en-US" smtClean="0"/>
              <a:t>‹#›</a:t>
            </a:fld>
            <a:endParaRPr lang="en-US"/>
          </a:p>
        </p:txBody>
      </p:sp>
      <p:pic>
        <p:nvPicPr>
          <p:cNvPr id="4" name="Picture 3" descr="edb_postgres_ai_darkmode.png"/>
          <p:cNvPicPr>
            <a:picLocks noChangeAspect="1"/>
          </p:cNvPicPr>
          <p:nvPr/>
        </p:nvPicPr>
        <p:blipFill>
          <a:blip r:embed="rId2"/>
          <a:stretch>
            <a:fillRect/>
          </a:stretch>
        </p:blipFill>
        <p:spPr>
          <a:xfrm>
            <a:off x="256032" y="6419088"/>
            <a:ext cx="877824" cy="201168"/>
          </a:xfrm>
          <a:prstGeom prst="rect">
            <a:avLst/>
          </a:prstGeom>
        </p:spPr>
      </p:pic>
      <p:sp>
        <p:nvSpPr>
          <p:cNvPr id="5" name="TextBox 4"/>
          <p:cNvSpPr txBox="1"/>
          <p:nvPr/>
        </p:nvSpPr>
        <p:spPr>
          <a:xfrm>
            <a:off x="8259775" y="6437376"/>
            <a:ext cx="3657600" cy="182880"/>
          </a:xfrm>
          <a:prstGeom prst="rect">
            <a:avLst/>
          </a:prstGeom>
          <a:noFill/>
        </p:spPr>
        <p:txBody>
          <a:bodyPr wrap="square">
            <a:noAutofit/>
          </a:bodyPr>
          <a:lstStyle/>
          <a:p>
            <a:pPr algn="r"/>
            <a:r>
              <a:rPr sz="750">
                <a:solidFill>
                  <a:srgbClr val="A8C2CA"/>
                </a:solidFill>
                <a:latin typeface="Roboto"/>
              </a:rPr>
              <a:t>©EDB 2026 — ALL RIGHTS RESERVED.</a:t>
            </a:r>
          </a:p>
        </p:txBody>
      </p:sp>
    </p:spTree>
    <p:extLst>
      <p:ext uri="{BB962C8B-B14F-4D97-AF65-F5344CB8AC3E}">
        <p14:creationId xmlns:p14="http://schemas.microsoft.com/office/powerpoint/2010/main" val="960648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DB Dark">
    <p:bg>
      <p:bgPr>
        <a:solidFill>
          <a:srgbClr val="0D1E25"/>
        </a:solidFill>
        <a:effectLst/>
      </p:bgPr>
    </p:bg>
    <p:spTree>
      <p:nvGrpSpPr>
        <p:cNvPr id="1" name=""/>
        <p:cNvGrpSpPr/>
        <p:nvPr/>
      </p:nvGrpSpPr>
      <p:grpSpPr>
        <a:xfrm>
          <a:off x="0" y="0"/>
          <a:ext cx="0" cy="0"/>
          <a:chOff x="0" y="0"/>
          <a:chExt cx="0" cy="0"/>
        </a:xfrm>
      </p:grpSpPr>
      <p:pic>
        <p:nvPicPr>
          <p:cNvPr id="2" name="Picture 1" descr="edb_postgres_ai_darkmode.png"/>
          <p:cNvPicPr>
            <a:picLocks noChangeAspect="1"/>
          </p:cNvPicPr>
          <p:nvPr/>
        </p:nvPicPr>
        <p:blipFill>
          <a:blip r:embed="rId2"/>
          <a:stretch>
            <a:fillRect/>
          </a:stretch>
        </p:blipFill>
        <p:spPr>
          <a:xfrm>
            <a:off x="256032" y="6419088"/>
            <a:ext cx="877824" cy="201168"/>
          </a:xfrm>
          <a:prstGeom prst="rect">
            <a:avLst/>
          </a:prstGeom>
        </p:spPr>
      </p:pic>
      <p:sp>
        <p:nvSpPr>
          <p:cNvPr id="3" name="TextBox 2"/>
          <p:cNvSpPr txBox="1"/>
          <p:nvPr/>
        </p:nvSpPr>
        <p:spPr>
          <a:xfrm>
            <a:off x="8259775" y="6437376"/>
            <a:ext cx="3657600" cy="182880"/>
          </a:xfrm>
          <a:prstGeom prst="rect">
            <a:avLst/>
          </a:prstGeom>
          <a:noFill/>
        </p:spPr>
        <p:txBody>
          <a:bodyPr wrap="square">
            <a:noAutofit/>
          </a:bodyPr>
          <a:lstStyle/>
          <a:p>
            <a:pPr algn="r"/>
            <a:r>
              <a:rPr sz="750">
                <a:solidFill>
                  <a:srgbClr val="A8C2CA"/>
                </a:solidFill>
                <a:latin typeface="Roboto"/>
              </a:rPr>
              <a:t>©EDB 2026 — ALL RIGHTS RESERVED.</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DB Content">
    <p:bg>
      <p:bgPr>
        <a:solidFill>
          <a:srgbClr val="FFFFFF"/>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2" name="Picture 1" descr="edb_postgres_ai_lightmode.png"/>
          <p:cNvPicPr>
            <a:picLocks noChangeAspect="1"/>
          </p:cNvPicPr>
          <p:nvPr/>
        </p:nvPicPr>
        <p:blipFill>
          <a:blip r:embed="rId2"/>
          <a:stretch>
            <a:fillRect/>
          </a:stretch>
        </p:blipFill>
        <p:spPr>
          <a:xfrm>
            <a:off x="256032" y="6419088"/>
            <a:ext cx="877824" cy="201168"/>
          </a:xfrm>
          <a:prstGeom prst="rect">
            <a:avLst/>
          </a:prstGeom>
        </p:spPr>
      </p:pic>
      <p:sp>
        <p:nvSpPr>
          <p:cNvPr id="3" name="TextBox 2"/>
          <p:cNvSpPr txBox="1"/>
          <p:nvPr/>
        </p:nvSpPr>
        <p:spPr>
          <a:xfrm>
            <a:off x="8259775" y="6437376"/>
            <a:ext cx="3657600" cy="182880"/>
          </a:xfrm>
          <a:prstGeom prst="rect">
            <a:avLst/>
          </a:prstGeom>
          <a:noFill/>
        </p:spPr>
        <p:txBody>
          <a:bodyPr wrap="square">
            <a:noAutofit/>
          </a:bodyPr>
          <a:lstStyle/>
          <a:p>
            <a:pPr algn="r"/>
            <a:r>
              <a:rPr sz="750">
                <a:solidFill>
                  <a:srgbClr val="567F8D"/>
                </a:solidFill>
                <a:latin typeface="Roboto"/>
              </a:rPr>
              <a:t>©EDB 2026 — ALL RIGHTS RESERVED.</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4" r:id="rId6"/>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E25"/>
        </a:solidFill>
        <a:effectLst/>
      </p:bgPr>
    </p:bg>
    <p:spTree>
      <p:nvGrpSpPr>
        <p:cNvPr id="1" name=""/>
        <p:cNvGrpSpPr/>
        <p:nvPr/>
      </p:nvGrpSpPr>
      <p:grpSpPr/>
      <p:sp>
        <p:nvSpPr>
          <p:cNvPr id="2" name="mbl:gbar:1" descr="{&quot;mbl&quot;: 1, &quot;c&quot;: &quot;gbar&quot;, &quot;i&quot;: 1}"/>
          <p:cNvSpPr/>
          <p:nvPr/>
        </p:nvSpPr>
        <p:spPr>
          <a:xfrm>
            <a:off x="219456" y="1481328"/>
            <a:ext cx="82296" cy="960120"/>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1481328"/>
            <a:ext cx="11460175" cy="960120"/>
          </a:xfrm>
          <a:prstGeom prst="rect">
            <a:avLst/>
          </a:prstGeom>
          <a:noFill/>
        </p:spPr>
        <p:txBody>
          <a:bodyPr wrap="square" anchor="ctr" lIns="0" rIns="0" tIns="0" bIns="0">
            <a:noAutofit/>
          </a:bodyPr>
          <a:lstStyle/>
          <a:p>
            <a:pPr algn="l">
              <a:lnSpc>
                <a:spcPct val="100000"/>
              </a:lnSpc>
            </a:pPr>
            <a:r>
              <a:rPr sz="4400" b="1" i="0">
                <a:solidFill>
                  <a:srgbClr val="FFFFFF"/>
                </a:solidFill>
                <a:latin typeface="Roboto Condensed"/>
              </a:rPr>
              <a:t>VECTOR SEARCH BENCHMARK REVIEW</a:t>
            </a:r>
          </a:p>
        </p:txBody>
      </p:sp>
      <p:sp>
        <p:nvSpPr>
          <p:cNvPr id="4" name="mbl:statement:1" descr="{&quot;mbl&quot;: 1, &quot;c&quot;: &quot;statement&quot;, &quot;i&quot;: 1}"/>
          <p:cNvSpPr txBox="1"/>
          <p:nvPr/>
        </p:nvSpPr>
        <p:spPr>
          <a:xfrm>
            <a:off x="365760" y="2697480"/>
            <a:ext cx="10088575" cy="1645920"/>
          </a:xfrm>
          <a:prstGeom prst="rect">
            <a:avLst/>
          </a:prstGeom>
          <a:noFill/>
        </p:spPr>
        <p:txBody>
          <a:bodyPr wrap="square" anchor="t" lIns="0" rIns="0" tIns="0" bIns="0">
            <a:noAutofit/>
          </a:bodyPr>
          <a:lstStyle/>
          <a:p>
            <a:pPr algn="l">
              <a:lnSpc>
                <a:spcPct val="110000"/>
              </a:lnSpc>
            </a:pPr>
            <a:r>
              <a:rPr sz="2200" b="0" i="0">
                <a:solidFill>
                  <a:srgbClr val="A8C2CA"/>
                </a:solidFill>
                <a:latin typeface="Roboto Condensed"/>
              </a:rPr>
              <a:t>EDB Vector Plus, pgvector, VectorChord and ClickHouse on 1M and 2M rows of 768-dimension embeddings.</a:t>
            </a:r>
          </a:p>
        </p:txBody>
      </p:sp>
      <p:sp>
        <p:nvSpPr>
          <p:cNvPr id="5" name="mbl:meta:1" descr="{&quot;mbl&quot;: 1, &quot;c&quot;: &quot;meta&quot;, &quot;i&quot;: 1}"/>
          <p:cNvSpPr txBox="1"/>
          <p:nvPr/>
        </p:nvSpPr>
        <p:spPr>
          <a:xfrm>
            <a:off x="365760" y="5440680"/>
            <a:ext cx="11460175" cy="219456"/>
          </a:xfrm>
          <a:prstGeom prst="rect">
            <a:avLst/>
          </a:prstGeom>
          <a:noFill/>
        </p:spPr>
        <p:txBody>
          <a:bodyPr wrap="square" anchor="t" lIns="0" rIns="0" tIns="0" bIns="0">
            <a:noAutofit/>
          </a:bodyPr>
          <a:lstStyle/>
          <a:p>
            <a:pPr algn="l">
              <a:lnSpc>
                <a:spcPct val="100000"/>
              </a:lnSpc>
            </a:pPr>
            <a:r>
              <a:rPr sz="1200" b="0" i="0">
                <a:solidFill>
                  <a:srgbClr val="A8C2CA"/>
                </a:solidFill>
                <a:latin typeface="Roboto"/>
              </a:rPr>
              <a:t>Postgres 18.6 · WarehousePG 7.6 · ClickHouse 26.1 · 22 to 23 October 2026</a:t>
            </a:r>
          </a:p>
        </p:txBody>
      </p:sp>
      <p:sp>
        <p:nvSpPr>
          <p:cNvPr id="6" name="mbl:byline:1" descr="{&quot;mbl&quot;: 1, &quot;c&quot;: &quot;byline&quot;, &quot;i&quot;: 1}"/>
          <p:cNvSpPr txBox="1"/>
          <p:nvPr/>
        </p:nvSpPr>
        <p:spPr>
          <a:xfrm>
            <a:off x="365760" y="5687568"/>
            <a:ext cx="11460175" cy="219456"/>
          </a:xfrm>
          <a:prstGeom prst="rect">
            <a:avLst/>
          </a:prstGeom>
          <a:noFill/>
        </p:spPr>
        <p:txBody>
          <a:bodyPr wrap="square" anchor="t" lIns="0" rIns="0" tIns="0" bIns="0">
            <a:noAutofit/>
          </a:bodyPr>
          <a:lstStyle/>
          <a:p>
            <a:pPr algn="l">
              <a:lnSpc>
                <a:spcPct val="100000"/>
              </a:lnSpc>
            </a:pPr>
            <a:r>
              <a:rPr sz="1050" b="0" i="0">
                <a:solidFill>
                  <a:srgbClr val="567F8D"/>
                </a:solidFill>
                <a:latin typeface="Roboto"/>
              </a:rPr>
              <a:t>Source: six vp-bench-1 exports (runs 1 to 6) from the Vector Plus demo dashboard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200" b="1" i="0">
                <a:solidFill>
                  <a:srgbClr val="28495A"/>
                </a:solidFill>
                <a:latin typeface="Roboto Condensed"/>
              </a:rPr>
              <a:t>IVFPLUS IS FASTER AND HALF THE SIZE, BUT TOPS OUT AT 0.886 ON POSTGRES</a:t>
            </a:r>
          </a:p>
        </p:txBody>
      </p:sp>
      <p:sp>
        <p:nvSpPr>
          <p:cNvPr id="4" name="mbl:panel:1" descr="{&quot;mbl&quot;: 1, &quot;c&quot;: &quot;panel&quot;, &quot;i&quot;: 1}"/>
          <p:cNvSpPr/>
          <p:nvPr/>
        </p:nvSpPr>
        <p:spPr>
          <a:xfrm>
            <a:off x="228600" y="1463040"/>
            <a:ext cx="3789578" cy="1783080"/>
          </a:xfrm>
          <a:prstGeom prst="roundRect">
            <a:avLst>
              <a:gd name="adj" fmla="val 1497"/>
            </a:avLst>
          </a:prstGeom>
          <a:solidFill>
            <a:srgbClr val="1E3D4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5" name="mbl:txt:1" descr="{&quot;mbl&quot;: 1, &quot;c&quot;: &quot;txt&quot;, &quot;i&quot;: 1}"/>
          <p:cNvSpPr txBox="1"/>
          <p:nvPr/>
        </p:nvSpPr>
        <p:spPr>
          <a:xfrm>
            <a:off x="475488" y="1600200"/>
            <a:ext cx="3295802" cy="603504"/>
          </a:xfrm>
          <a:prstGeom prst="rect">
            <a:avLst/>
          </a:prstGeom>
          <a:noFill/>
        </p:spPr>
        <p:txBody>
          <a:bodyPr wrap="square" anchor="ctr" lIns="0" rIns="0" tIns="0" bIns="0">
            <a:noAutofit/>
          </a:bodyPr>
          <a:lstStyle/>
          <a:p>
            <a:pPr algn="l">
              <a:lnSpc>
                <a:spcPct val="100000"/>
              </a:lnSpc>
            </a:pPr>
            <a:r>
              <a:rPr sz="4800" b="1" i="0">
                <a:solidFill>
                  <a:srgbClr val="FFFFFF"/>
                </a:solidFill>
                <a:latin typeface="Roboto Condensed"/>
              </a:rPr>
              <a:t>3.1×</a:t>
            </a:r>
          </a:p>
        </p:txBody>
      </p:sp>
      <p:sp>
        <p:nvSpPr>
          <p:cNvPr id="6" name="mbl:txt:2" descr="{&quot;mbl&quot;: 1, &quot;c&quot;: &quot;txt&quot;, &quot;i&quot;: 2}"/>
          <p:cNvSpPr txBox="1"/>
          <p:nvPr/>
        </p:nvSpPr>
        <p:spPr>
          <a:xfrm>
            <a:off x="475488" y="2240280"/>
            <a:ext cx="3295802" cy="685800"/>
          </a:xfrm>
          <a:prstGeom prst="rect">
            <a:avLst/>
          </a:prstGeom>
          <a:noFill/>
        </p:spPr>
        <p:txBody>
          <a:bodyPr wrap="square" anchor="t" lIns="0" rIns="0" tIns="0" bIns="0">
            <a:noAutofit/>
          </a:bodyPr>
          <a:lstStyle/>
          <a:p>
            <a:pPr algn="l">
              <a:lnSpc>
                <a:spcPct val="100000"/>
              </a:lnSpc>
            </a:pPr>
            <a:r>
              <a:rPr sz="1300" b="0" i="0">
                <a:solidFill>
                  <a:srgbClr val="A8C2CA"/>
                </a:solidFill>
                <a:latin typeface="Roboto"/>
              </a:rPr>
              <a:t>faster than IVFFlat on WarehousePG at 90% recall: 5.6 ms against 17.5 ms</a:t>
            </a:r>
          </a:p>
        </p:txBody>
      </p:sp>
      <p:sp>
        <p:nvSpPr>
          <p:cNvPr id="7" name="mbl:txt:3" descr="{&quot;mbl&quot;: 1, &quot;c&quot;: &quot;txt&quot;, &quot;i&quot;: 3}"/>
          <p:cNvSpPr txBox="1"/>
          <p:nvPr/>
        </p:nvSpPr>
        <p:spPr>
          <a:xfrm>
            <a:off x="4338218" y="1600200"/>
            <a:ext cx="3515258" cy="603504"/>
          </a:xfrm>
          <a:prstGeom prst="rect">
            <a:avLst/>
          </a:prstGeom>
          <a:noFill/>
        </p:spPr>
        <p:txBody>
          <a:bodyPr wrap="square" anchor="ctr" lIns="0" rIns="0" tIns="0" bIns="0">
            <a:noAutofit/>
          </a:bodyPr>
          <a:lstStyle/>
          <a:p>
            <a:pPr algn="l">
              <a:lnSpc>
                <a:spcPct val="100000"/>
              </a:lnSpc>
            </a:pPr>
            <a:r>
              <a:rPr sz="4800" b="1" i="0">
                <a:solidFill>
                  <a:srgbClr val="28495A"/>
                </a:solidFill>
                <a:latin typeface="Roboto Condensed"/>
              </a:rPr>
              <a:t>5.7×</a:t>
            </a:r>
          </a:p>
        </p:txBody>
      </p:sp>
      <p:sp>
        <p:nvSpPr>
          <p:cNvPr id="8" name="mbl:txt:4" descr="{&quot;mbl&quot;: 1, &quot;c&quot;: &quot;txt&quot;, &quot;i&quot;: 4}"/>
          <p:cNvSpPr txBox="1"/>
          <p:nvPr/>
        </p:nvSpPr>
        <p:spPr>
          <a:xfrm>
            <a:off x="4338218" y="2240280"/>
            <a:ext cx="3515258" cy="68580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faster than IVFFlat on Postgres at 85% recall: 6.9 ms against 39.4 ms</a:t>
            </a:r>
          </a:p>
        </p:txBody>
      </p:sp>
      <p:sp>
        <p:nvSpPr>
          <p:cNvPr id="9" name="mbl:txt:5" descr="{&quot;mbl&quot;: 1, &quot;c&quot;: &quot;txt&quot;, &quot;i&quot;: 5}"/>
          <p:cNvSpPr txBox="1"/>
          <p:nvPr/>
        </p:nvSpPr>
        <p:spPr>
          <a:xfrm>
            <a:off x="8310676" y="1600200"/>
            <a:ext cx="3515258" cy="603504"/>
          </a:xfrm>
          <a:prstGeom prst="rect">
            <a:avLst/>
          </a:prstGeom>
          <a:noFill/>
        </p:spPr>
        <p:txBody>
          <a:bodyPr wrap="square" anchor="ctr" lIns="0" rIns="0" tIns="0" bIns="0">
            <a:noAutofit/>
          </a:bodyPr>
          <a:lstStyle/>
          <a:p>
            <a:pPr algn="l">
              <a:lnSpc>
                <a:spcPct val="100000"/>
              </a:lnSpc>
            </a:pPr>
            <a:r>
              <a:rPr sz="4800" b="1" i="0">
                <a:solidFill>
                  <a:srgbClr val="28495A"/>
                </a:solidFill>
                <a:latin typeface="Roboto Condensed"/>
              </a:rPr>
              <a:t>2.1×</a:t>
            </a:r>
          </a:p>
        </p:txBody>
      </p:sp>
      <p:sp>
        <p:nvSpPr>
          <p:cNvPr id="10" name="mbl:txt:6" descr="{&quot;mbl&quot;: 1, &quot;c&quot;: &quot;txt&quot;, &quot;i&quot;: 6}"/>
          <p:cNvSpPr txBox="1"/>
          <p:nvPr/>
        </p:nvSpPr>
        <p:spPr>
          <a:xfrm>
            <a:off x="8310676" y="2240280"/>
            <a:ext cx="3515258" cy="68580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smaller index than IVFFlat at 2M rows: 3.55 GiB against 7.64 GiB</a:t>
            </a:r>
          </a:p>
        </p:txBody>
      </p:sp>
      <p:cxnSp>
        <p:nvCxnSpPr>
          <p:cNvPr id="11" name="mbl:vrule:1" descr="{&quot;mbl&quot;: 1, &quot;c&quot;: &quot;vrule&quot;, &quot;i&quot;: 1}"/>
          <p:cNvCxnSpPr/>
          <p:nvPr/>
        </p:nvCxnSpPr>
        <p:spPr>
          <a:xfrm>
            <a:off x="4109618" y="1600200"/>
            <a:ext cx="0" cy="1554480"/>
          </a:xfrm>
          <a:prstGeom prst="line">
            <a:avLst/>
          </a:prstGeom>
          <a:ln w="12700">
            <a:solidFill>
              <a:srgbClr val="A8C2CA"/>
            </a:solidFill>
          </a:ln>
          <a:effectLst/>
        </p:spPr>
        <p:style>
          <a:lnRef idx="2">
            <a:schemeClr val="accent1"/>
          </a:lnRef>
          <a:fillRef idx="0">
            <a:schemeClr val="accent1"/>
          </a:fillRef>
          <a:effectRef idx="0">
            <a:schemeClr val="accent1"/>
          </a:effectRef>
          <a:fontRef idx="minor">
            <a:schemeClr val="tx1"/>
          </a:fontRef>
        </p:style>
      </p:cxnSp>
      <p:cxnSp>
        <p:nvCxnSpPr>
          <p:cNvPr id="12" name="mbl:vrule:2" descr="{&quot;mbl&quot;: 1, &quot;c&quot;: &quot;vrule&quot;, &quot;i&quot;: 2}"/>
          <p:cNvCxnSpPr/>
          <p:nvPr/>
        </p:nvCxnSpPr>
        <p:spPr>
          <a:xfrm>
            <a:off x="8082076" y="1600200"/>
            <a:ext cx="0" cy="1554480"/>
          </a:xfrm>
          <a:prstGeom prst="line">
            <a:avLst/>
          </a:prstGeom>
          <a:ln w="12700">
            <a:solidFill>
              <a:srgbClr val="A8C2CA"/>
            </a:solidFill>
          </a:ln>
          <a:effectLst/>
        </p:spPr>
        <p:style>
          <a:lnRef idx="2">
            <a:schemeClr val="accent1"/>
          </a:lnRef>
          <a:fillRef idx="0">
            <a:schemeClr val="accent1"/>
          </a:fillRef>
          <a:effectRef idx="0">
            <a:schemeClr val="accent1"/>
          </a:effectRef>
          <a:fontRef idx="minor">
            <a:schemeClr val="tx1"/>
          </a:fontRef>
        </p:style>
      </p:cxnSp>
      <p:cxnSp>
        <p:nvCxnSpPr>
          <p:cNvPr id="13" name="mbl:hrule:1" descr="{&quot;mbl&quot;: 1, &quot;c&quot;: &quot;hrule&quot;, &quot;i&quot;: 1}"/>
          <p:cNvCxnSpPr/>
          <p:nvPr/>
        </p:nvCxnSpPr>
        <p:spPr>
          <a:xfrm>
            <a:off x="365760" y="3657600"/>
            <a:ext cx="11460175" cy="0"/>
          </a:xfrm>
          <a:prstGeom prst="line">
            <a:avLst/>
          </a:prstGeom>
          <a:ln w="12700">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4" name="mbl:txt:7" descr="{&quot;mbl&quot;: 1, &quot;c&quot;: &quot;txt&quot;, &quot;i&quot;: 7}"/>
          <p:cNvSpPr txBox="1"/>
          <p:nvPr/>
        </p:nvSpPr>
        <p:spPr>
          <a:xfrm>
            <a:off x="365760" y="3858768"/>
            <a:ext cx="3657600" cy="292608"/>
          </a:xfrm>
          <a:prstGeom prst="rect">
            <a:avLst/>
          </a:prstGeom>
          <a:noFill/>
        </p:spPr>
        <p:txBody>
          <a:bodyPr wrap="square" anchor="t" lIns="0" rIns="0" tIns="0" bIns="0">
            <a:noAutofit/>
          </a:bodyPr>
          <a:lstStyle/>
          <a:p>
            <a:pPr algn="l">
              <a:lnSpc>
                <a:spcPct val="100000"/>
              </a:lnSpc>
            </a:pPr>
            <a:r>
              <a:rPr sz="1400" b="1" i="0">
                <a:solidFill>
                  <a:srgbClr val="28495A"/>
                </a:solidFill>
                <a:latin typeface="Roboto Condensed"/>
              </a:rPr>
              <a:t>Still open</a:t>
            </a:r>
          </a:p>
        </p:txBody>
      </p:sp>
      <p:sp>
        <p:nvSpPr>
          <p:cNvPr id="15" name="mbl:runs:1" descr="{&quot;mbl&quot;: 1, &quot;c&quot;: &quot;runs&quot;, &quot;i&quot;: 1}"/>
          <p:cNvSpPr txBox="1"/>
          <p:nvPr/>
        </p:nvSpPr>
        <p:spPr>
          <a:xfrm>
            <a:off x="365760" y="4370832"/>
            <a:ext cx="11460175" cy="457200"/>
          </a:xfrm>
          <a:prstGeom prst="rect">
            <a:avLst/>
          </a:prstGeom>
          <a:noFill/>
        </p:spPr>
        <p:txBody>
          <a:bodyPr wrap="square" anchor="ctr" lIns="0" rIns="0" tIns="0" bIns="0">
            <a:noAutofit/>
          </a:bodyPr>
          <a:lstStyle/>
          <a:p>
            <a:pPr algn="l">
              <a:lnSpc>
                <a:spcPct val="100000"/>
              </a:lnSpc>
            </a:pPr>
            <a:r>
              <a:rPr sz="1600" b="1">
                <a:solidFill>
                  <a:srgbClr val="28495A"/>
                </a:solidFill>
                <a:latin typeface="Roboto"/>
              </a:rPr>
              <a:t>ivfplus on Postgres plateaus at 0.886 recall.</a:t>
            </a:r>
            <a:r>
              <a:rPr sz="1600" b="0">
                <a:solidFill>
                  <a:srgbClr val="567F8D"/>
                </a:solidFill>
                <a:latin typeface="Roboto"/>
              </a:rPr>
              <a:t> Probes 64 to 256 add latency, up to 51 ms, and no recall.</a:t>
            </a:r>
          </a:p>
        </p:txBody>
      </p:sp>
      <p:sp>
        <p:nvSpPr>
          <p:cNvPr id="16" name="mbl:runs:2" descr="{&quot;mbl&quot;: 1, &quot;c&quot;: &quot;runs&quot;, &quot;i&quot;: 2}"/>
          <p:cNvSpPr txBox="1"/>
          <p:nvPr/>
        </p:nvSpPr>
        <p:spPr>
          <a:xfrm>
            <a:off x="365760" y="4901184"/>
            <a:ext cx="11460175" cy="457200"/>
          </a:xfrm>
          <a:prstGeom prst="rect">
            <a:avLst/>
          </a:prstGeom>
          <a:noFill/>
        </p:spPr>
        <p:txBody>
          <a:bodyPr wrap="square" anchor="ctr" lIns="0" rIns="0" tIns="0" bIns="0">
            <a:noAutofit/>
          </a:bodyPr>
          <a:lstStyle/>
          <a:p>
            <a:pPr algn="l">
              <a:lnSpc>
                <a:spcPct val="100000"/>
              </a:lnSpc>
            </a:pPr>
            <a:r>
              <a:rPr sz="1600" b="1">
                <a:solidFill>
                  <a:srgbClr val="28495A"/>
                </a:solidFill>
                <a:latin typeface="Roboto"/>
              </a:rPr>
              <a:t>ClickHouse and ivfplus on WarehousePG were not extended.</a:t>
            </a:r>
            <a:r>
              <a:rPr sz="1600" b="0">
                <a:solidFill>
                  <a:srgbClr val="567F8D"/>
                </a:solidFill>
                <a:latin typeface="Roboto"/>
              </a:rPr>
              <a:t> Their ladders end at 0.76 (ef_search 128) and 0.936 (32 probes).</a:t>
            </a:r>
          </a:p>
        </p:txBody>
      </p:sp>
      <p:sp>
        <p:nvSpPr>
          <p:cNvPr id="17" name="mbl:runs:3" descr="{&quot;mbl&quot;: 1, &quot;c&quot;: &quot;runs&quot;, &quot;i&quot;: 3}"/>
          <p:cNvSpPr txBox="1"/>
          <p:nvPr/>
        </p:nvSpPr>
        <p:spPr>
          <a:xfrm>
            <a:off x="365760" y="5431536"/>
            <a:ext cx="11460175" cy="457200"/>
          </a:xfrm>
          <a:prstGeom prst="rect">
            <a:avLst/>
          </a:prstGeom>
          <a:noFill/>
        </p:spPr>
        <p:txBody>
          <a:bodyPr wrap="square" anchor="ctr" lIns="0" rIns="0" tIns="0" bIns="0">
            <a:noAutofit/>
          </a:bodyPr>
          <a:lstStyle/>
          <a:p>
            <a:pPr algn="l">
              <a:lnSpc>
                <a:spcPct val="100000"/>
              </a:lnSpc>
            </a:pPr>
            <a:r>
              <a:rPr sz="1600" b="1">
                <a:solidFill>
                  <a:srgbClr val="28495A"/>
                </a:solidFill>
                <a:latin typeface="Roboto"/>
              </a:rPr>
              <a:t>Runs 3 and 4 carry latency spikes.</a:t>
            </a:r>
            <a:r>
              <a:rPr sz="1600" b="0">
                <a:solidFill>
                  <a:srgbClr val="567F8D"/>
                </a:solidFill>
                <a:latin typeface="Roboto"/>
              </a:rPr>
              <a:t> The 2M figures keep the quietest of four runs.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E25"/>
        </a:solidFill>
        <a:effectLst/>
      </p:bgPr>
    </p:bg>
    <p:spTree>
      <p:nvGrpSpPr>
        <p:cNvPr id="1" name=""/>
        <p:cNvGrpSpPr/>
        <p:nvPr/>
      </p:nvGrpSpPr>
      <p:grpSpPr/>
      <p:sp>
        <p:nvSpPr>
          <p:cNvPr id="2" name="mbl:gbar:1" descr="{&quot;mbl&quot;: 1, &quot;c&quot;: &quot;gbar&quot;, &quot;i&quot;: 1}"/>
          <p:cNvSpPr/>
          <p:nvPr/>
        </p:nvSpPr>
        <p:spPr>
          <a:xfrm>
            <a:off x="219456" y="2834640"/>
            <a:ext cx="82296" cy="658368"/>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xt:1" descr="{&quot;mbl&quot;: 1, &quot;c&quot;: &quot;txt&quot;, &quot;i&quot;: 1}"/>
          <p:cNvSpPr txBox="1"/>
          <p:nvPr/>
        </p:nvSpPr>
        <p:spPr>
          <a:xfrm>
            <a:off x="365760" y="2834640"/>
            <a:ext cx="11094415" cy="658368"/>
          </a:xfrm>
          <a:prstGeom prst="rect">
            <a:avLst/>
          </a:prstGeom>
          <a:noFill/>
        </p:spPr>
        <p:txBody>
          <a:bodyPr wrap="square" anchor="ctr" lIns="0" rIns="0" tIns="0" bIns="0">
            <a:noAutofit/>
          </a:bodyPr>
          <a:lstStyle/>
          <a:p>
            <a:pPr algn="l">
              <a:lnSpc>
                <a:spcPct val="100000"/>
              </a:lnSpc>
            </a:pPr>
            <a:r>
              <a:rPr sz="3400" b="1" i="0">
                <a:solidFill>
                  <a:srgbClr val="FFFFFF"/>
                </a:solidFill>
                <a:latin typeface="Roboto Condensed"/>
              </a:rPr>
              <a:t>THE TESTS</a:t>
            </a:r>
          </a:p>
        </p:txBody>
      </p:sp>
      <p:sp>
        <p:nvSpPr>
          <p:cNvPr id="4" name="mbl:txt:2" descr="{&quot;mbl&quot;: 1, &quot;c&quot;: &quot;txt&quot;, &quot;i&quot;: 2}"/>
          <p:cNvSpPr txBox="1"/>
          <p:nvPr/>
        </p:nvSpPr>
        <p:spPr>
          <a:xfrm>
            <a:off x="365760" y="3584448"/>
            <a:ext cx="11094415" cy="274320"/>
          </a:xfrm>
          <a:prstGeom prst="rect">
            <a:avLst/>
          </a:prstGeom>
          <a:noFill/>
        </p:spPr>
        <p:txBody>
          <a:bodyPr wrap="square" anchor="t" lIns="0" rIns="0" tIns="0" bIns="0">
            <a:noAutofit/>
          </a:bodyPr>
          <a:lstStyle/>
          <a:p>
            <a:pPr algn="l">
              <a:lnSpc>
                <a:spcPct val="100000"/>
              </a:lnSpc>
            </a:pPr>
            <a:r>
              <a:rPr sz="1400" b="0" i="0">
                <a:solidFill>
                  <a:srgbClr val="A8C2CA"/>
                </a:solidFill>
                <a:latin typeface="Roboto"/>
              </a:rPr>
              <a:t>Engines, data, queries and index builds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200" b="1" i="0">
                <a:solidFill>
                  <a:srgbClr val="28495A"/>
                </a:solidFill>
                <a:latin typeface="Roboto Condensed"/>
              </a:rPr>
              <a:t>EACH ENGINE RAN ITS OWN INDEX ON ITS OWN COPY OF THE DATA</a:t>
            </a:r>
          </a:p>
        </p:txBody>
      </p:sp>
      <p:sp>
        <p:nvSpPr>
          <p:cNvPr id="4" name="mbl:txt:1" descr="{&quot;mbl&quot;: 1, &quot;c&quot;: &quot;txt&quot;, &quot;i&quot;: 1}"/>
          <p:cNvSpPr txBox="1"/>
          <p:nvPr/>
        </p:nvSpPr>
        <p:spPr>
          <a:xfrm>
            <a:off x="365760" y="1417320"/>
            <a:ext cx="2267712"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ENGINE</a:t>
            </a:r>
          </a:p>
        </p:txBody>
      </p:sp>
      <p:sp>
        <p:nvSpPr>
          <p:cNvPr id="5" name="mbl:txt:2" descr="{&quot;mbl&quot;: 1, &quot;c&quot;: &quot;txt&quot;, &quot;i&quot;: 2}"/>
          <p:cNvSpPr txBox="1"/>
          <p:nvPr/>
        </p:nvSpPr>
        <p:spPr>
          <a:xfrm>
            <a:off x="2743200" y="1417320"/>
            <a:ext cx="3730752"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WHERE IT RAN</a:t>
            </a:r>
          </a:p>
        </p:txBody>
      </p:sp>
      <p:sp>
        <p:nvSpPr>
          <p:cNvPr id="6" name="mbl:txt:3" descr="{&quot;mbl&quot;: 1, &quot;c&quot;: &quot;txt&quot;, &quot;i&quot;: 3}"/>
          <p:cNvSpPr txBox="1"/>
          <p:nvPr/>
        </p:nvSpPr>
        <p:spPr>
          <a:xfrm>
            <a:off x="6583680" y="1417320"/>
            <a:ext cx="2633472"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INDEX</a:t>
            </a:r>
          </a:p>
        </p:txBody>
      </p:sp>
      <p:sp>
        <p:nvSpPr>
          <p:cNvPr id="7" name="mbl:txt:4" descr="{&quot;mbl&quot;: 1, &quot;c&quot;: &quot;txt&quot;, &quot;i&quot;: 4}"/>
          <p:cNvSpPr txBox="1"/>
          <p:nvPr/>
        </p:nvSpPr>
        <p:spPr>
          <a:xfrm>
            <a:off x="9326880" y="1417320"/>
            <a:ext cx="2389327"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BUILD SETTINGS</a:t>
            </a:r>
          </a:p>
        </p:txBody>
      </p:sp>
      <p:cxnSp>
        <p:nvCxnSpPr>
          <p:cNvPr id="8" name="mbl:hrule:1" descr="{&quot;mbl&quot;: 1, &quot;c&quot;: &quot;hrule&quot;, &quot;i&quot;: 1}"/>
          <p:cNvCxnSpPr/>
          <p:nvPr/>
        </p:nvCxnSpPr>
        <p:spPr>
          <a:xfrm>
            <a:off x="365760" y="1728216"/>
            <a:ext cx="11460175" cy="0"/>
          </a:xfrm>
          <a:prstGeom prst="line">
            <a:avLst/>
          </a:prstGeom>
          <a:ln w="25400">
            <a:solidFill>
              <a:srgbClr val="28495A"/>
            </a:solidFill>
          </a:ln>
          <a:effectLst/>
        </p:spPr>
        <p:style>
          <a:lnRef idx="2">
            <a:schemeClr val="accent1"/>
          </a:lnRef>
          <a:fillRef idx="0">
            <a:schemeClr val="accent1"/>
          </a:fillRef>
          <a:effectRef idx="0">
            <a:schemeClr val="accent1"/>
          </a:effectRef>
          <a:fontRef idx="minor">
            <a:schemeClr val="tx1"/>
          </a:fontRef>
        </p:style>
      </p:cxnSp>
      <p:sp>
        <p:nvSpPr>
          <p:cNvPr id="9" name="mbl:txt:5" descr="{&quot;mbl&quot;: 1, &quot;c&quot;: &quot;txt&quot;, &quot;i&quot;: 5}"/>
          <p:cNvSpPr txBox="1"/>
          <p:nvPr/>
        </p:nvSpPr>
        <p:spPr>
          <a:xfrm>
            <a:off x="365760" y="1801368"/>
            <a:ext cx="2267712" cy="552558"/>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EDB Vector Plus</a:t>
            </a:r>
          </a:p>
        </p:txBody>
      </p:sp>
      <p:sp>
        <p:nvSpPr>
          <p:cNvPr id="10" name="mbl:txt:6" descr="{&quot;mbl&quot;: 1, &quot;c&quot;: &quot;txt&quot;, &quot;i&quot;: 6}"/>
          <p:cNvSpPr txBox="1"/>
          <p:nvPr/>
        </p:nvSpPr>
        <p:spPr>
          <a:xfrm>
            <a:off x="2743200" y="1801368"/>
            <a:ext cx="3730752"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Postgres 18.6, edb_vectorplus 0.0.5</a:t>
            </a:r>
          </a:p>
        </p:txBody>
      </p:sp>
      <p:sp>
        <p:nvSpPr>
          <p:cNvPr id="11" name="mbl:txt:7" descr="{&quot;mbl&quot;: 1, &quot;c&quot;: &quot;txt&quot;, &quot;i&quot;: 7}"/>
          <p:cNvSpPr txBox="1"/>
          <p:nvPr/>
        </p:nvSpPr>
        <p:spPr>
          <a:xfrm>
            <a:off x="6583680" y="1801368"/>
            <a:ext cx="2633472"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ivfplus (IVF with RaBitQ)</a:t>
            </a:r>
          </a:p>
        </p:txBody>
      </p:sp>
      <p:sp>
        <p:nvSpPr>
          <p:cNvPr id="12" name="mbl:txt:8" descr="{&quot;mbl&quot;: 1, &quot;c&quot;: &quot;txt&quot;, &quot;i&quot;: 8}"/>
          <p:cNvSpPr txBox="1"/>
          <p:nvPr/>
        </p:nvSpPr>
        <p:spPr>
          <a:xfrm>
            <a:off x="9326880" y="1801368"/>
            <a:ext cx="2389327"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lists 1414, rotation on</a:t>
            </a:r>
          </a:p>
        </p:txBody>
      </p:sp>
      <p:cxnSp>
        <p:nvCxnSpPr>
          <p:cNvPr id="13" name="mbl:hrule:2" descr="{&quot;mbl&quot;: 1, &quot;c&quot;: &quot;hrule&quot;, &quot;i&quot;: 2}"/>
          <p:cNvCxnSpPr/>
          <p:nvPr/>
        </p:nvCxnSpPr>
        <p:spPr>
          <a:xfrm>
            <a:off x="365760" y="2353926"/>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4" name="mbl:txt:9" descr="{&quot;mbl&quot;: 1, &quot;c&quot;: &quot;txt&quot;, &quot;i&quot;: 9}"/>
          <p:cNvSpPr txBox="1"/>
          <p:nvPr/>
        </p:nvSpPr>
        <p:spPr>
          <a:xfrm>
            <a:off x="365760" y="2353926"/>
            <a:ext cx="2267712" cy="552558"/>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EDB ivfplus @ WHPG</a:t>
            </a:r>
          </a:p>
        </p:txBody>
      </p:sp>
      <p:sp>
        <p:nvSpPr>
          <p:cNvPr id="15" name="mbl:txt:10" descr="{&quot;mbl&quot;: 1, &quot;c&quot;: &quot;txt&quot;, &quot;i&quot;: 10}"/>
          <p:cNvSpPr txBox="1"/>
          <p:nvPr/>
        </p:nvSpPr>
        <p:spPr>
          <a:xfrm>
            <a:off x="2743200" y="2353926"/>
            <a:ext cx="3730752"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WarehousePG 7.6, 2 segments, optimizer off</a:t>
            </a:r>
          </a:p>
        </p:txBody>
      </p:sp>
      <p:sp>
        <p:nvSpPr>
          <p:cNvPr id="16" name="mbl:txt:11" descr="{&quot;mbl&quot;: 1, &quot;c&quot;: &quot;txt&quot;, &quot;i&quot;: 11}"/>
          <p:cNvSpPr txBox="1"/>
          <p:nvPr/>
        </p:nvSpPr>
        <p:spPr>
          <a:xfrm>
            <a:off x="6583680" y="2353926"/>
            <a:ext cx="2633472"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ivfplus</a:t>
            </a:r>
          </a:p>
        </p:txBody>
      </p:sp>
      <p:sp>
        <p:nvSpPr>
          <p:cNvPr id="17" name="mbl:txt:12" descr="{&quot;mbl&quot;: 1, &quot;c&quot;: &quot;txt&quot;, &quot;i&quot;: 12}"/>
          <p:cNvSpPr txBox="1"/>
          <p:nvPr/>
        </p:nvSpPr>
        <p:spPr>
          <a:xfrm>
            <a:off x="9326880" y="2353926"/>
            <a:ext cx="2389327"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lists 1414</a:t>
            </a:r>
          </a:p>
        </p:txBody>
      </p:sp>
      <p:cxnSp>
        <p:nvCxnSpPr>
          <p:cNvPr id="18" name="mbl:hrule:3" descr="{&quot;mbl&quot;: 1, &quot;c&quot;: &quot;hrule&quot;, &quot;i&quot;: 3}"/>
          <p:cNvCxnSpPr/>
          <p:nvPr/>
        </p:nvCxnSpPr>
        <p:spPr>
          <a:xfrm>
            <a:off x="365760" y="2906485"/>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9" name="mbl:txt:13" descr="{&quot;mbl&quot;: 1, &quot;c&quot;: &quot;txt&quot;, &quot;i&quot;: 13}"/>
          <p:cNvSpPr txBox="1"/>
          <p:nvPr/>
        </p:nvSpPr>
        <p:spPr>
          <a:xfrm>
            <a:off x="365760" y="2906485"/>
            <a:ext cx="2267712" cy="552558"/>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pgvector IVFFlat</a:t>
            </a:r>
          </a:p>
        </p:txBody>
      </p:sp>
      <p:sp>
        <p:nvSpPr>
          <p:cNvPr id="20" name="mbl:txt:14" descr="{&quot;mbl&quot;: 1, &quot;c&quot;: &quot;txt&quot;, &quot;i&quot;: 14}"/>
          <p:cNvSpPr txBox="1"/>
          <p:nvPr/>
        </p:nvSpPr>
        <p:spPr>
          <a:xfrm>
            <a:off x="2743200" y="2906485"/>
            <a:ext cx="3730752"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Postgres 18.6, pgvector 0.8.6</a:t>
            </a:r>
          </a:p>
        </p:txBody>
      </p:sp>
      <p:sp>
        <p:nvSpPr>
          <p:cNvPr id="21" name="mbl:txt:15" descr="{&quot;mbl&quot;: 1, &quot;c&quot;: &quot;txt&quot;, &quot;i&quot;: 15}"/>
          <p:cNvSpPr txBox="1"/>
          <p:nvPr/>
        </p:nvSpPr>
        <p:spPr>
          <a:xfrm>
            <a:off x="6583680" y="2906485"/>
            <a:ext cx="2633472"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ivfflat</a:t>
            </a:r>
          </a:p>
        </p:txBody>
      </p:sp>
      <p:sp>
        <p:nvSpPr>
          <p:cNvPr id="22" name="mbl:txt:16" descr="{&quot;mbl&quot;: 1, &quot;c&quot;: &quot;txt&quot;, &quot;i&quot;: 16}"/>
          <p:cNvSpPr txBox="1"/>
          <p:nvPr/>
        </p:nvSpPr>
        <p:spPr>
          <a:xfrm>
            <a:off x="9326880" y="2906485"/>
            <a:ext cx="2389327"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lists 1414</a:t>
            </a:r>
          </a:p>
        </p:txBody>
      </p:sp>
      <p:cxnSp>
        <p:nvCxnSpPr>
          <p:cNvPr id="23" name="mbl:hrule:4" descr="{&quot;mbl&quot;: 1, &quot;c&quot;: &quot;hrule&quot;, &quot;i&quot;: 4}"/>
          <p:cNvCxnSpPr/>
          <p:nvPr/>
        </p:nvCxnSpPr>
        <p:spPr>
          <a:xfrm>
            <a:off x="365760" y="3459044"/>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4" name="mbl:txt:17" descr="{&quot;mbl&quot;: 1, &quot;c&quot;: &quot;txt&quot;, &quot;i&quot;: 17}"/>
          <p:cNvSpPr txBox="1"/>
          <p:nvPr/>
        </p:nvSpPr>
        <p:spPr>
          <a:xfrm>
            <a:off x="365760" y="3459044"/>
            <a:ext cx="2267712" cy="552558"/>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pgvector IVFFlat @ WHPG</a:t>
            </a:r>
          </a:p>
        </p:txBody>
      </p:sp>
      <p:sp>
        <p:nvSpPr>
          <p:cNvPr id="25" name="mbl:txt:18" descr="{&quot;mbl&quot;: 1, &quot;c&quot;: &quot;txt&quot;, &quot;i&quot;: 18}"/>
          <p:cNvSpPr txBox="1"/>
          <p:nvPr/>
        </p:nvSpPr>
        <p:spPr>
          <a:xfrm>
            <a:off x="2743200" y="3459044"/>
            <a:ext cx="3730752"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WarehousePG 7.6, pgvector 0.7.4</a:t>
            </a:r>
          </a:p>
        </p:txBody>
      </p:sp>
      <p:sp>
        <p:nvSpPr>
          <p:cNvPr id="26" name="mbl:txt:19" descr="{&quot;mbl&quot;: 1, &quot;c&quot;: &quot;txt&quot;, &quot;i&quot;: 19}"/>
          <p:cNvSpPr txBox="1"/>
          <p:nvPr/>
        </p:nvSpPr>
        <p:spPr>
          <a:xfrm>
            <a:off x="6583680" y="3459044"/>
            <a:ext cx="2633472"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ivfflat</a:t>
            </a:r>
          </a:p>
        </p:txBody>
      </p:sp>
      <p:sp>
        <p:nvSpPr>
          <p:cNvPr id="27" name="mbl:txt:20" descr="{&quot;mbl&quot;: 1, &quot;c&quot;: &quot;txt&quot;, &quot;i&quot;: 20}"/>
          <p:cNvSpPr txBox="1"/>
          <p:nvPr/>
        </p:nvSpPr>
        <p:spPr>
          <a:xfrm>
            <a:off x="9326880" y="3459044"/>
            <a:ext cx="2389327"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lists 1414</a:t>
            </a:r>
          </a:p>
        </p:txBody>
      </p:sp>
      <p:cxnSp>
        <p:nvCxnSpPr>
          <p:cNvPr id="28" name="mbl:hrule:5" descr="{&quot;mbl&quot;: 1, &quot;c&quot;: &quot;hrule&quot;, &quot;i&quot;: 5}"/>
          <p:cNvCxnSpPr/>
          <p:nvPr/>
        </p:nvCxnSpPr>
        <p:spPr>
          <a:xfrm>
            <a:off x="365760" y="4011603"/>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9" name="mbl:txt:21" descr="{&quot;mbl&quot;: 1, &quot;c&quot;: &quot;txt&quot;, &quot;i&quot;: 21}"/>
          <p:cNvSpPr txBox="1"/>
          <p:nvPr/>
        </p:nvSpPr>
        <p:spPr>
          <a:xfrm>
            <a:off x="365760" y="4011603"/>
            <a:ext cx="2267712" cy="552558"/>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pgvector HNSW</a:t>
            </a:r>
          </a:p>
        </p:txBody>
      </p:sp>
      <p:sp>
        <p:nvSpPr>
          <p:cNvPr id="30" name="mbl:txt:22" descr="{&quot;mbl&quot;: 1, &quot;c&quot;: &quot;txt&quot;, &quot;i&quot;: 22}"/>
          <p:cNvSpPr txBox="1"/>
          <p:nvPr/>
        </p:nvSpPr>
        <p:spPr>
          <a:xfrm>
            <a:off x="2743200" y="4011603"/>
            <a:ext cx="3730752"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Postgres 18.6, pgvector 0.8.6 (1M only)</a:t>
            </a:r>
          </a:p>
        </p:txBody>
      </p:sp>
      <p:sp>
        <p:nvSpPr>
          <p:cNvPr id="31" name="mbl:txt:23" descr="{&quot;mbl&quot;: 1, &quot;c&quot;: &quot;txt&quot;, &quot;i&quot;: 23}"/>
          <p:cNvSpPr txBox="1"/>
          <p:nvPr/>
        </p:nvSpPr>
        <p:spPr>
          <a:xfrm>
            <a:off x="6583680" y="4011603"/>
            <a:ext cx="2633472"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hnsw</a:t>
            </a:r>
          </a:p>
        </p:txBody>
      </p:sp>
      <p:sp>
        <p:nvSpPr>
          <p:cNvPr id="32" name="mbl:txt:24" descr="{&quot;mbl&quot;: 1, &quot;c&quot;: &quot;txt&quot;, &quot;i&quot;: 24}"/>
          <p:cNvSpPr txBox="1"/>
          <p:nvPr/>
        </p:nvSpPr>
        <p:spPr>
          <a:xfrm>
            <a:off x="9326880" y="4011603"/>
            <a:ext cx="2389327"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m 16, ef_construction 64</a:t>
            </a:r>
          </a:p>
        </p:txBody>
      </p:sp>
      <p:cxnSp>
        <p:nvCxnSpPr>
          <p:cNvPr id="33" name="mbl:hrule:6" descr="{&quot;mbl&quot;: 1, &quot;c&quot;: &quot;hrule&quot;, &quot;i&quot;: 6}"/>
          <p:cNvCxnSpPr/>
          <p:nvPr/>
        </p:nvCxnSpPr>
        <p:spPr>
          <a:xfrm>
            <a:off x="365760" y="4564162"/>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34" name="mbl:txt:25" descr="{&quot;mbl&quot;: 1, &quot;c&quot;: &quot;txt&quot;, &quot;i&quot;: 25}"/>
          <p:cNvSpPr txBox="1"/>
          <p:nvPr/>
        </p:nvSpPr>
        <p:spPr>
          <a:xfrm>
            <a:off x="365760" y="4564162"/>
            <a:ext cx="2267712" cy="552558"/>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VectorChord</a:t>
            </a:r>
          </a:p>
        </p:txBody>
      </p:sp>
      <p:sp>
        <p:nvSpPr>
          <p:cNvPr id="35" name="mbl:txt:26" descr="{&quot;mbl&quot;: 1, &quot;c&quot;: &quot;txt&quot;, &quot;i&quot;: 26}"/>
          <p:cNvSpPr txBox="1"/>
          <p:nvPr/>
        </p:nvSpPr>
        <p:spPr>
          <a:xfrm>
            <a:off x="2743200" y="4564162"/>
            <a:ext cx="3730752"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Postgres 18.6, vchord 1.1.1</a:t>
            </a:r>
          </a:p>
        </p:txBody>
      </p:sp>
      <p:sp>
        <p:nvSpPr>
          <p:cNvPr id="36" name="mbl:txt:27" descr="{&quot;mbl&quot;: 1, &quot;c&quot;: &quot;txt&quot;, &quot;i&quot;: 27}"/>
          <p:cNvSpPr txBox="1"/>
          <p:nvPr/>
        </p:nvSpPr>
        <p:spPr>
          <a:xfrm>
            <a:off x="6583680" y="4564162"/>
            <a:ext cx="2633472"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vchordrq</a:t>
            </a:r>
          </a:p>
        </p:txBody>
      </p:sp>
      <p:sp>
        <p:nvSpPr>
          <p:cNvPr id="37" name="mbl:txt:28" descr="{&quot;mbl&quot;: 1, &quot;c&quot;: &quot;txt&quot;, &quot;i&quot;: 28}"/>
          <p:cNvSpPr txBox="1"/>
          <p:nvPr/>
        </p:nvSpPr>
        <p:spPr>
          <a:xfrm>
            <a:off x="9326880" y="4564162"/>
            <a:ext cx="2389327"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lists [1414]</a:t>
            </a:r>
          </a:p>
        </p:txBody>
      </p:sp>
      <p:cxnSp>
        <p:nvCxnSpPr>
          <p:cNvPr id="38" name="mbl:hrule:7" descr="{&quot;mbl&quot;: 1, &quot;c&quot;: &quot;hrule&quot;, &quot;i&quot;: 7}"/>
          <p:cNvCxnSpPr/>
          <p:nvPr/>
        </p:nvCxnSpPr>
        <p:spPr>
          <a:xfrm>
            <a:off x="365760" y="5116721"/>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39" name="mbl:txt:29" descr="{&quot;mbl&quot;: 1, &quot;c&quot;: &quot;txt&quot;, &quot;i&quot;: 29}"/>
          <p:cNvSpPr txBox="1"/>
          <p:nvPr/>
        </p:nvSpPr>
        <p:spPr>
          <a:xfrm>
            <a:off x="365760" y="5116721"/>
            <a:ext cx="2267712" cy="552558"/>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ClickHouse</a:t>
            </a:r>
          </a:p>
        </p:txBody>
      </p:sp>
      <p:sp>
        <p:nvSpPr>
          <p:cNvPr id="40" name="mbl:txt:30" descr="{&quot;mbl&quot;: 1, &quot;c&quot;: &quot;txt&quot;, &quot;i&quot;: 30}"/>
          <p:cNvSpPr txBox="1"/>
          <p:nvPr/>
        </p:nvSpPr>
        <p:spPr>
          <a:xfrm>
            <a:off x="2743200" y="5116721"/>
            <a:ext cx="3730752"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26.1.2.1 EDB PoC preview build (2M only)</a:t>
            </a:r>
          </a:p>
        </p:txBody>
      </p:sp>
      <p:sp>
        <p:nvSpPr>
          <p:cNvPr id="41" name="mbl:txt:31" descr="{&quot;mbl&quot;: 1, &quot;c&quot;: &quot;txt&quot;, &quot;i&quot;: 31}"/>
          <p:cNvSpPr txBox="1"/>
          <p:nvPr/>
        </p:nvSpPr>
        <p:spPr>
          <a:xfrm>
            <a:off x="6583680" y="5116721"/>
            <a:ext cx="2633472"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vector_similarity (HNSW, bf16)</a:t>
            </a:r>
          </a:p>
        </p:txBody>
      </p:sp>
      <p:sp>
        <p:nvSpPr>
          <p:cNvPr id="42" name="mbl:txt:32" descr="{&quot;mbl&quot;: 1, &quot;c&quot;: &quot;txt&quot;, &quot;i&quot;: 32}"/>
          <p:cNvSpPr txBox="1"/>
          <p:nvPr/>
        </p:nvSpPr>
        <p:spPr>
          <a:xfrm>
            <a:off x="9326880" y="5116721"/>
            <a:ext cx="2389327" cy="552558"/>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M 16, ef_construction 128</a:t>
            </a:r>
          </a:p>
        </p:txBody>
      </p:sp>
      <p:sp>
        <p:nvSpPr>
          <p:cNvPr id="43" name="mbl:txt:33" descr="{&quot;mbl&quot;: 1, &quot;c&quot;: &quot;txt&quot;, &quot;i&quot;: 33}"/>
          <p:cNvSpPr txBox="1"/>
          <p:nvPr/>
        </p:nvSpPr>
        <p:spPr>
          <a:xfrm>
            <a:off x="365760" y="5779008"/>
            <a:ext cx="11460175" cy="411480"/>
          </a:xfrm>
          <a:prstGeom prst="rect">
            <a:avLst/>
          </a:prstGeom>
          <a:noFill/>
        </p:spPr>
        <p:txBody>
          <a:bodyPr wrap="square" anchor="t" lIns="0" rIns="0" tIns="0" bIns="0">
            <a:noAutofit/>
          </a:bodyPr>
          <a:lstStyle/>
          <a:p>
            <a:pPr algn="l">
              <a:lnSpc>
                <a:spcPct val="100000"/>
              </a:lnSpc>
            </a:pPr>
            <a:r>
              <a:rPr sz="1200" b="0" i="0">
                <a:solidFill>
                  <a:srgbClr val="567F8D"/>
                </a:solidFill>
                <a:latin typeface="Roboto"/>
              </a:rPr>
              <a:t>Lists are 1000 at 1M rows and 1414 at 2M, the square root of the row count. Postgres builds ran with maintenance_work_mem 12 GB, no parallel workers and shared_buffers 128 MB.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EVERY ENGINE HOLDS THE SAME 2,000,000 ROWS</a:t>
            </a:r>
          </a:p>
        </p:txBody>
      </p:sp>
      <p:sp>
        <p:nvSpPr>
          <p:cNvPr id="4" name="mbl:node:1" descr="{&quot;mbl&quot;: 1, &quot;c&quot;: &quot;node&quot;, &quot;i&quot;: 1}"/>
          <p:cNvSpPr/>
          <p:nvPr/>
        </p:nvSpPr>
        <p:spPr>
          <a:xfrm>
            <a:off x="365760" y="1417320"/>
            <a:ext cx="2057400" cy="4617720"/>
          </a:xfrm>
          <a:prstGeom prst="roundRect">
            <a:avLst>
              <a:gd name="adj" fmla="val 5424"/>
            </a:avLst>
          </a:prstGeom>
          <a:solidFill>
            <a:srgbClr val="2849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800" b="1">
                <a:solidFill>
                  <a:srgbClr val="FFFFFF"/>
                </a:solidFill>
                <a:latin typeface="Roboto Condensed"/>
              </a:rPr>
              <a:t>vp_docs</a:t>
            </a:r>
          </a:p>
          <a:p>
            <a:pPr algn="ctr"/>
            <a:r>
              <a:rPr sz="1500">
                <a:solidFill>
                  <a:srgbClr val="A8C2CA"/>
                </a:solidFill>
                <a:latin typeface="Roboto"/>
              </a:rPr>
              <a:t>Postgres source table, also the ivfplus index</a:t>
            </a:r>
          </a:p>
        </p:txBody>
      </p:sp>
      <p:sp>
        <p:nvSpPr>
          <p:cNvPr id="5" name="mbl:container:1" descr="{&quot;mbl&quot;: 1, &quot;c&quot;: &quot;container&quot;, &quot;i&quot;: 1}"/>
          <p:cNvSpPr/>
          <p:nvPr/>
        </p:nvSpPr>
        <p:spPr>
          <a:xfrm>
            <a:off x="3246120" y="1417320"/>
            <a:ext cx="4892040" cy="1371600"/>
          </a:xfrm>
          <a:prstGeom prst="roundRect">
            <a:avLst>
              <a:gd name="adj" fmla="val 1497"/>
            </a:avLst>
          </a:prstGeom>
          <a:noFill/>
          <a:ln w="15875">
            <a:solidFill>
              <a:srgbClr val="A8C2C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6" name="mbl:clabel:1" descr="{&quot;mbl&quot;: 1, &quot;c&quot;: &quot;clabel&quot;, &quot;i&quot;: 1}"/>
          <p:cNvSpPr/>
          <p:nvPr/>
        </p:nvSpPr>
        <p:spPr>
          <a:xfrm>
            <a:off x="5049774" y="1316736"/>
            <a:ext cx="1284732" cy="201168"/>
          </a:xfrm>
          <a:prstGeom prst="roundRect">
            <a:avLst>
              <a:gd name="adj" fmla="val 5424"/>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7" name="mbl:clabeltxt:1" descr="{&quot;mbl&quot;: 1, &quot;c&quot;: &quot;clabeltxt&quot;, &quot;i&quot;: 1}"/>
          <p:cNvSpPr txBox="1"/>
          <p:nvPr/>
        </p:nvSpPr>
        <p:spPr>
          <a:xfrm>
            <a:off x="5049774" y="1316736"/>
            <a:ext cx="1284732" cy="201168"/>
          </a:xfrm>
          <a:prstGeom prst="rect">
            <a:avLst/>
          </a:prstGeom>
          <a:noFill/>
        </p:spPr>
        <p:txBody>
          <a:bodyPr wrap="square" anchor="ctr" lIns="0" rIns="0" tIns="0" bIns="0">
            <a:noAutofit/>
          </a:bodyPr>
          <a:lstStyle/>
          <a:p>
            <a:pPr algn="ctr">
              <a:lnSpc>
                <a:spcPct val="100000"/>
              </a:lnSpc>
            </a:pPr>
            <a:r>
              <a:rPr sz="900" b="1" i="0">
                <a:solidFill>
                  <a:srgbClr val="567F8D"/>
                </a:solidFill>
                <a:latin typeface="Roboto Condensed"/>
              </a:rPr>
              <a:t>POSTGRES 18.6</a:t>
            </a:r>
          </a:p>
        </p:txBody>
      </p:sp>
      <p:sp>
        <p:nvSpPr>
          <p:cNvPr id="8" name="mbl:node:2" descr="{&quot;mbl&quot;: 1, &quot;c&quot;: &quot;node&quot;, &quot;i&quot;: 2}"/>
          <p:cNvSpPr/>
          <p:nvPr/>
        </p:nvSpPr>
        <p:spPr>
          <a:xfrm>
            <a:off x="3429000" y="1764792"/>
            <a:ext cx="1417319" cy="777240"/>
          </a:xfrm>
          <a:prstGeom prst="roundRect">
            <a:avLst>
              <a:gd name="adj" fmla="val 5424"/>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200" b="1">
                <a:solidFill>
                  <a:srgbClr val="28495A"/>
                </a:solidFill>
                <a:latin typeface="Roboto Condensed"/>
              </a:rPr>
              <a:t>pgi_docs</a:t>
            </a:r>
          </a:p>
          <a:p>
            <a:pPr algn="ctr"/>
            <a:r>
              <a:rPr sz="900">
                <a:solidFill>
                  <a:srgbClr val="567F8D"/>
                </a:solidFill>
                <a:latin typeface="Roboto"/>
              </a:rPr>
              <a:t>IVFFlat</a:t>
            </a:r>
          </a:p>
        </p:txBody>
      </p:sp>
      <p:sp>
        <p:nvSpPr>
          <p:cNvPr id="9" name="mbl:node:3" descr="{&quot;mbl&quot;: 1, &quot;c&quot;: &quot;node&quot;, &quot;i&quot;: 3}"/>
          <p:cNvSpPr/>
          <p:nvPr/>
        </p:nvSpPr>
        <p:spPr>
          <a:xfrm>
            <a:off x="4983479" y="1764792"/>
            <a:ext cx="1417319" cy="777240"/>
          </a:xfrm>
          <a:prstGeom prst="roundRect">
            <a:avLst>
              <a:gd name="adj" fmla="val 5424"/>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200" b="1">
                <a:solidFill>
                  <a:srgbClr val="28495A"/>
                </a:solidFill>
                <a:latin typeface="Roboto Condensed"/>
              </a:rPr>
              <a:t>pgh_docs</a:t>
            </a:r>
          </a:p>
          <a:p>
            <a:pPr algn="ctr"/>
            <a:r>
              <a:rPr sz="900">
                <a:solidFill>
                  <a:srgbClr val="567F8D"/>
                </a:solidFill>
                <a:latin typeface="Roboto"/>
              </a:rPr>
              <a:t>HNSW</a:t>
            </a:r>
          </a:p>
        </p:txBody>
      </p:sp>
      <p:sp>
        <p:nvSpPr>
          <p:cNvPr id="10" name="mbl:node:4" descr="{&quot;mbl&quot;: 1, &quot;c&quot;: &quot;node&quot;, &quot;i&quot;: 4}"/>
          <p:cNvSpPr/>
          <p:nvPr/>
        </p:nvSpPr>
        <p:spPr>
          <a:xfrm>
            <a:off x="6537959" y="1764792"/>
            <a:ext cx="1417319" cy="777240"/>
          </a:xfrm>
          <a:prstGeom prst="roundRect">
            <a:avLst>
              <a:gd name="adj" fmla="val 5424"/>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200" b="1">
                <a:solidFill>
                  <a:srgbClr val="28495A"/>
                </a:solidFill>
                <a:latin typeface="Roboto Condensed"/>
              </a:rPr>
              <a:t>vc_docs</a:t>
            </a:r>
          </a:p>
          <a:p>
            <a:pPr algn="ctr"/>
            <a:r>
              <a:rPr sz="900">
                <a:solidFill>
                  <a:srgbClr val="567F8D"/>
                </a:solidFill>
                <a:latin typeface="Roboto"/>
              </a:rPr>
              <a:t>VectorChord</a:t>
            </a:r>
          </a:p>
        </p:txBody>
      </p:sp>
      <p:cxnSp>
        <p:nvCxnSpPr>
          <p:cNvPr id="11" name="mbl:arrow:1" descr="{&quot;mbl&quot;: 1, &quot;c&quot;: &quot;arrow&quot;, &quot;i&quot;: 1}"/>
          <p:cNvCxnSpPr/>
          <p:nvPr/>
        </p:nvCxnSpPr>
        <p:spPr>
          <a:xfrm>
            <a:off x="2423160" y="2103120"/>
            <a:ext cx="822960" cy="3657"/>
          </a:xfrm>
          <a:prstGeom prst="line">
            <a:avLst/>
          </a:prstGeom>
          <a:ln w="25400">
            <a:solidFill>
              <a:srgbClr val="567F8D"/>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2" name="mbl:container:2" descr="{&quot;mbl&quot;: 1, &quot;c&quot;: &quot;container&quot;, &quot;i&quot;: 2}"/>
          <p:cNvSpPr/>
          <p:nvPr/>
        </p:nvSpPr>
        <p:spPr>
          <a:xfrm>
            <a:off x="3246120" y="3040380"/>
            <a:ext cx="4892040" cy="1371600"/>
          </a:xfrm>
          <a:prstGeom prst="roundRect">
            <a:avLst>
              <a:gd name="adj" fmla="val 1497"/>
            </a:avLst>
          </a:prstGeom>
          <a:noFill/>
          <a:ln w="15875">
            <a:solidFill>
              <a:srgbClr val="A8C2C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13" name="mbl:clabel:2" descr="{&quot;mbl&quot;: 1, &quot;c&quot;: &quot;clabel&quot;, &quot;i&quot;: 2}"/>
          <p:cNvSpPr/>
          <p:nvPr/>
        </p:nvSpPr>
        <p:spPr>
          <a:xfrm>
            <a:off x="4972050" y="2939796"/>
            <a:ext cx="1440180" cy="201168"/>
          </a:xfrm>
          <a:prstGeom prst="roundRect">
            <a:avLst>
              <a:gd name="adj" fmla="val 5424"/>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14" name="mbl:clabeltxt:2" descr="{&quot;mbl&quot;: 1, &quot;c&quot;: &quot;clabeltxt&quot;, &quot;i&quot;: 2}"/>
          <p:cNvSpPr txBox="1"/>
          <p:nvPr/>
        </p:nvSpPr>
        <p:spPr>
          <a:xfrm>
            <a:off x="4972050" y="2939796"/>
            <a:ext cx="1440180" cy="201168"/>
          </a:xfrm>
          <a:prstGeom prst="rect">
            <a:avLst/>
          </a:prstGeom>
          <a:noFill/>
        </p:spPr>
        <p:txBody>
          <a:bodyPr wrap="square" anchor="ctr" lIns="0" rIns="0" tIns="0" bIns="0">
            <a:noAutofit/>
          </a:bodyPr>
          <a:lstStyle/>
          <a:p>
            <a:pPr algn="ctr">
              <a:lnSpc>
                <a:spcPct val="100000"/>
              </a:lnSpc>
            </a:pPr>
            <a:r>
              <a:rPr sz="900" b="1" i="0">
                <a:solidFill>
                  <a:srgbClr val="567F8D"/>
                </a:solidFill>
                <a:latin typeface="Roboto Condensed"/>
              </a:rPr>
              <a:t>WAREHOUSEPG 7.6</a:t>
            </a:r>
          </a:p>
        </p:txBody>
      </p:sp>
      <p:sp>
        <p:nvSpPr>
          <p:cNvPr id="15" name="mbl:node:5" descr="{&quot;mbl&quot;: 1, &quot;c&quot;: &quot;node&quot;, &quot;i&quot;: 5}"/>
          <p:cNvSpPr/>
          <p:nvPr/>
        </p:nvSpPr>
        <p:spPr>
          <a:xfrm>
            <a:off x="3429000" y="3387852"/>
            <a:ext cx="1417319" cy="777240"/>
          </a:xfrm>
          <a:prstGeom prst="roundRect">
            <a:avLst>
              <a:gd name="adj" fmla="val 5424"/>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200" b="1">
                <a:solidFill>
                  <a:srgbClr val="28495A"/>
                </a:solidFill>
                <a:latin typeface="Roboto Condensed"/>
              </a:rPr>
              <a:t>wvp_docs</a:t>
            </a:r>
          </a:p>
          <a:p>
            <a:pPr algn="ctr"/>
            <a:r>
              <a:rPr sz="900">
                <a:solidFill>
                  <a:srgbClr val="567F8D"/>
                </a:solidFill>
                <a:latin typeface="Roboto"/>
              </a:rPr>
              <a:t>ivfplus</a:t>
            </a:r>
          </a:p>
        </p:txBody>
      </p:sp>
      <p:sp>
        <p:nvSpPr>
          <p:cNvPr id="16" name="mbl:node:6" descr="{&quot;mbl&quot;: 1, &quot;c&quot;: &quot;node&quot;, &quot;i&quot;: 6}"/>
          <p:cNvSpPr/>
          <p:nvPr/>
        </p:nvSpPr>
        <p:spPr>
          <a:xfrm>
            <a:off x="4983479" y="3387852"/>
            <a:ext cx="1417319" cy="777240"/>
          </a:xfrm>
          <a:prstGeom prst="roundRect">
            <a:avLst>
              <a:gd name="adj" fmla="val 5424"/>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200" b="1">
                <a:solidFill>
                  <a:srgbClr val="28495A"/>
                </a:solidFill>
                <a:latin typeface="Roboto Condensed"/>
              </a:rPr>
              <a:t>wpgi_docs</a:t>
            </a:r>
          </a:p>
          <a:p>
            <a:pPr algn="ctr"/>
            <a:r>
              <a:rPr sz="900">
                <a:solidFill>
                  <a:srgbClr val="567F8D"/>
                </a:solidFill>
                <a:latin typeface="Roboto"/>
              </a:rPr>
              <a:t>IVFFlat</a:t>
            </a:r>
          </a:p>
        </p:txBody>
      </p:sp>
      <p:cxnSp>
        <p:nvCxnSpPr>
          <p:cNvPr id="17" name="mbl:arrow:2" descr="{&quot;mbl&quot;: 1, &quot;c&quot;: &quot;arrow&quot;, &quot;i&quot;: 2}"/>
          <p:cNvCxnSpPr/>
          <p:nvPr/>
        </p:nvCxnSpPr>
        <p:spPr>
          <a:xfrm>
            <a:off x="2423160" y="3726180"/>
            <a:ext cx="822960" cy="3657"/>
          </a:xfrm>
          <a:prstGeom prst="line">
            <a:avLst/>
          </a:prstGeom>
          <a:ln w="25400">
            <a:solidFill>
              <a:srgbClr val="567F8D"/>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8" name="mbl:container:3" descr="{&quot;mbl&quot;: 1, &quot;c&quot;: &quot;container&quot;, &quot;i&quot;: 3}"/>
          <p:cNvSpPr/>
          <p:nvPr/>
        </p:nvSpPr>
        <p:spPr>
          <a:xfrm>
            <a:off x="3246120" y="4663440"/>
            <a:ext cx="4892040" cy="1371600"/>
          </a:xfrm>
          <a:prstGeom prst="roundRect">
            <a:avLst>
              <a:gd name="adj" fmla="val 1497"/>
            </a:avLst>
          </a:prstGeom>
          <a:noFill/>
          <a:ln w="15875">
            <a:solidFill>
              <a:srgbClr val="A8C2C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19" name="mbl:clabel:3" descr="{&quot;mbl&quot;: 1, &quot;c&quot;: &quot;clabel&quot;, &quot;i&quot;: 3}"/>
          <p:cNvSpPr/>
          <p:nvPr/>
        </p:nvSpPr>
        <p:spPr>
          <a:xfrm>
            <a:off x="4972050" y="4562855"/>
            <a:ext cx="1440180" cy="201168"/>
          </a:xfrm>
          <a:prstGeom prst="roundRect">
            <a:avLst>
              <a:gd name="adj" fmla="val 5424"/>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20" name="mbl:clabeltxt:3" descr="{&quot;mbl&quot;: 1, &quot;c&quot;: &quot;clabeltxt&quot;, &quot;i&quot;: 3}"/>
          <p:cNvSpPr txBox="1"/>
          <p:nvPr/>
        </p:nvSpPr>
        <p:spPr>
          <a:xfrm>
            <a:off x="4972050" y="4562855"/>
            <a:ext cx="1440180" cy="201168"/>
          </a:xfrm>
          <a:prstGeom prst="rect">
            <a:avLst/>
          </a:prstGeom>
          <a:noFill/>
        </p:spPr>
        <p:txBody>
          <a:bodyPr wrap="square" anchor="ctr" lIns="0" rIns="0" tIns="0" bIns="0">
            <a:noAutofit/>
          </a:bodyPr>
          <a:lstStyle/>
          <a:p>
            <a:pPr algn="ctr">
              <a:lnSpc>
                <a:spcPct val="100000"/>
              </a:lnSpc>
            </a:pPr>
            <a:r>
              <a:rPr sz="900" b="1" i="0">
                <a:solidFill>
                  <a:srgbClr val="567F8D"/>
                </a:solidFill>
                <a:latin typeface="Roboto Condensed"/>
              </a:rPr>
              <a:t>CLICKHOUSE 26.1</a:t>
            </a:r>
          </a:p>
        </p:txBody>
      </p:sp>
      <p:sp>
        <p:nvSpPr>
          <p:cNvPr id="21" name="mbl:node:7" descr="{&quot;mbl&quot;: 1, &quot;c&quot;: &quot;node&quot;, &quot;i&quot;: 7}"/>
          <p:cNvSpPr/>
          <p:nvPr/>
        </p:nvSpPr>
        <p:spPr>
          <a:xfrm>
            <a:off x="3429000" y="5010912"/>
            <a:ext cx="1417319" cy="777240"/>
          </a:xfrm>
          <a:prstGeom prst="roundRect">
            <a:avLst>
              <a:gd name="adj" fmla="val 5424"/>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200" b="1">
                <a:solidFill>
                  <a:srgbClr val="28495A"/>
                </a:solidFill>
                <a:latin typeface="Roboto Condensed"/>
              </a:rPr>
              <a:t>ch_docs</a:t>
            </a:r>
          </a:p>
          <a:p>
            <a:pPr algn="ctr"/>
            <a:r>
              <a:rPr sz="900">
                <a:solidFill>
                  <a:srgbClr val="567F8D"/>
                </a:solidFill>
                <a:latin typeface="Roboto"/>
              </a:rPr>
              <a:t>HNSW</a:t>
            </a:r>
          </a:p>
        </p:txBody>
      </p:sp>
      <p:cxnSp>
        <p:nvCxnSpPr>
          <p:cNvPr id="22" name="mbl:arrow:3" descr="{&quot;mbl&quot;: 1, &quot;c&quot;: &quot;arrow&quot;, &quot;i&quot;: 3}"/>
          <p:cNvCxnSpPr/>
          <p:nvPr/>
        </p:nvCxnSpPr>
        <p:spPr>
          <a:xfrm>
            <a:off x="2423160" y="5349240"/>
            <a:ext cx="822960" cy="3657"/>
          </a:xfrm>
          <a:prstGeom prst="line">
            <a:avLst/>
          </a:prstGeom>
          <a:ln w="25400">
            <a:solidFill>
              <a:srgbClr val="567F8D"/>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23" name="mbl:vrule:1" descr="{&quot;mbl&quot;: 1, &quot;c&quot;: &quot;vrule&quot;, &quot;i&quot;: 1}"/>
          <p:cNvCxnSpPr/>
          <p:nvPr/>
        </p:nvCxnSpPr>
        <p:spPr>
          <a:xfrm>
            <a:off x="8458200" y="1508760"/>
            <a:ext cx="0" cy="4434840"/>
          </a:xfrm>
          <a:prstGeom prst="line">
            <a:avLst/>
          </a:prstGeom>
          <a:ln w="12700">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4" name="mbl:txt:1" descr="{&quot;mbl&quot;: 1, &quot;c&quot;: &quot;txt&quot;, &quot;i&quot;: 1}"/>
          <p:cNvSpPr txBox="1"/>
          <p:nvPr/>
        </p:nvSpPr>
        <p:spPr>
          <a:xfrm>
            <a:off x="8732520" y="1508760"/>
            <a:ext cx="3090672" cy="274320"/>
          </a:xfrm>
          <a:prstGeom prst="rect">
            <a:avLst/>
          </a:prstGeom>
          <a:noFill/>
        </p:spPr>
        <p:txBody>
          <a:bodyPr wrap="square" anchor="t" lIns="0" rIns="0" tIns="0" bIns="0">
            <a:noAutofit/>
          </a:bodyPr>
          <a:lstStyle/>
          <a:p>
            <a:pPr algn="l">
              <a:lnSpc>
                <a:spcPct val="100000"/>
              </a:lnSpc>
            </a:pPr>
            <a:r>
              <a:rPr sz="1400" b="1" i="0">
                <a:solidFill>
                  <a:srgbClr val="28495A"/>
                </a:solidFill>
                <a:latin typeface="Roboto Condensed"/>
              </a:rPr>
              <a:t>The rows</a:t>
            </a:r>
          </a:p>
        </p:txBody>
      </p:sp>
      <p:sp>
        <p:nvSpPr>
          <p:cNvPr id="25" name="mbl:txt:2" descr="{&quot;mbl&quot;: 1, &quot;c&quot;: &quot;txt&quot;, &quot;i&quot;: 2}"/>
          <p:cNvSpPr txBox="1"/>
          <p:nvPr/>
        </p:nvSpPr>
        <p:spPr>
          <a:xfrm>
            <a:off x="8732520" y="1874519"/>
            <a:ext cx="3090672" cy="160020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Synthetic documents on ten topics. Each embedding is the normalized mean of random word vectors plus noise, 768 dimensions.</a:t>
            </a:r>
          </a:p>
        </p:txBody>
      </p:sp>
      <p:sp>
        <p:nvSpPr>
          <p:cNvPr id="26" name="mbl:txt:3" descr="{&quot;mbl&quot;: 1, &quot;c&quot;: &quot;txt&quot;, &quot;i&quot;: 3}"/>
          <p:cNvSpPr txBox="1"/>
          <p:nvPr/>
        </p:nvSpPr>
        <p:spPr>
          <a:xfrm>
            <a:off x="8732520" y="3840480"/>
            <a:ext cx="3090672" cy="274320"/>
          </a:xfrm>
          <a:prstGeom prst="rect">
            <a:avLst/>
          </a:prstGeom>
          <a:noFill/>
        </p:spPr>
        <p:txBody>
          <a:bodyPr wrap="square" anchor="t" lIns="0" rIns="0" tIns="0" bIns="0">
            <a:noAutofit/>
          </a:bodyPr>
          <a:lstStyle/>
          <a:p>
            <a:pPr algn="l">
              <a:lnSpc>
                <a:spcPct val="100000"/>
              </a:lnSpc>
            </a:pPr>
            <a:r>
              <a:rPr sz="1400" b="1" i="0">
                <a:solidFill>
                  <a:srgbClr val="28495A"/>
                </a:solidFill>
                <a:latin typeface="Roboto Condensed"/>
              </a:rPr>
              <a:t>The check</a:t>
            </a:r>
          </a:p>
        </p:txBody>
      </p:sp>
      <p:sp>
        <p:nvSpPr>
          <p:cNvPr id="27" name="mbl:txt:4" descr="{&quot;mbl&quot;: 1, &quot;c&quot;: &quot;txt&quot;, &quot;i&quot;: 4}"/>
          <p:cNvSpPr txBox="1"/>
          <p:nvPr/>
        </p:nvSpPr>
        <p:spPr>
          <a:xfrm>
            <a:off x="8732520" y="4206240"/>
            <a:ext cx="3090672" cy="182880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Before each comparison the app counts rows and compares the id range and an id checksum on every table. A mismatch stops the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200" b="1" i="0">
                <a:solidFill>
                  <a:srgbClr val="28495A"/>
                </a:solidFill>
                <a:latin typeface="Roboto Condensed"/>
              </a:rPr>
              <a:t>EVERY SWEEP IS SCORED AGAINST AN EXACT SCAN OF THE SAME 50 QUERIES</a:t>
            </a:r>
          </a:p>
        </p:txBody>
      </p:sp>
      <p:sp>
        <p:nvSpPr>
          <p:cNvPr id="4" name="mbl:node:1" descr="{&quot;mbl&quot;: 1, &quot;c&quot;: &quot;node&quot;, &quot;i&quot;: 1}"/>
          <p:cNvSpPr/>
          <p:nvPr/>
        </p:nvSpPr>
        <p:spPr>
          <a:xfrm>
            <a:off x="365760" y="1828800"/>
            <a:ext cx="1962851" cy="1051560"/>
          </a:xfrm>
          <a:prstGeom prst="roundRect">
            <a:avLst>
              <a:gd name="adj" fmla="val 5424"/>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400" b="1">
                <a:solidFill>
                  <a:srgbClr val="28495A"/>
                </a:solidFill>
                <a:latin typeface="Roboto Condensed"/>
              </a:rPr>
              <a:t>50 query vectors</a:t>
            </a:r>
          </a:p>
        </p:txBody>
      </p:sp>
      <p:sp>
        <p:nvSpPr>
          <p:cNvPr id="5" name="mbl:txt:1" descr="{&quot;mbl&quot;: 1, &quot;c&quot;: &quot;txt&quot;, &quot;i&quot;: 1}"/>
          <p:cNvSpPr txBox="1"/>
          <p:nvPr/>
        </p:nvSpPr>
        <p:spPr>
          <a:xfrm>
            <a:off x="365760" y="3154680"/>
            <a:ext cx="1962851" cy="1828800"/>
          </a:xfrm>
          <a:prstGeom prst="rect">
            <a:avLst/>
          </a:prstGeom>
          <a:noFill/>
        </p:spPr>
        <p:txBody>
          <a:bodyPr wrap="square" anchor="t" lIns="0" rIns="0" tIns="0" bIns="0">
            <a:noAutofit/>
          </a:bodyPr>
          <a:lstStyle/>
          <a:p>
            <a:pPr algn="l">
              <a:lnSpc>
                <a:spcPct val="105000"/>
              </a:lnSpc>
            </a:pPr>
            <a:r>
              <a:rPr sz="1400" b="0" i="0">
                <a:solidFill>
                  <a:srgbClr val="567F8D"/>
                </a:solidFill>
                <a:latin typeface="Roboto"/>
              </a:rPr>
              <a:t>Stored rows picked with a fixed seed, plus Gaussian noise of 0.05, then renormalized.</a:t>
            </a:r>
          </a:p>
        </p:txBody>
      </p:sp>
      <p:cxnSp>
        <p:nvCxnSpPr>
          <p:cNvPr id="6" name="mbl:arrow:1" descr="{&quot;mbl&quot;: 1, &quot;c&quot;: &quot;arrow&quot;, &quot;i&quot;: 1}"/>
          <p:cNvCxnSpPr/>
          <p:nvPr/>
        </p:nvCxnSpPr>
        <p:spPr>
          <a:xfrm>
            <a:off x="2328611" y="2354580"/>
            <a:ext cx="411480" cy="3657"/>
          </a:xfrm>
          <a:prstGeom prst="line">
            <a:avLst/>
          </a:prstGeom>
          <a:ln w="25400">
            <a:solidFill>
              <a:srgbClr val="567F8D"/>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7" name="mbl:node:2" descr="{&quot;mbl&quot;: 1, &quot;c&quot;: &quot;node&quot;, &quot;i&quot;: 2}"/>
          <p:cNvSpPr/>
          <p:nvPr/>
        </p:nvSpPr>
        <p:spPr>
          <a:xfrm>
            <a:off x="2740091" y="1828800"/>
            <a:ext cx="1962851" cy="1051560"/>
          </a:xfrm>
          <a:prstGeom prst="roundRect">
            <a:avLst>
              <a:gd name="adj" fmla="val 5424"/>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400" b="1">
                <a:solidFill>
                  <a:srgbClr val="28495A"/>
                </a:solidFill>
                <a:latin typeface="Roboto Condensed"/>
              </a:rPr>
              <a:t>Exact top-10</a:t>
            </a:r>
          </a:p>
        </p:txBody>
      </p:sp>
      <p:sp>
        <p:nvSpPr>
          <p:cNvPr id="8" name="mbl:txt:2" descr="{&quot;mbl&quot;: 1, &quot;c&quot;: &quot;txt&quot;, &quot;i&quot;: 2}"/>
          <p:cNvSpPr txBox="1"/>
          <p:nvPr/>
        </p:nvSpPr>
        <p:spPr>
          <a:xfrm>
            <a:off x="2740091" y="3154680"/>
            <a:ext cx="1962851" cy="1828800"/>
          </a:xfrm>
          <a:prstGeom prst="rect">
            <a:avLst/>
          </a:prstGeom>
          <a:noFill/>
        </p:spPr>
        <p:txBody>
          <a:bodyPr wrap="square" anchor="t" lIns="0" rIns="0" tIns="0" bIns="0">
            <a:noAutofit/>
          </a:bodyPr>
          <a:lstStyle/>
          <a:p>
            <a:pPr algn="l">
              <a:lnSpc>
                <a:spcPct val="105000"/>
              </a:lnSpc>
            </a:pPr>
            <a:r>
              <a:rPr sz="1400" b="0" i="0">
                <a:solidFill>
                  <a:srgbClr val="567F8D"/>
                </a:solidFill>
                <a:latin typeface="Roboto"/>
              </a:rPr>
              <a:t>A full sequential scan with index scans off. The ground truth for recall, computed once and reused.</a:t>
            </a:r>
          </a:p>
        </p:txBody>
      </p:sp>
      <p:cxnSp>
        <p:nvCxnSpPr>
          <p:cNvPr id="9" name="mbl:arrow:2" descr="{&quot;mbl&quot;: 1, &quot;c&quot;: &quot;arrow&quot;, &quot;i&quot;: 2}"/>
          <p:cNvCxnSpPr/>
          <p:nvPr/>
        </p:nvCxnSpPr>
        <p:spPr>
          <a:xfrm>
            <a:off x="4702942" y="2354580"/>
            <a:ext cx="411480" cy="3657"/>
          </a:xfrm>
          <a:prstGeom prst="line">
            <a:avLst/>
          </a:prstGeom>
          <a:ln w="25400">
            <a:solidFill>
              <a:srgbClr val="567F8D"/>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0" name="mbl:node:3" descr="{&quot;mbl&quot;: 1, &quot;c&quot;: &quot;node&quot;, &quot;i&quot;: 3}"/>
          <p:cNvSpPr/>
          <p:nvPr/>
        </p:nvSpPr>
        <p:spPr>
          <a:xfrm>
            <a:off x="5114422" y="1828800"/>
            <a:ext cx="1962851" cy="1051560"/>
          </a:xfrm>
          <a:prstGeom prst="roundRect">
            <a:avLst>
              <a:gd name="adj" fmla="val 5424"/>
            </a:avLst>
          </a:prstGeom>
          <a:solidFill>
            <a:srgbClr val="2849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400" b="1">
                <a:solidFill>
                  <a:srgbClr val="FFFFFF"/>
                </a:solidFill>
                <a:latin typeface="Roboto Condensed"/>
              </a:rPr>
              <a:t>Up to nine settings</a:t>
            </a:r>
          </a:p>
        </p:txBody>
      </p:sp>
      <p:sp>
        <p:nvSpPr>
          <p:cNvPr id="11" name="mbl:txt:3" descr="{&quot;mbl&quot;: 1, &quot;c&quot;: &quot;txt&quot;, &quot;i&quot;: 3}"/>
          <p:cNvSpPr txBox="1"/>
          <p:nvPr/>
        </p:nvSpPr>
        <p:spPr>
          <a:xfrm>
            <a:off x="5114422" y="3154680"/>
            <a:ext cx="1962851" cy="1828800"/>
          </a:xfrm>
          <a:prstGeom prst="rect">
            <a:avLst/>
          </a:prstGeom>
          <a:noFill/>
        </p:spPr>
        <p:txBody>
          <a:bodyPr wrap="square" anchor="t" lIns="0" rIns="0" tIns="0" bIns="0">
            <a:noAutofit/>
          </a:bodyPr>
          <a:lstStyle/>
          <a:p>
            <a:pPr algn="l">
              <a:lnSpc>
                <a:spcPct val="105000"/>
              </a:lnSpc>
            </a:pPr>
            <a:r>
              <a:rPr sz="1400" b="0" i="0">
                <a:solidFill>
                  <a:srgbClr val="567F8D"/>
                </a:solidFill>
                <a:latin typeface="Roboto"/>
              </a:rPr>
              <a:t>Probes 1, 2, 4 and so on to 32, extended to 256 in the last sweep. HNSW and ClickHouse get ef_search = max(k, 4 × probes).</a:t>
            </a:r>
          </a:p>
        </p:txBody>
      </p:sp>
      <p:cxnSp>
        <p:nvCxnSpPr>
          <p:cNvPr id="12" name="mbl:arrow:3" descr="{&quot;mbl&quot;: 1, &quot;c&quot;: &quot;arrow&quot;, &quot;i&quot;: 3}"/>
          <p:cNvCxnSpPr/>
          <p:nvPr/>
        </p:nvCxnSpPr>
        <p:spPr>
          <a:xfrm>
            <a:off x="7077273" y="2354580"/>
            <a:ext cx="411480" cy="3657"/>
          </a:xfrm>
          <a:prstGeom prst="line">
            <a:avLst/>
          </a:prstGeom>
          <a:ln w="25400">
            <a:solidFill>
              <a:srgbClr val="567F8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3" name="mbl:node:4" descr="{&quot;mbl&quot;: 1, &quot;c&quot;: &quot;node&quot;, &quot;i&quot;: 4}"/>
          <p:cNvSpPr/>
          <p:nvPr/>
        </p:nvSpPr>
        <p:spPr>
          <a:xfrm>
            <a:off x="7488753" y="1828800"/>
            <a:ext cx="1962851" cy="1051560"/>
          </a:xfrm>
          <a:prstGeom prst="roundRect">
            <a:avLst>
              <a:gd name="adj" fmla="val 5424"/>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400" b="1">
                <a:solidFill>
                  <a:srgbClr val="28495A"/>
                </a:solidFill>
                <a:latin typeface="Roboto Condensed"/>
              </a:rPr>
              <a:t>Three timed passes</a:t>
            </a:r>
          </a:p>
        </p:txBody>
      </p:sp>
      <p:sp>
        <p:nvSpPr>
          <p:cNvPr id="14" name="mbl:txt:4" descr="{&quot;mbl&quot;: 1, &quot;c&quot;: &quot;txt&quot;, &quot;i&quot;: 4}"/>
          <p:cNvSpPr txBox="1"/>
          <p:nvPr/>
        </p:nvSpPr>
        <p:spPr>
          <a:xfrm>
            <a:off x="7488753" y="3154680"/>
            <a:ext cx="1962851" cy="1828800"/>
          </a:xfrm>
          <a:prstGeom prst="rect">
            <a:avLst/>
          </a:prstGeom>
          <a:noFill/>
        </p:spPr>
        <p:txBody>
          <a:bodyPr wrap="square" anchor="t" lIns="0" rIns="0" tIns="0" bIns="0">
            <a:noAutofit/>
          </a:bodyPr>
          <a:lstStyle/>
          <a:p>
            <a:pPr algn="l">
              <a:lnSpc>
                <a:spcPct val="105000"/>
              </a:lnSpc>
            </a:pPr>
            <a:r>
              <a:rPr sz="1400" b="0" i="0">
                <a:solidFill>
                  <a:srgbClr val="567F8D"/>
                </a:solidFill>
                <a:latin typeface="Roboto"/>
              </a:rPr>
              <a:t>One untimed warm-up pass first. Engines are interleaved, indexes prewarmed, JIT off.</a:t>
            </a:r>
          </a:p>
        </p:txBody>
      </p:sp>
      <p:cxnSp>
        <p:nvCxnSpPr>
          <p:cNvPr id="15" name="mbl:arrow:4" descr="{&quot;mbl&quot;: 1, &quot;c&quot;: &quot;arrow&quot;, &quot;i&quot;: 4}"/>
          <p:cNvCxnSpPr/>
          <p:nvPr/>
        </p:nvCxnSpPr>
        <p:spPr>
          <a:xfrm>
            <a:off x="9451604" y="2354580"/>
            <a:ext cx="411480" cy="3657"/>
          </a:xfrm>
          <a:prstGeom prst="line">
            <a:avLst/>
          </a:prstGeom>
          <a:ln w="25400">
            <a:solidFill>
              <a:srgbClr val="567F8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6" name="mbl:node:5" descr="{&quot;mbl&quot;: 1, &quot;c&quot;: &quot;node&quot;, &quot;i&quot;: 5}"/>
          <p:cNvSpPr/>
          <p:nvPr/>
        </p:nvSpPr>
        <p:spPr>
          <a:xfrm>
            <a:off x="9863084" y="1828800"/>
            <a:ext cx="1962851" cy="1051560"/>
          </a:xfrm>
          <a:prstGeom prst="roundRect">
            <a:avLst>
              <a:gd name="adj" fmla="val 5424"/>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400" b="1">
                <a:solidFill>
                  <a:srgbClr val="28495A"/>
                </a:solidFill>
                <a:latin typeface="Roboto Condensed"/>
              </a:rPr>
              <a:t>Recall and latency</a:t>
            </a:r>
          </a:p>
        </p:txBody>
      </p:sp>
      <p:sp>
        <p:nvSpPr>
          <p:cNvPr id="17" name="mbl:txt:5" descr="{&quot;mbl&quot;: 1, &quot;c&quot;: &quot;txt&quot;, &quot;i&quot;: 5}"/>
          <p:cNvSpPr txBox="1"/>
          <p:nvPr/>
        </p:nvSpPr>
        <p:spPr>
          <a:xfrm>
            <a:off x="9863084" y="3154680"/>
            <a:ext cx="1962851" cy="1828800"/>
          </a:xfrm>
          <a:prstGeom prst="rect">
            <a:avLst/>
          </a:prstGeom>
          <a:noFill/>
        </p:spPr>
        <p:txBody>
          <a:bodyPr wrap="square" anchor="t" lIns="0" rIns="0" tIns="0" bIns="0">
            <a:noAutofit/>
          </a:bodyPr>
          <a:lstStyle/>
          <a:p>
            <a:pPr algn="l">
              <a:lnSpc>
                <a:spcPct val="105000"/>
              </a:lnSpc>
            </a:pPr>
            <a:r>
              <a:rPr sz="1400" b="0" i="0">
                <a:solidFill>
                  <a:srgbClr val="567F8D"/>
                </a:solidFill>
                <a:latin typeface="Roboto"/>
              </a:rPr>
              <a:t>Recall@10 is the share of the exact top-10 returned. Latency is each query's median over the passes.</a:t>
            </a:r>
          </a:p>
        </p:txBody>
      </p:sp>
      <p:cxnSp>
        <p:nvCxnSpPr>
          <p:cNvPr id="18" name="mbl:hrule:1" descr="{&quot;mbl&quot;: 1, &quot;c&quot;: &quot;hrule&quot;, &quot;i&quot;: 1}"/>
          <p:cNvCxnSpPr/>
          <p:nvPr/>
        </p:nvCxnSpPr>
        <p:spPr>
          <a:xfrm>
            <a:off x="365760" y="4846320"/>
            <a:ext cx="11460175" cy="0"/>
          </a:xfrm>
          <a:prstGeom prst="line">
            <a:avLst/>
          </a:prstGeom>
          <a:ln w="12700">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9" name="mbl:txt:6" descr="{&quot;mbl&quot;: 1, &quot;c&quot;: &quot;txt&quot;, &quot;i&quot;: 6}"/>
          <p:cNvSpPr txBox="1"/>
          <p:nvPr/>
        </p:nvSpPr>
        <p:spPr>
          <a:xfrm>
            <a:off x="365760" y="5029200"/>
            <a:ext cx="11460175" cy="731520"/>
          </a:xfrm>
          <a:prstGeom prst="rect">
            <a:avLst/>
          </a:prstGeom>
          <a:noFill/>
        </p:spPr>
        <p:txBody>
          <a:bodyPr wrap="square" anchor="t" lIns="0" rIns="0" tIns="0" bIns="0">
            <a:noAutofit/>
          </a:bodyPr>
          <a:lstStyle/>
          <a:p>
            <a:pPr algn="l">
              <a:lnSpc>
                <a:spcPct val="100000"/>
              </a:lnSpc>
            </a:pPr>
            <a:r>
              <a:rPr sz="1400" b="0" i="0">
                <a:solidFill>
                  <a:srgbClr val="28495A"/>
                </a:solidFill>
                <a:latin typeface="Roboto"/>
              </a:rPr>
              <a:t>Each result is the mean over the 50 queries. Recall carries a standard error of 0.01 to 0.05, and p95 is the 95th percentile across queries.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ONE QUERY SHAPE RUNS ON EVERY ENGINE</a:t>
            </a:r>
          </a:p>
        </p:txBody>
      </p:sp>
      <p:sp>
        <p:nvSpPr>
          <p:cNvPr id="4" name="mbl:txt:1" descr="{&quot;mbl&quot;: 1, &quot;c&quot;: &quot;txt&quot;, &quot;i&quot;: 1}"/>
          <p:cNvSpPr txBox="1"/>
          <p:nvPr/>
        </p:nvSpPr>
        <p:spPr>
          <a:xfrm>
            <a:off x="365760" y="1417320"/>
            <a:ext cx="5897880" cy="274320"/>
          </a:xfrm>
          <a:prstGeom prst="rect">
            <a:avLst/>
          </a:prstGeom>
          <a:noFill/>
        </p:spPr>
        <p:txBody>
          <a:bodyPr wrap="square" anchor="t" lIns="0" rIns="0" tIns="0" bIns="0">
            <a:noAutofit/>
          </a:bodyPr>
          <a:lstStyle/>
          <a:p>
            <a:pPr algn="l">
              <a:lnSpc>
                <a:spcPct val="100000"/>
              </a:lnSpc>
            </a:pPr>
            <a:r>
              <a:rPr sz="1400" b="1" i="0">
                <a:solidFill>
                  <a:srgbClr val="28495A"/>
                </a:solidFill>
                <a:latin typeface="Roboto Condensed"/>
              </a:rPr>
              <a:t>Postgres and WarehousePG</a:t>
            </a:r>
          </a:p>
        </p:txBody>
      </p:sp>
      <p:sp>
        <p:nvSpPr>
          <p:cNvPr id="5" name="mbl:txt:2" descr="{&quot;mbl&quot;: 1, &quot;c&quot;: &quot;txt&quot;, &quot;i&quot;: 2}"/>
          <p:cNvSpPr txBox="1"/>
          <p:nvPr/>
        </p:nvSpPr>
        <p:spPr>
          <a:xfrm>
            <a:off x="6565392" y="1417320"/>
            <a:ext cx="5260543" cy="274320"/>
          </a:xfrm>
          <a:prstGeom prst="rect">
            <a:avLst/>
          </a:prstGeom>
          <a:noFill/>
        </p:spPr>
        <p:txBody>
          <a:bodyPr wrap="square" anchor="t" lIns="0" rIns="0" tIns="0" bIns="0">
            <a:noAutofit/>
          </a:bodyPr>
          <a:lstStyle/>
          <a:p>
            <a:pPr algn="l">
              <a:lnSpc>
                <a:spcPct val="100000"/>
              </a:lnSpc>
            </a:pPr>
            <a:r>
              <a:rPr sz="1400" b="1" i="0">
                <a:solidFill>
                  <a:srgbClr val="28495A"/>
                </a:solidFill>
                <a:latin typeface="Roboto Condensed"/>
              </a:rPr>
              <a:t>ClickHouse</a:t>
            </a:r>
          </a:p>
        </p:txBody>
      </p:sp>
      <p:sp>
        <p:nvSpPr>
          <p:cNvPr id="6" name="mbl:panel:1" descr="{&quot;mbl&quot;: 1, &quot;c&quot;: &quot;panel&quot;, &quot;i&quot;: 1}"/>
          <p:cNvSpPr/>
          <p:nvPr/>
        </p:nvSpPr>
        <p:spPr>
          <a:xfrm>
            <a:off x="365760" y="1801368"/>
            <a:ext cx="5897880" cy="2331720"/>
          </a:xfrm>
          <a:prstGeom prst="roundRect">
            <a:avLst>
              <a:gd name="adj" fmla="val 1497"/>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7" name="mbl:txt:3" descr="{&quot;mbl&quot;: 1, &quot;c&quot;: &quot;txt&quot;, &quot;i&quot;: 3}"/>
          <p:cNvSpPr txBox="1"/>
          <p:nvPr/>
        </p:nvSpPr>
        <p:spPr>
          <a:xfrm>
            <a:off x="566928" y="1947672"/>
            <a:ext cx="5495544" cy="2039112"/>
          </a:xfrm>
          <a:prstGeom prst="rect">
            <a:avLst/>
          </a:prstGeom>
          <a:noFill/>
        </p:spPr>
        <p:txBody>
          <a:bodyPr wrap="square" anchor="t" lIns="0" rIns="0" tIns="0" bIns="0">
            <a:noAutofit/>
          </a:bodyPr>
          <a:lstStyle/>
          <a:p>
            <a:pPr algn="l">
              <a:lnSpc>
                <a:spcPct val="112000"/>
              </a:lnSpc>
            </a:pPr>
            <a:r>
              <a:rPr sz="1200" b="0" i="0">
                <a:solidFill>
                  <a:srgbClr val="28495A"/>
                </a:solidFill>
                <a:latin typeface="Courier New"/>
              </a:rPr>
              <a:t>SET ivfplus.probes = 16;</a:t>
            </a:r>
          </a:p>
          <a:p>
            <a:pPr algn="l">
              <a:lnSpc>
                <a:spcPct val="112000"/>
              </a:lnSpc>
            </a:pPr>
            <a:r>
              <a:rPr sz="1200" b="0" i="0">
                <a:solidFill>
                  <a:srgbClr val="28495A"/>
                </a:solidFill>
                <a:latin typeface="Courier New"/>
              </a:rPr>
              <a:t>-- ivfflat.probes = 16 | vchordrq.probes = '16'</a:t>
            </a:r>
          </a:p>
          <a:p>
            <a:pPr algn="l">
              <a:lnSpc>
                <a:spcPct val="112000"/>
              </a:lnSpc>
            </a:pPr>
            <a:r>
              <a:rPr sz="1200" b="0" i="0">
                <a:solidFill>
                  <a:srgbClr val="28495A"/>
                </a:solidFill>
                <a:latin typeface="Courier New"/>
              </a:rPr>
              <a:t>-- hnsw.ef_search = 64</a:t>
            </a:r>
          </a:p>
          <a:p>
            <a:pPr algn="l">
              <a:lnSpc>
                <a:spcPct val="112000"/>
              </a:lnSpc>
            </a:pPr>
            <a:r>
              <a:rPr sz="1200" b="0" i="0">
                <a:solidFill>
                  <a:srgbClr val="28495A"/>
                </a:solidFill>
                <a:latin typeface="Courier New"/>
              </a:rPr>
              <a:t/>
            </a:r>
          </a:p>
          <a:p>
            <a:pPr algn="l">
              <a:lnSpc>
                <a:spcPct val="112000"/>
              </a:lnSpc>
            </a:pPr>
            <a:r>
              <a:rPr sz="1200" b="0" i="0">
                <a:solidFill>
                  <a:srgbClr val="28495A"/>
                </a:solidFill>
                <a:latin typeface="Courier New"/>
              </a:rPr>
              <a:t>SELECT id, topic, category_id, title,</a:t>
            </a:r>
          </a:p>
          <a:p>
            <a:pPr algn="l">
              <a:lnSpc>
                <a:spcPct val="112000"/>
              </a:lnSpc>
            </a:pPr>
            <a:r>
              <a:rPr sz="1200" b="0" i="0">
                <a:solidFill>
                  <a:srgbClr val="28495A"/>
                </a:solidFill>
                <a:latin typeface="Courier New"/>
              </a:rPr>
              <a:t>       embedding &lt;-&gt; '[0.0412, -0.0157, …]' AS distance</a:t>
            </a:r>
          </a:p>
          <a:p>
            <a:pPr algn="l">
              <a:lnSpc>
                <a:spcPct val="112000"/>
              </a:lnSpc>
            </a:pPr>
            <a:r>
              <a:rPr sz="1200" b="0" i="0">
                <a:solidFill>
                  <a:srgbClr val="28495A"/>
                </a:solidFill>
                <a:latin typeface="Courier New"/>
              </a:rPr>
              <a:t>FROM public.vp_docs</a:t>
            </a:r>
          </a:p>
          <a:p>
            <a:pPr algn="l">
              <a:lnSpc>
                <a:spcPct val="112000"/>
              </a:lnSpc>
            </a:pPr>
            <a:r>
              <a:rPr sz="1200" b="0" i="0">
                <a:solidFill>
                  <a:srgbClr val="28495A"/>
                </a:solidFill>
                <a:latin typeface="Courier New"/>
              </a:rPr>
              <a:t>ORDER BY embedding &lt;-&gt; '[0.0412, -0.0157, …]'</a:t>
            </a:r>
          </a:p>
          <a:p>
            <a:pPr algn="l">
              <a:lnSpc>
                <a:spcPct val="112000"/>
              </a:lnSpc>
            </a:pPr>
            <a:r>
              <a:rPr sz="1200" b="0" i="0">
                <a:solidFill>
                  <a:srgbClr val="28495A"/>
                </a:solidFill>
                <a:latin typeface="Courier New"/>
              </a:rPr>
              <a:t>LIMIT 10;</a:t>
            </a:r>
          </a:p>
        </p:txBody>
      </p:sp>
      <p:sp>
        <p:nvSpPr>
          <p:cNvPr id="8" name="mbl:panel:2" descr="{&quot;mbl&quot;: 1, &quot;c&quot;: &quot;panel&quot;, &quot;i&quot;: 2}"/>
          <p:cNvSpPr/>
          <p:nvPr/>
        </p:nvSpPr>
        <p:spPr>
          <a:xfrm>
            <a:off x="6565392" y="1801368"/>
            <a:ext cx="5260543" cy="2331720"/>
          </a:xfrm>
          <a:prstGeom prst="roundRect">
            <a:avLst>
              <a:gd name="adj" fmla="val 1497"/>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9" name="mbl:txt:4" descr="{&quot;mbl&quot;: 1, &quot;c&quot;: &quot;txt&quot;, &quot;i&quot;: 4}"/>
          <p:cNvSpPr txBox="1"/>
          <p:nvPr/>
        </p:nvSpPr>
        <p:spPr>
          <a:xfrm>
            <a:off x="6766560" y="1947672"/>
            <a:ext cx="4858207" cy="2039112"/>
          </a:xfrm>
          <a:prstGeom prst="rect">
            <a:avLst/>
          </a:prstGeom>
          <a:noFill/>
        </p:spPr>
        <p:txBody>
          <a:bodyPr wrap="square" anchor="t" lIns="0" rIns="0" tIns="0" bIns="0">
            <a:noAutofit/>
          </a:bodyPr>
          <a:lstStyle/>
          <a:p>
            <a:pPr algn="l">
              <a:lnSpc>
                <a:spcPct val="112000"/>
              </a:lnSpc>
            </a:pPr>
            <a:r>
              <a:rPr sz="1200" b="0" i="0">
                <a:solidFill>
                  <a:srgbClr val="28495A"/>
                </a:solidFill>
                <a:latin typeface="Courier New"/>
              </a:rPr>
              <a:t>SELECT id, topic, category_id, title,</a:t>
            </a:r>
          </a:p>
          <a:p>
            <a:pPr algn="l">
              <a:lnSpc>
                <a:spcPct val="112000"/>
              </a:lnSpc>
            </a:pPr>
            <a:r>
              <a:rPr sz="1200" b="0" i="0">
                <a:solidFill>
                  <a:srgbClr val="28495A"/>
                </a:solidFill>
                <a:latin typeface="Courier New"/>
              </a:rPr>
              <a:t>       L2Distance(embedding, [0.0412, …])</a:t>
            </a:r>
          </a:p>
          <a:p>
            <a:pPr algn="l">
              <a:lnSpc>
                <a:spcPct val="112000"/>
              </a:lnSpc>
            </a:pPr>
            <a:r>
              <a:rPr sz="1200" b="0" i="0">
                <a:solidFill>
                  <a:srgbClr val="28495A"/>
                </a:solidFill>
                <a:latin typeface="Courier New"/>
              </a:rPr>
              <a:t>         AS distance</a:t>
            </a:r>
          </a:p>
          <a:p>
            <a:pPr algn="l">
              <a:lnSpc>
                <a:spcPct val="112000"/>
              </a:lnSpc>
            </a:pPr>
            <a:r>
              <a:rPr sz="1200" b="0" i="0">
                <a:solidFill>
                  <a:srgbClr val="28495A"/>
                </a:solidFill>
                <a:latin typeface="Courier New"/>
              </a:rPr>
              <a:t>FROM default.ch_docs</a:t>
            </a:r>
          </a:p>
          <a:p>
            <a:pPr algn="l">
              <a:lnSpc>
                <a:spcPct val="112000"/>
              </a:lnSpc>
            </a:pPr>
            <a:r>
              <a:rPr sz="1200" b="0" i="0">
                <a:solidFill>
                  <a:srgbClr val="28495A"/>
                </a:solidFill>
                <a:latin typeface="Courier New"/>
              </a:rPr>
              <a:t>ORDER BY L2Distance(embedding, [0.0412, …])</a:t>
            </a:r>
          </a:p>
          <a:p>
            <a:pPr algn="l">
              <a:lnSpc>
                <a:spcPct val="112000"/>
              </a:lnSpc>
            </a:pPr>
            <a:r>
              <a:rPr sz="1200" b="0" i="0">
                <a:solidFill>
                  <a:srgbClr val="28495A"/>
                </a:solidFill>
                <a:latin typeface="Courier New"/>
              </a:rPr>
              <a:t>LIMIT 10</a:t>
            </a:r>
          </a:p>
          <a:p>
            <a:pPr algn="l">
              <a:lnSpc>
                <a:spcPct val="112000"/>
              </a:lnSpc>
            </a:pPr>
            <a:r>
              <a:rPr sz="1200" b="0" i="0">
                <a:solidFill>
                  <a:srgbClr val="28495A"/>
                </a:solidFill>
                <a:latin typeface="Courier New"/>
              </a:rPr>
              <a:t>SETTINGS hnsw_candidate_list_size_for_search = 64;</a:t>
            </a:r>
          </a:p>
        </p:txBody>
      </p:sp>
      <p:sp>
        <p:nvSpPr>
          <p:cNvPr id="10" name="mbl:txt:5" descr="{&quot;mbl&quot;: 1, &quot;c&quot;: &quot;txt&quot;, &quot;i&quot;: 5}"/>
          <p:cNvSpPr txBox="1"/>
          <p:nvPr/>
        </p:nvSpPr>
        <p:spPr>
          <a:xfrm>
            <a:off x="365760" y="4434840"/>
            <a:ext cx="5897880" cy="1463040"/>
          </a:xfrm>
          <a:prstGeom prst="rect">
            <a:avLst/>
          </a:prstGeom>
          <a:noFill/>
        </p:spPr>
        <p:txBody>
          <a:bodyPr wrap="square" anchor="t" lIns="0" rIns="0" tIns="0" bIns="0">
            <a:noAutofit/>
          </a:bodyPr>
          <a:lstStyle/>
          <a:p>
            <a:pPr algn="l">
              <a:lnSpc>
                <a:spcPct val="108000"/>
              </a:lnSpc>
            </a:pPr>
            <a:r>
              <a:rPr sz="1400" b="0" i="0">
                <a:solidFill>
                  <a:srgbClr val="567F8D"/>
                </a:solidFill>
                <a:latin typeface="Roboto"/>
              </a:rPr>
              <a:t>Approximate runs set enable_seqscan = off and jit = off, so the planner cannot quietly scan the table.</a:t>
            </a:r>
          </a:p>
          <a:p>
            <a:pPr algn="l">
              <a:lnSpc>
                <a:spcPct val="108000"/>
              </a:lnSpc>
            </a:pPr>
            <a:r>
              <a:rPr sz="1400" b="0" i="0">
                <a:solidFill>
                  <a:srgbClr val="567F8D"/>
                </a:solidFill>
                <a:latin typeface="Roboto"/>
              </a:rPr>
              <a:t>The exact baseline runs the same SELECT with enable_indexscan and enable_bitmapscan off.</a:t>
            </a:r>
          </a:p>
        </p:txBody>
      </p:sp>
      <p:sp>
        <p:nvSpPr>
          <p:cNvPr id="11" name="mbl:txt:6" descr="{&quot;mbl&quot;: 1, &quot;c&quot;: &quot;txt&quot;, &quot;i&quot;: 6}"/>
          <p:cNvSpPr txBox="1"/>
          <p:nvPr/>
        </p:nvSpPr>
        <p:spPr>
          <a:xfrm>
            <a:off x="6565392" y="4434840"/>
            <a:ext cx="5260543" cy="1463040"/>
          </a:xfrm>
          <a:prstGeom prst="rect">
            <a:avLst/>
          </a:prstGeom>
          <a:noFill/>
        </p:spPr>
        <p:txBody>
          <a:bodyPr wrap="square" anchor="t" lIns="0" rIns="0" tIns="0" bIns="0">
            <a:noAutofit/>
          </a:bodyPr>
          <a:lstStyle/>
          <a:p>
            <a:pPr algn="l">
              <a:lnSpc>
                <a:spcPct val="108000"/>
              </a:lnSpc>
            </a:pPr>
            <a:r>
              <a:rPr sz="1400" b="0" i="0">
                <a:solidFill>
                  <a:srgbClr val="567F8D"/>
                </a:solidFill>
                <a:latin typeface="Roboto"/>
              </a:rPr>
              <a:t>The vector is a literal of 768 numbers. Before each run the app checks the plan and records which index was used.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ONE LIST OF PROBES SETS THE EFFORT FOR EVERY ENGINE</a:t>
            </a:r>
          </a:p>
        </p:txBody>
      </p:sp>
      <p:sp>
        <p:nvSpPr>
          <p:cNvPr id="4" name="mbl:txt:1" descr="{&quot;mbl&quot;: 1, &quot;c&quot;: &quot;txt&quot;, &quot;i&quot;: 1}"/>
          <p:cNvSpPr txBox="1"/>
          <p:nvPr/>
        </p:nvSpPr>
        <p:spPr>
          <a:xfrm>
            <a:off x="365760" y="1417320"/>
            <a:ext cx="2633472"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ENGINE</a:t>
            </a:r>
          </a:p>
        </p:txBody>
      </p:sp>
      <p:sp>
        <p:nvSpPr>
          <p:cNvPr id="5" name="mbl:txt:2" descr="{&quot;mbl&quot;: 1, &quot;c&quot;: &quot;txt&quot;, &quot;i&quot;: 2}"/>
          <p:cNvSpPr txBox="1"/>
          <p:nvPr/>
        </p:nvSpPr>
        <p:spPr>
          <a:xfrm>
            <a:off x="3108960" y="1417320"/>
            <a:ext cx="3639311"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SETTING</a:t>
            </a:r>
          </a:p>
        </p:txBody>
      </p:sp>
      <p:sp>
        <p:nvSpPr>
          <p:cNvPr id="6" name="mbl:txt:3" descr="{&quot;mbl&quot;: 1, &quot;c&quot;: &quot;txt&quot;, &quot;i&quot;: 3}"/>
          <p:cNvSpPr txBox="1"/>
          <p:nvPr/>
        </p:nvSpPr>
        <p:spPr>
          <a:xfrm>
            <a:off x="6858000" y="1417320"/>
            <a:ext cx="2176272"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VALUE FOR PROBES P</a:t>
            </a:r>
          </a:p>
        </p:txBody>
      </p:sp>
      <p:sp>
        <p:nvSpPr>
          <p:cNvPr id="7" name="mbl:txt:4" descr="{&quot;mbl&quot;: 1, &quot;c&quot;: &quot;txt&quot;, &quot;i&quot;: 4}"/>
          <p:cNvSpPr txBox="1"/>
          <p:nvPr/>
        </p:nvSpPr>
        <p:spPr>
          <a:xfrm>
            <a:off x="9144000" y="1417320"/>
            <a:ext cx="2569464"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MEANING</a:t>
            </a:r>
          </a:p>
        </p:txBody>
      </p:sp>
      <p:cxnSp>
        <p:nvCxnSpPr>
          <p:cNvPr id="8" name="mbl:hrule:1" descr="{&quot;mbl&quot;: 1, &quot;c&quot;: &quot;hrule&quot;, &quot;i&quot;: 1}"/>
          <p:cNvCxnSpPr/>
          <p:nvPr/>
        </p:nvCxnSpPr>
        <p:spPr>
          <a:xfrm>
            <a:off x="365760" y="1728216"/>
            <a:ext cx="11457432" cy="0"/>
          </a:xfrm>
          <a:prstGeom prst="line">
            <a:avLst/>
          </a:prstGeom>
          <a:ln w="25400">
            <a:solidFill>
              <a:srgbClr val="28495A"/>
            </a:solidFill>
          </a:ln>
          <a:effectLst/>
        </p:spPr>
        <p:style>
          <a:lnRef idx="2">
            <a:schemeClr val="accent1"/>
          </a:lnRef>
          <a:fillRef idx="0">
            <a:schemeClr val="accent1"/>
          </a:fillRef>
          <a:effectRef idx="0">
            <a:schemeClr val="accent1"/>
          </a:effectRef>
          <a:fontRef idx="minor">
            <a:schemeClr val="tx1"/>
          </a:fontRef>
        </p:style>
      </p:cxnSp>
      <p:sp>
        <p:nvSpPr>
          <p:cNvPr id="9" name="mbl:txt:5" descr="{&quot;mbl&quot;: 1, &quot;c&quot;: &quot;txt&quot;, &quot;i&quot;: 5}"/>
          <p:cNvSpPr txBox="1"/>
          <p:nvPr/>
        </p:nvSpPr>
        <p:spPr>
          <a:xfrm>
            <a:off x="365760" y="1801368"/>
            <a:ext cx="2633472" cy="545592"/>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EDB Vector Plus</a:t>
            </a:r>
          </a:p>
        </p:txBody>
      </p:sp>
      <p:sp>
        <p:nvSpPr>
          <p:cNvPr id="10" name="mbl:txt:6" descr="{&quot;mbl&quot;: 1, &quot;c&quot;: &quot;txt&quot;, &quot;i&quot;: 6}"/>
          <p:cNvSpPr txBox="1"/>
          <p:nvPr/>
        </p:nvSpPr>
        <p:spPr>
          <a:xfrm>
            <a:off x="3108960" y="1801368"/>
            <a:ext cx="3639311"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ivfplus.probes</a:t>
            </a:r>
          </a:p>
        </p:txBody>
      </p:sp>
      <p:sp>
        <p:nvSpPr>
          <p:cNvPr id="11" name="mbl:txt:7" descr="{&quot;mbl&quot;: 1, &quot;c&quot;: &quot;txt&quot;, &quot;i&quot;: 7}"/>
          <p:cNvSpPr txBox="1"/>
          <p:nvPr/>
        </p:nvSpPr>
        <p:spPr>
          <a:xfrm>
            <a:off x="6858000" y="1801368"/>
            <a:ext cx="2176272"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p, capped at lists</a:t>
            </a:r>
          </a:p>
        </p:txBody>
      </p:sp>
      <p:sp>
        <p:nvSpPr>
          <p:cNvPr id="12" name="mbl:txt:8" descr="{&quot;mbl&quot;: 1, &quot;c&quot;: &quot;txt&quot;, &quot;i&quot;: 8}"/>
          <p:cNvSpPr txBox="1"/>
          <p:nvPr/>
        </p:nvSpPr>
        <p:spPr>
          <a:xfrm>
            <a:off x="9144000" y="1801368"/>
            <a:ext cx="2569464"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lists scanned per query</a:t>
            </a:r>
          </a:p>
        </p:txBody>
      </p:sp>
      <p:cxnSp>
        <p:nvCxnSpPr>
          <p:cNvPr id="13" name="mbl:hrule:2" descr="{&quot;mbl&quot;: 1, &quot;c&quot;: &quot;hrule&quot;, &quot;i&quot;: 2}"/>
          <p:cNvCxnSpPr/>
          <p:nvPr/>
        </p:nvCxnSpPr>
        <p:spPr>
          <a:xfrm>
            <a:off x="365760" y="2346960"/>
            <a:ext cx="11457432"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4" name="mbl:txt:9" descr="{&quot;mbl&quot;: 1, &quot;c&quot;: &quot;txt&quot;, &quot;i&quot;: 9}"/>
          <p:cNvSpPr txBox="1"/>
          <p:nvPr/>
        </p:nvSpPr>
        <p:spPr>
          <a:xfrm>
            <a:off x="365760" y="2346960"/>
            <a:ext cx="2633472" cy="545592"/>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pgvector IVFFlat</a:t>
            </a:r>
          </a:p>
        </p:txBody>
      </p:sp>
      <p:sp>
        <p:nvSpPr>
          <p:cNvPr id="15" name="mbl:txt:10" descr="{&quot;mbl&quot;: 1, &quot;c&quot;: &quot;txt&quot;, &quot;i&quot;: 10}"/>
          <p:cNvSpPr txBox="1"/>
          <p:nvPr/>
        </p:nvSpPr>
        <p:spPr>
          <a:xfrm>
            <a:off x="3108960" y="2346960"/>
            <a:ext cx="3639311"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ivfflat.probes</a:t>
            </a:r>
          </a:p>
        </p:txBody>
      </p:sp>
      <p:sp>
        <p:nvSpPr>
          <p:cNvPr id="16" name="mbl:txt:11" descr="{&quot;mbl&quot;: 1, &quot;c&quot;: &quot;txt&quot;, &quot;i&quot;: 11}"/>
          <p:cNvSpPr txBox="1"/>
          <p:nvPr/>
        </p:nvSpPr>
        <p:spPr>
          <a:xfrm>
            <a:off x="6858000" y="2346960"/>
            <a:ext cx="2176272"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p, capped at lists</a:t>
            </a:r>
          </a:p>
        </p:txBody>
      </p:sp>
      <p:sp>
        <p:nvSpPr>
          <p:cNvPr id="17" name="mbl:txt:12" descr="{&quot;mbl&quot;: 1, &quot;c&quot;: &quot;txt&quot;, &quot;i&quot;: 12}"/>
          <p:cNvSpPr txBox="1"/>
          <p:nvPr/>
        </p:nvSpPr>
        <p:spPr>
          <a:xfrm>
            <a:off x="9144000" y="2346960"/>
            <a:ext cx="2569464"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lists scanned per query</a:t>
            </a:r>
          </a:p>
        </p:txBody>
      </p:sp>
      <p:cxnSp>
        <p:nvCxnSpPr>
          <p:cNvPr id="18" name="mbl:hrule:3" descr="{&quot;mbl&quot;: 1, &quot;c&quot;: &quot;hrule&quot;, &quot;i&quot;: 3}"/>
          <p:cNvCxnSpPr/>
          <p:nvPr/>
        </p:nvCxnSpPr>
        <p:spPr>
          <a:xfrm>
            <a:off x="365760" y="2892552"/>
            <a:ext cx="11457432"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9" name="mbl:txt:13" descr="{&quot;mbl&quot;: 1, &quot;c&quot;: &quot;txt&quot;, &quot;i&quot;: 13}"/>
          <p:cNvSpPr txBox="1"/>
          <p:nvPr/>
        </p:nvSpPr>
        <p:spPr>
          <a:xfrm>
            <a:off x="365760" y="2892552"/>
            <a:ext cx="2633472" cy="545592"/>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VectorChord</a:t>
            </a:r>
          </a:p>
        </p:txBody>
      </p:sp>
      <p:sp>
        <p:nvSpPr>
          <p:cNvPr id="20" name="mbl:txt:14" descr="{&quot;mbl&quot;: 1, &quot;c&quot;: &quot;txt&quot;, &quot;i&quot;: 14}"/>
          <p:cNvSpPr txBox="1"/>
          <p:nvPr/>
        </p:nvSpPr>
        <p:spPr>
          <a:xfrm>
            <a:off x="3108960" y="2892552"/>
            <a:ext cx="3639311"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vchordrq.probes</a:t>
            </a:r>
          </a:p>
        </p:txBody>
      </p:sp>
      <p:sp>
        <p:nvSpPr>
          <p:cNvPr id="21" name="mbl:txt:15" descr="{&quot;mbl&quot;: 1, &quot;c&quot;: &quot;txt&quot;, &quot;i&quot;: 15}"/>
          <p:cNvSpPr txBox="1"/>
          <p:nvPr/>
        </p:nvSpPr>
        <p:spPr>
          <a:xfrm>
            <a:off x="6858000" y="2892552"/>
            <a:ext cx="2176272"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'p', capped at lists</a:t>
            </a:r>
          </a:p>
        </p:txBody>
      </p:sp>
      <p:sp>
        <p:nvSpPr>
          <p:cNvPr id="22" name="mbl:txt:16" descr="{&quot;mbl&quot;: 1, &quot;c&quot;: &quot;txt&quot;, &quot;i&quot;: 16}"/>
          <p:cNvSpPr txBox="1"/>
          <p:nvPr/>
        </p:nvSpPr>
        <p:spPr>
          <a:xfrm>
            <a:off x="9144000" y="2892552"/>
            <a:ext cx="2569464"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lists scanned per query</a:t>
            </a:r>
          </a:p>
        </p:txBody>
      </p:sp>
      <p:cxnSp>
        <p:nvCxnSpPr>
          <p:cNvPr id="23" name="mbl:hrule:4" descr="{&quot;mbl&quot;: 1, &quot;c&quot;: &quot;hrule&quot;, &quot;i&quot;: 4}"/>
          <p:cNvCxnSpPr/>
          <p:nvPr/>
        </p:nvCxnSpPr>
        <p:spPr>
          <a:xfrm>
            <a:off x="365760" y="3438144"/>
            <a:ext cx="11457432"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4" name="mbl:txt:17" descr="{&quot;mbl&quot;: 1, &quot;c&quot;: &quot;txt&quot;, &quot;i&quot;: 17}"/>
          <p:cNvSpPr txBox="1"/>
          <p:nvPr/>
        </p:nvSpPr>
        <p:spPr>
          <a:xfrm>
            <a:off x="365760" y="3438144"/>
            <a:ext cx="2633472" cy="545592"/>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pgvector HNSW</a:t>
            </a:r>
          </a:p>
        </p:txBody>
      </p:sp>
      <p:sp>
        <p:nvSpPr>
          <p:cNvPr id="25" name="mbl:txt:18" descr="{&quot;mbl&quot;: 1, &quot;c&quot;: &quot;txt&quot;, &quot;i&quot;: 18}"/>
          <p:cNvSpPr txBox="1"/>
          <p:nvPr/>
        </p:nvSpPr>
        <p:spPr>
          <a:xfrm>
            <a:off x="3108960" y="3438144"/>
            <a:ext cx="3639311"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hnsw.ef_search</a:t>
            </a:r>
          </a:p>
        </p:txBody>
      </p:sp>
      <p:sp>
        <p:nvSpPr>
          <p:cNvPr id="26" name="mbl:txt:19" descr="{&quot;mbl&quot;: 1, &quot;c&quot;: &quot;txt&quot;, &quot;i&quot;: 19}"/>
          <p:cNvSpPr txBox="1"/>
          <p:nvPr/>
        </p:nvSpPr>
        <p:spPr>
          <a:xfrm>
            <a:off x="6858000" y="3438144"/>
            <a:ext cx="2176272"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max(k, 4 × p)</a:t>
            </a:r>
          </a:p>
        </p:txBody>
      </p:sp>
      <p:sp>
        <p:nvSpPr>
          <p:cNvPr id="27" name="mbl:txt:20" descr="{&quot;mbl&quot;: 1, &quot;c&quot;: &quot;txt&quot;, &quot;i&quot;: 20}"/>
          <p:cNvSpPr txBox="1"/>
          <p:nvPr/>
        </p:nvSpPr>
        <p:spPr>
          <a:xfrm>
            <a:off x="9144000" y="3438144"/>
            <a:ext cx="2569464"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candidate list size</a:t>
            </a:r>
          </a:p>
        </p:txBody>
      </p:sp>
      <p:cxnSp>
        <p:nvCxnSpPr>
          <p:cNvPr id="28" name="mbl:hrule:5" descr="{&quot;mbl&quot;: 1, &quot;c&quot;: &quot;hrule&quot;, &quot;i&quot;: 5}"/>
          <p:cNvCxnSpPr/>
          <p:nvPr/>
        </p:nvCxnSpPr>
        <p:spPr>
          <a:xfrm>
            <a:off x="365760" y="3983736"/>
            <a:ext cx="11457432"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9" name="mbl:txt:21" descr="{&quot;mbl&quot;: 1, &quot;c&quot;: &quot;txt&quot;, &quot;i&quot;: 21}"/>
          <p:cNvSpPr txBox="1"/>
          <p:nvPr/>
        </p:nvSpPr>
        <p:spPr>
          <a:xfrm>
            <a:off x="365760" y="3983736"/>
            <a:ext cx="2633472" cy="545592"/>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ClickHouse</a:t>
            </a:r>
          </a:p>
        </p:txBody>
      </p:sp>
      <p:sp>
        <p:nvSpPr>
          <p:cNvPr id="30" name="mbl:txt:22" descr="{&quot;mbl&quot;: 1, &quot;c&quot;: &quot;txt&quot;, &quot;i&quot;: 22}"/>
          <p:cNvSpPr txBox="1"/>
          <p:nvPr/>
        </p:nvSpPr>
        <p:spPr>
          <a:xfrm>
            <a:off x="3108960" y="3983736"/>
            <a:ext cx="3639311"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hnsw_candidate_list_size_for_search</a:t>
            </a:r>
          </a:p>
        </p:txBody>
      </p:sp>
      <p:sp>
        <p:nvSpPr>
          <p:cNvPr id="31" name="mbl:txt:23" descr="{&quot;mbl&quot;: 1, &quot;c&quot;: &quot;txt&quot;, &quot;i&quot;: 23}"/>
          <p:cNvSpPr txBox="1"/>
          <p:nvPr/>
        </p:nvSpPr>
        <p:spPr>
          <a:xfrm>
            <a:off x="6858000" y="3983736"/>
            <a:ext cx="2176272"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max(k, 4 × p)</a:t>
            </a:r>
          </a:p>
        </p:txBody>
      </p:sp>
      <p:sp>
        <p:nvSpPr>
          <p:cNvPr id="32" name="mbl:txt:24" descr="{&quot;mbl&quot;: 1, &quot;c&quot;: &quot;txt&quot;, &quot;i&quot;: 24}"/>
          <p:cNvSpPr txBox="1"/>
          <p:nvPr/>
        </p:nvSpPr>
        <p:spPr>
          <a:xfrm>
            <a:off x="9144000" y="3983736"/>
            <a:ext cx="2569464"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candidate list size</a:t>
            </a:r>
          </a:p>
        </p:txBody>
      </p:sp>
      <p:cxnSp>
        <p:nvCxnSpPr>
          <p:cNvPr id="33" name="mbl:hrule:6" descr="{&quot;mbl&quot;: 1, &quot;c&quot;: &quot;hrule&quot;, &quot;i&quot;: 6}"/>
          <p:cNvCxnSpPr/>
          <p:nvPr/>
        </p:nvCxnSpPr>
        <p:spPr>
          <a:xfrm>
            <a:off x="365760" y="4529328"/>
            <a:ext cx="11457432"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34" name="mbl:txt:25" descr="{&quot;mbl&quot;: 1, &quot;c&quot;: &quot;txt&quot;, &quot;i&quot;: 25}"/>
          <p:cNvSpPr txBox="1"/>
          <p:nvPr/>
        </p:nvSpPr>
        <p:spPr>
          <a:xfrm>
            <a:off x="365760" y="4529328"/>
            <a:ext cx="2633472" cy="545592"/>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WarehousePG twins</a:t>
            </a:r>
          </a:p>
        </p:txBody>
      </p:sp>
      <p:sp>
        <p:nvSpPr>
          <p:cNvPr id="35" name="mbl:txt:26" descr="{&quot;mbl&quot;: 1, &quot;c&quot;: &quot;txt&quot;, &quot;i&quot;: 26}"/>
          <p:cNvSpPr txBox="1"/>
          <p:nvPr/>
        </p:nvSpPr>
        <p:spPr>
          <a:xfrm>
            <a:off x="3108960" y="4529328"/>
            <a:ext cx="3639311"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same as their Postgres engine</a:t>
            </a:r>
          </a:p>
        </p:txBody>
      </p:sp>
      <p:sp>
        <p:nvSpPr>
          <p:cNvPr id="36" name="mbl:txt:27" descr="{&quot;mbl&quot;: 1, &quot;c&quot;: &quot;txt&quot;, &quot;i&quot;: 27}"/>
          <p:cNvSpPr txBox="1"/>
          <p:nvPr/>
        </p:nvSpPr>
        <p:spPr>
          <a:xfrm>
            <a:off x="6858000" y="4529328"/>
            <a:ext cx="2176272"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p, on each of 2 segments</a:t>
            </a:r>
          </a:p>
        </p:txBody>
      </p:sp>
      <p:sp>
        <p:nvSpPr>
          <p:cNvPr id="37" name="mbl:txt:28" descr="{&quot;mbl&quot;: 1, &quot;c&quot;: &quot;txt&quot;, &quot;i&quot;: 28}"/>
          <p:cNvSpPr txBox="1"/>
          <p:nvPr/>
        </p:nvSpPr>
        <p:spPr>
          <a:xfrm>
            <a:off x="9144000" y="4529328"/>
            <a:ext cx="2569464" cy="54559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more total work per query</a:t>
            </a:r>
          </a:p>
        </p:txBody>
      </p:sp>
      <p:sp>
        <p:nvSpPr>
          <p:cNvPr id="38" name="mbl:txt:29" descr="{&quot;mbl&quot;: 1, &quot;c&quot;: &quot;txt&quot;, &quot;i&quot;: 29}"/>
          <p:cNvSpPr txBox="1"/>
          <p:nvPr/>
        </p:nvSpPr>
        <p:spPr>
          <a:xfrm>
            <a:off x="365760" y="5257800"/>
            <a:ext cx="11460175" cy="82296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Runs 3 to 5 used p = 1 to 32, which gives HNSW and ClickHouse ef_search 10, 16, 32, 64, 128. Run 6 extended the ladder to 256 probes, where ef_search reaches its cap of 1000. The 1M sweep predates the shared list and used each engine's own list.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EACH INDEX WAS BUILT ONCE, WITH LISTS SET TO √ROWS</a:t>
            </a:r>
          </a:p>
        </p:txBody>
      </p:sp>
      <p:sp>
        <p:nvSpPr>
          <p:cNvPr id="4" name="mbl:panel:1" descr="{&quot;mbl&quot;: 1, &quot;c&quot;: &quot;panel&quot;, &quot;i&quot;: 1}"/>
          <p:cNvSpPr/>
          <p:nvPr/>
        </p:nvSpPr>
        <p:spPr>
          <a:xfrm>
            <a:off x="365760" y="1417320"/>
            <a:ext cx="11460175" cy="3017520"/>
          </a:xfrm>
          <a:prstGeom prst="roundRect">
            <a:avLst>
              <a:gd name="adj" fmla="val 1497"/>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5" name="mbl:txt:1" descr="{&quot;mbl&quot;: 1, &quot;c&quot;: &quot;txt&quot;, &quot;i&quot;: 1}"/>
          <p:cNvSpPr txBox="1"/>
          <p:nvPr/>
        </p:nvSpPr>
        <p:spPr>
          <a:xfrm>
            <a:off x="566928" y="1563624"/>
            <a:ext cx="11057839" cy="2724912"/>
          </a:xfrm>
          <a:prstGeom prst="rect">
            <a:avLst/>
          </a:prstGeom>
          <a:noFill/>
        </p:spPr>
        <p:txBody>
          <a:bodyPr wrap="square" anchor="t" lIns="0" rIns="0" tIns="0" bIns="0">
            <a:noAutofit/>
          </a:bodyPr>
          <a:lstStyle/>
          <a:p>
            <a:pPr algn="l">
              <a:lnSpc>
                <a:spcPct val="112000"/>
              </a:lnSpc>
            </a:pPr>
            <a:r>
              <a:rPr sz="1300" b="0" i="0">
                <a:solidFill>
                  <a:srgbClr val="28495A"/>
                </a:solidFill>
                <a:latin typeface="Courier New"/>
              </a:rPr>
              <a:t>CREATE INDEX … USING ivfplus   (embedding vector_l2_ops) WITH (lists = 1414, rotation = on);</a:t>
            </a:r>
          </a:p>
          <a:p>
            <a:pPr algn="l">
              <a:lnSpc>
                <a:spcPct val="112000"/>
              </a:lnSpc>
            </a:pPr>
            <a:r>
              <a:rPr sz="1300" b="0" i="0">
                <a:solidFill>
                  <a:srgbClr val="28495A"/>
                </a:solidFill>
                <a:latin typeface="Courier New"/>
              </a:rPr>
              <a:t>CREATE INDEX … USING ivfflat   (embedding vector_l2_ops) WITH (lists = 1414);</a:t>
            </a:r>
          </a:p>
          <a:p>
            <a:pPr algn="l">
              <a:lnSpc>
                <a:spcPct val="112000"/>
              </a:lnSpc>
            </a:pPr>
            <a:r>
              <a:rPr sz="1300" b="0" i="0">
                <a:solidFill>
                  <a:srgbClr val="28495A"/>
                </a:solidFill>
                <a:latin typeface="Courier New"/>
              </a:rPr>
              <a:t>CREATE INDEX … USING hnsw      (embedding vector_l2_ops) WITH (m = 16, ef_construction = 64);</a:t>
            </a:r>
          </a:p>
          <a:p>
            <a:pPr algn="l">
              <a:lnSpc>
                <a:spcPct val="112000"/>
              </a:lnSpc>
            </a:pPr>
            <a:r>
              <a:rPr sz="1300" b="0" i="0">
                <a:solidFill>
                  <a:srgbClr val="28495A"/>
                </a:solidFill>
                <a:latin typeface="Courier New"/>
              </a:rPr>
              <a:t>CREATE INDEX … USING vchordrq  (embedding vector_l2_ops)</a:t>
            </a:r>
          </a:p>
          <a:p>
            <a:pPr algn="l">
              <a:lnSpc>
                <a:spcPct val="112000"/>
              </a:lnSpc>
            </a:pPr>
            <a:r>
              <a:rPr sz="1300" b="0" i="0">
                <a:solidFill>
                  <a:srgbClr val="28495A"/>
                </a:solidFill>
                <a:latin typeface="Courier New"/>
              </a:rPr>
              <a:t>                WITH (options = $$ [build.internal]  lists = [1414] $$);</a:t>
            </a:r>
          </a:p>
          <a:p>
            <a:pPr algn="l">
              <a:lnSpc>
                <a:spcPct val="112000"/>
              </a:lnSpc>
            </a:pPr>
            <a:r>
              <a:rPr sz="1300" b="0" i="0">
                <a:solidFill>
                  <a:srgbClr val="28495A"/>
                </a:solidFill>
                <a:latin typeface="Courier New"/>
              </a:rPr>
              <a:t/>
            </a:r>
          </a:p>
          <a:p>
            <a:pPr algn="l">
              <a:lnSpc>
                <a:spcPct val="112000"/>
              </a:lnSpc>
            </a:pPr>
            <a:r>
              <a:rPr sz="1300" b="0" i="0">
                <a:solidFill>
                  <a:srgbClr val="28495A"/>
                </a:solidFill>
                <a:latin typeface="Courier New"/>
              </a:rPr>
              <a:t>ALTER TABLE ch_docs ADD INDEX vi embedding</a:t>
            </a:r>
          </a:p>
          <a:p>
            <a:pPr algn="l">
              <a:lnSpc>
                <a:spcPct val="112000"/>
              </a:lnSpc>
            </a:pPr>
            <a:r>
              <a:rPr sz="1300" b="0" i="0">
                <a:solidFill>
                  <a:srgbClr val="28495A"/>
                </a:solidFill>
                <a:latin typeface="Courier New"/>
              </a:rPr>
              <a:t>    TYPE vector_similarity('hnsw', 'L2Distance', 768, 'bf16', 16, 128)</a:t>
            </a:r>
          </a:p>
          <a:p>
            <a:pPr algn="l">
              <a:lnSpc>
                <a:spcPct val="112000"/>
              </a:lnSpc>
            </a:pPr>
            <a:r>
              <a:rPr sz="1300" b="0" i="0">
                <a:solidFill>
                  <a:srgbClr val="28495A"/>
                </a:solidFill>
                <a:latin typeface="Courier New"/>
              </a:rPr>
              <a:t>    GRANULARITY 100000000;</a:t>
            </a:r>
          </a:p>
          <a:p>
            <a:pPr algn="l">
              <a:lnSpc>
                <a:spcPct val="112000"/>
              </a:lnSpc>
            </a:pPr>
            <a:r>
              <a:rPr sz="1300" b="0" i="0">
                <a:solidFill>
                  <a:srgbClr val="28495A"/>
                </a:solidFill>
                <a:latin typeface="Courier New"/>
              </a:rPr>
              <a:t>ALTER TABLE ch_docs MATERIALIZE INDEX vi;</a:t>
            </a:r>
          </a:p>
        </p:txBody>
      </p:sp>
      <p:sp>
        <p:nvSpPr>
          <p:cNvPr id="6" name="mbl:txt:2" descr="{&quot;mbl&quot;: 1, &quot;c&quot;: &quot;txt&quot;, &quot;i&quot;: 2}"/>
          <p:cNvSpPr txBox="1"/>
          <p:nvPr/>
        </p:nvSpPr>
        <p:spPr>
          <a:xfrm>
            <a:off x="365760" y="4754880"/>
            <a:ext cx="11460175" cy="1188720"/>
          </a:xfrm>
          <a:prstGeom prst="rect">
            <a:avLst/>
          </a:prstGeom>
          <a:noFill/>
        </p:spPr>
        <p:txBody>
          <a:bodyPr wrap="square" anchor="t" lIns="0" rIns="0" tIns="0" bIns="0">
            <a:noAutofit/>
          </a:bodyPr>
          <a:lstStyle/>
          <a:p>
            <a:pPr algn="l">
              <a:lnSpc>
                <a:spcPct val="110000"/>
              </a:lnSpc>
            </a:pPr>
            <a:r>
              <a:rPr sz="1400" b="0" i="0">
                <a:solidFill>
                  <a:srgbClr val="567F8D"/>
                </a:solidFill>
                <a:latin typeface="Roboto"/>
              </a:rPr>
              <a:t>Build time is one CREATE INDEX, or for ClickHouse ADD INDEX plus MATERIALIZE INDEX, measured once per engine.</a:t>
            </a:r>
          </a:p>
          <a:p>
            <a:pPr algn="l">
              <a:lnSpc>
                <a:spcPct val="110000"/>
              </a:lnSpc>
            </a:pPr>
            <a:r>
              <a:rPr sz="1400" b="0" i="0">
                <a:solidFill>
                  <a:srgbClr val="567F8D"/>
                </a:solidFill>
                <a:latin typeface="Roboto"/>
              </a:rPr>
              <a:t>Postgres built serially (no parallel workers). WarehousePG builds on its 2 segments at the same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E25"/>
        </a:solidFill>
        <a:effectLst/>
      </p:bgPr>
    </p:bg>
    <p:spTree>
      <p:nvGrpSpPr>
        <p:cNvPr id="1" name=""/>
        <p:cNvGrpSpPr/>
        <p:nvPr/>
      </p:nvGrpSpPr>
      <p:grpSpPr/>
      <p:sp>
        <p:nvSpPr>
          <p:cNvPr id="2" name="mbl:gbar:1" descr="{&quot;mbl&quot;: 1, &quot;c&quot;: &quot;gbar&quot;, &quot;i&quot;: 1}"/>
          <p:cNvSpPr/>
          <p:nvPr/>
        </p:nvSpPr>
        <p:spPr>
          <a:xfrm>
            <a:off x="219456" y="2834640"/>
            <a:ext cx="82296" cy="658368"/>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xt:1" descr="{&quot;mbl&quot;: 1, &quot;c&quot;: &quot;txt&quot;, &quot;i&quot;: 1}"/>
          <p:cNvSpPr txBox="1"/>
          <p:nvPr/>
        </p:nvSpPr>
        <p:spPr>
          <a:xfrm>
            <a:off x="365760" y="2834640"/>
            <a:ext cx="11094415" cy="658368"/>
          </a:xfrm>
          <a:prstGeom prst="rect">
            <a:avLst/>
          </a:prstGeom>
          <a:noFill/>
        </p:spPr>
        <p:txBody>
          <a:bodyPr wrap="square" anchor="ctr" lIns="0" rIns="0" tIns="0" bIns="0">
            <a:noAutofit/>
          </a:bodyPr>
          <a:lstStyle/>
          <a:p>
            <a:pPr algn="l">
              <a:lnSpc>
                <a:spcPct val="100000"/>
              </a:lnSpc>
            </a:pPr>
            <a:r>
              <a:rPr sz="3400" b="1" i="0">
                <a:solidFill>
                  <a:srgbClr val="FFFFFF"/>
                </a:solidFill>
                <a:latin typeface="Roboto Condensed"/>
              </a:rPr>
              <a:t>THE RESULTS</a:t>
            </a:r>
          </a:p>
        </p:txBody>
      </p:sp>
      <p:sp>
        <p:nvSpPr>
          <p:cNvPr id="4" name="mbl:txt:2" descr="{&quot;mbl&quot;: 1, &quot;c&quot;: &quot;txt&quot;, &quot;i&quot;: 2}"/>
          <p:cNvSpPr txBox="1"/>
          <p:nvPr/>
        </p:nvSpPr>
        <p:spPr>
          <a:xfrm>
            <a:off x="365760" y="3584448"/>
            <a:ext cx="11094415" cy="274320"/>
          </a:xfrm>
          <a:prstGeom prst="rect">
            <a:avLst/>
          </a:prstGeom>
          <a:noFill/>
        </p:spPr>
        <p:txBody>
          <a:bodyPr wrap="square" anchor="t" lIns="0" rIns="0" tIns="0" bIns="0">
            <a:noAutofit/>
          </a:bodyPr>
          <a:lstStyle/>
          <a:p>
            <a:pPr algn="l">
              <a:lnSpc>
                <a:spcPct val="100000"/>
              </a:lnSpc>
            </a:pPr>
            <a:r>
              <a:rPr sz="1400" b="0" i="0">
                <a:solidFill>
                  <a:srgbClr val="A8C2CA"/>
                </a:solidFill>
                <a:latin typeface="Roboto"/>
              </a:rPr>
              <a:t>1M and 2M rows, recall against latency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SIX SWEEPS; THE 2M FIGURES USE THE QUIETEST OF FOUR RUNS</a:t>
            </a:r>
          </a:p>
        </p:txBody>
      </p:sp>
      <p:sp>
        <p:nvSpPr>
          <p:cNvPr id="4" name="mbl:txt:1" descr="{&quot;mbl&quot;: 1, &quot;c&quot;: &quot;txt&quot;, &quot;i&quot;: 1}"/>
          <p:cNvSpPr txBox="1"/>
          <p:nvPr/>
        </p:nvSpPr>
        <p:spPr>
          <a:xfrm>
            <a:off x="365760" y="1417320"/>
            <a:ext cx="621792"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RUN</a:t>
            </a:r>
          </a:p>
        </p:txBody>
      </p:sp>
      <p:sp>
        <p:nvSpPr>
          <p:cNvPr id="5" name="mbl:txt:2" descr="{&quot;mbl&quot;: 1, &quot;c&quot;: &quot;txt&quot;, &quot;i&quot;: 2}"/>
          <p:cNvSpPr txBox="1"/>
          <p:nvPr/>
        </p:nvSpPr>
        <p:spPr>
          <a:xfrm>
            <a:off x="1097280" y="1417320"/>
            <a:ext cx="1627631"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SAVED</a:t>
            </a:r>
          </a:p>
        </p:txBody>
      </p:sp>
      <p:sp>
        <p:nvSpPr>
          <p:cNvPr id="6" name="mbl:txt:3" descr="{&quot;mbl&quot;: 1, &quot;c&quot;: &quot;txt&quot;, &quot;i&quot;: 3}"/>
          <p:cNvSpPr txBox="1"/>
          <p:nvPr/>
        </p:nvSpPr>
        <p:spPr>
          <a:xfrm>
            <a:off x="2834640" y="1417320"/>
            <a:ext cx="804672"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ROWS</a:t>
            </a:r>
          </a:p>
        </p:txBody>
      </p:sp>
      <p:sp>
        <p:nvSpPr>
          <p:cNvPr id="7" name="mbl:txt:4" descr="{&quot;mbl&quot;: 1, &quot;c&quot;: &quot;txt&quot;, &quot;i&quot;: 4}"/>
          <p:cNvSpPr txBox="1"/>
          <p:nvPr/>
        </p:nvSpPr>
        <p:spPr>
          <a:xfrm>
            <a:off x="3749039" y="1417320"/>
            <a:ext cx="987552"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ENGINES</a:t>
            </a:r>
          </a:p>
        </p:txBody>
      </p:sp>
      <p:sp>
        <p:nvSpPr>
          <p:cNvPr id="8" name="mbl:txt:5" descr="{&quot;mbl&quot;: 1, &quot;c&quot;: &quot;txt&quot;, &quot;i&quot;: 5}"/>
          <p:cNvSpPr txBox="1"/>
          <p:nvPr/>
        </p:nvSpPr>
        <p:spPr>
          <a:xfrm>
            <a:off x="4846320" y="1417320"/>
            <a:ext cx="6869887"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WHAT TO KNOW</a:t>
            </a:r>
          </a:p>
        </p:txBody>
      </p:sp>
      <p:cxnSp>
        <p:nvCxnSpPr>
          <p:cNvPr id="9" name="mbl:hrule:1" descr="{&quot;mbl&quot;: 1, &quot;c&quot;: &quot;hrule&quot;, &quot;i&quot;: 1}"/>
          <p:cNvCxnSpPr/>
          <p:nvPr/>
        </p:nvCxnSpPr>
        <p:spPr>
          <a:xfrm>
            <a:off x="365760" y="1728216"/>
            <a:ext cx="11460175" cy="0"/>
          </a:xfrm>
          <a:prstGeom prst="line">
            <a:avLst/>
          </a:prstGeom>
          <a:ln w="25400">
            <a:solidFill>
              <a:srgbClr val="28495A"/>
            </a:solidFill>
          </a:ln>
          <a:effectLst/>
        </p:spPr>
        <p:style>
          <a:lnRef idx="2">
            <a:schemeClr val="accent1"/>
          </a:lnRef>
          <a:fillRef idx="0">
            <a:schemeClr val="accent1"/>
          </a:fillRef>
          <a:effectRef idx="0">
            <a:schemeClr val="accent1"/>
          </a:effectRef>
          <a:fontRef idx="minor">
            <a:schemeClr val="tx1"/>
          </a:fontRef>
        </p:style>
      </p:cxnSp>
      <p:sp>
        <p:nvSpPr>
          <p:cNvPr id="10" name="mbl:txt:6" descr="{&quot;mbl&quot;: 1, &quot;c&quot;: &quot;txt&quot;, &quot;i&quot;: 6}"/>
          <p:cNvSpPr txBox="1"/>
          <p:nvPr/>
        </p:nvSpPr>
        <p:spPr>
          <a:xfrm>
            <a:off x="365760" y="1801368"/>
            <a:ext cx="621792" cy="560832"/>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1</a:t>
            </a:r>
          </a:p>
        </p:txBody>
      </p:sp>
      <p:sp>
        <p:nvSpPr>
          <p:cNvPr id="11" name="mbl:txt:7" descr="{&quot;mbl&quot;: 1, &quot;c&quot;: &quot;txt&quot;, &quot;i&quot;: 7}"/>
          <p:cNvSpPr txBox="1"/>
          <p:nvPr/>
        </p:nvSpPr>
        <p:spPr>
          <a:xfrm>
            <a:off x="1097280" y="1801368"/>
            <a:ext cx="1627631"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22 Oct, 11:12</a:t>
            </a:r>
          </a:p>
        </p:txBody>
      </p:sp>
      <p:sp>
        <p:nvSpPr>
          <p:cNvPr id="12" name="mbl:txt:8" descr="{&quot;mbl&quot;: 1, &quot;c&quot;: &quot;txt&quot;, &quot;i&quot;: 8}"/>
          <p:cNvSpPr txBox="1"/>
          <p:nvPr/>
        </p:nvSpPr>
        <p:spPr>
          <a:xfrm>
            <a:off x="2834640" y="1801368"/>
            <a:ext cx="804672"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1M</a:t>
            </a:r>
          </a:p>
        </p:txBody>
      </p:sp>
      <p:sp>
        <p:nvSpPr>
          <p:cNvPr id="13" name="mbl:txt:9" descr="{&quot;mbl&quot;: 1, &quot;c&quot;: &quot;txt&quot;, &quot;i&quot;: 9}"/>
          <p:cNvSpPr txBox="1"/>
          <p:nvPr/>
        </p:nvSpPr>
        <p:spPr>
          <a:xfrm>
            <a:off x="3749039" y="1801368"/>
            <a:ext cx="987552"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6</a:t>
            </a:r>
          </a:p>
        </p:txBody>
      </p:sp>
      <p:sp>
        <p:nvSpPr>
          <p:cNvPr id="14" name="mbl:txt:10" descr="{&quot;mbl&quot;: 1, &quot;c&quot;: &quot;txt&quot;, &quot;i&quot;: 10}"/>
          <p:cNvSpPr txBox="1"/>
          <p:nvPr/>
        </p:nvSpPr>
        <p:spPr>
          <a:xfrm>
            <a:off x="4846320" y="1801368"/>
            <a:ext cx="6869887"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Includes HNSW; each engine used its own setting list; a single run.</a:t>
            </a:r>
          </a:p>
        </p:txBody>
      </p:sp>
      <p:cxnSp>
        <p:nvCxnSpPr>
          <p:cNvPr id="15" name="mbl:hrule:2" descr="{&quot;mbl&quot;: 1, &quot;c&quot;: &quot;hrule&quot;, &quot;i&quot;: 2}"/>
          <p:cNvCxnSpPr/>
          <p:nvPr/>
        </p:nvCxnSpPr>
        <p:spPr>
          <a:xfrm>
            <a:off x="365760" y="2362200"/>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6" name="mbl:txt:11" descr="{&quot;mbl&quot;: 1, &quot;c&quot;: &quot;txt&quot;, &quot;i&quot;: 11}"/>
          <p:cNvSpPr txBox="1"/>
          <p:nvPr/>
        </p:nvSpPr>
        <p:spPr>
          <a:xfrm>
            <a:off x="365760" y="2362200"/>
            <a:ext cx="621792" cy="560832"/>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2</a:t>
            </a:r>
          </a:p>
        </p:txBody>
      </p:sp>
      <p:sp>
        <p:nvSpPr>
          <p:cNvPr id="17" name="mbl:txt:12" descr="{&quot;mbl&quot;: 1, &quot;c&quot;: &quot;txt&quot;, &quot;i&quot;: 12}"/>
          <p:cNvSpPr txBox="1"/>
          <p:nvPr/>
        </p:nvSpPr>
        <p:spPr>
          <a:xfrm>
            <a:off x="1097280" y="2362200"/>
            <a:ext cx="1627631"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22 Oct, 16:09</a:t>
            </a:r>
          </a:p>
        </p:txBody>
      </p:sp>
      <p:sp>
        <p:nvSpPr>
          <p:cNvPr id="18" name="mbl:txt:13" descr="{&quot;mbl&quot;: 1, &quot;c&quot;: &quot;txt&quot;, &quot;i&quot;: 13}"/>
          <p:cNvSpPr txBox="1"/>
          <p:nvPr/>
        </p:nvSpPr>
        <p:spPr>
          <a:xfrm>
            <a:off x="2834640" y="2362200"/>
            <a:ext cx="804672"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2M</a:t>
            </a:r>
          </a:p>
        </p:txBody>
      </p:sp>
      <p:sp>
        <p:nvSpPr>
          <p:cNvPr id="19" name="mbl:txt:14" descr="{&quot;mbl&quot;: 1, &quot;c&quot;: &quot;txt&quot;, &quot;i&quot;: 14}"/>
          <p:cNvSpPr txBox="1"/>
          <p:nvPr/>
        </p:nvSpPr>
        <p:spPr>
          <a:xfrm>
            <a:off x="3749039" y="2362200"/>
            <a:ext cx="987552"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5</a:t>
            </a:r>
          </a:p>
        </p:txBody>
      </p:sp>
      <p:sp>
        <p:nvSpPr>
          <p:cNvPr id="20" name="mbl:txt:15" descr="{&quot;mbl&quot;: 1, &quot;c&quot;: &quot;txt&quot;, &quot;i&quot;: 15}"/>
          <p:cNvSpPr txBox="1"/>
          <p:nvPr/>
        </p:nvSpPr>
        <p:spPr>
          <a:xfrm>
            <a:off x="4846320" y="2362200"/>
            <a:ext cx="6869887" cy="560832"/>
          </a:xfrm>
          <a:prstGeom prst="rect">
            <a:avLst/>
          </a:prstGeom>
          <a:noFill/>
        </p:spPr>
        <p:txBody>
          <a:bodyPr wrap="square" anchor="ctr" lIns="0" rIns="0" tIns="0" bIns="0">
            <a:noAutofit/>
          </a:bodyPr>
          <a:lstStyle/>
          <a:p>
            <a:pPr algn="l">
              <a:lnSpc>
                <a:spcPct val="100000"/>
              </a:lnSpc>
            </a:pPr>
            <a:r>
              <a:rPr sz="1300" b="0" i="0">
                <a:solidFill>
                  <a:srgbClr val="567F8D"/>
                </a:solidFill>
                <a:latin typeface="Roboto"/>
              </a:rPr>
              <a:t>Set aside: the WarehousePG IVFFlat index was rebuilt afterwards (recall at 16 probes 0.928, then 0.916).</a:t>
            </a:r>
          </a:p>
        </p:txBody>
      </p:sp>
      <p:cxnSp>
        <p:nvCxnSpPr>
          <p:cNvPr id="21" name="mbl:hrule:3" descr="{&quot;mbl&quot;: 1, &quot;c&quot;: &quot;hrule&quot;, &quot;i&quot;: 3}"/>
          <p:cNvCxnSpPr/>
          <p:nvPr/>
        </p:nvCxnSpPr>
        <p:spPr>
          <a:xfrm>
            <a:off x="365760" y="2923032"/>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2" name="mbl:txt:16" descr="{&quot;mbl&quot;: 1, &quot;c&quot;: &quot;txt&quot;, &quot;i&quot;: 16}"/>
          <p:cNvSpPr txBox="1"/>
          <p:nvPr/>
        </p:nvSpPr>
        <p:spPr>
          <a:xfrm>
            <a:off x="365760" y="2923032"/>
            <a:ext cx="621792" cy="560832"/>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3</a:t>
            </a:r>
          </a:p>
        </p:txBody>
      </p:sp>
      <p:sp>
        <p:nvSpPr>
          <p:cNvPr id="23" name="mbl:txt:17" descr="{&quot;mbl&quot;: 1, &quot;c&quot;: &quot;txt&quot;, &quot;i&quot;: 17}"/>
          <p:cNvSpPr txBox="1"/>
          <p:nvPr/>
        </p:nvSpPr>
        <p:spPr>
          <a:xfrm>
            <a:off x="1097280" y="2923032"/>
            <a:ext cx="1627631"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23 Oct, 06:33</a:t>
            </a:r>
          </a:p>
        </p:txBody>
      </p:sp>
      <p:sp>
        <p:nvSpPr>
          <p:cNvPr id="24" name="mbl:txt:18" descr="{&quot;mbl&quot;: 1, &quot;c&quot;: &quot;txt&quot;, &quot;i&quot;: 18}"/>
          <p:cNvSpPr txBox="1"/>
          <p:nvPr/>
        </p:nvSpPr>
        <p:spPr>
          <a:xfrm>
            <a:off x="2834640" y="2923032"/>
            <a:ext cx="804672"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2M</a:t>
            </a:r>
          </a:p>
        </p:txBody>
      </p:sp>
      <p:sp>
        <p:nvSpPr>
          <p:cNvPr id="25" name="mbl:txt:19" descr="{&quot;mbl&quot;: 1, &quot;c&quot;: &quot;txt&quot;, &quot;i&quot;: 19}"/>
          <p:cNvSpPr txBox="1"/>
          <p:nvPr/>
        </p:nvSpPr>
        <p:spPr>
          <a:xfrm>
            <a:off x="3749039" y="2923032"/>
            <a:ext cx="987552"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6</a:t>
            </a:r>
          </a:p>
        </p:txBody>
      </p:sp>
      <p:sp>
        <p:nvSpPr>
          <p:cNvPr id="26" name="mbl:txt:20" descr="{&quot;mbl&quot;: 1, &quot;c&quot;: &quot;txt&quot;, &quot;i&quot;: 20}"/>
          <p:cNvSpPr txBox="1"/>
          <p:nvPr/>
        </p:nvSpPr>
        <p:spPr>
          <a:xfrm>
            <a:off x="4846320" y="2923032"/>
            <a:ext cx="6869887"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First sweep with ClickHouse; the exact baseline was computed here.</a:t>
            </a:r>
          </a:p>
        </p:txBody>
      </p:sp>
      <p:cxnSp>
        <p:nvCxnSpPr>
          <p:cNvPr id="27" name="mbl:hrule:4" descr="{&quot;mbl&quot;: 1, &quot;c&quot;: &quot;hrule&quot;, &quot;i&quot;: 4}"/>
          <p:cNvCxnSpPr/>
          <p:nvPr/>
        </p:nvCxnSpPr>
        <p:spPr>
          <a:xfrm>
            <a:off x="365760" y="3483864"/>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8" name="mbl:txt:21" descr="{&quot;mbl&quot;: 1, &quot;c&quot;: &quot;txt&quot;, &quot;i&quot;: 21}"/>
          <p:cNvSpPr txBox="1"/>
          <p:nvPr/>
        </p:nvSpPr>
        <p:spPr>
          <a:xfrm>
            <a:off x="365760" y="3483864"/>
            <a:ext cx="621792" cy="560832"/>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4</a:t>
            </a:r>
          </a:p>
        </p:txBody>
      </p:sp>
      <p:sp>
        <p:nvSpPr>
          <p:cNvPr id="29" name="mbl:txt:22" descr="{&quot;mbl&quot;: 1, &quot;c&quot;: &quot;txt&quot;, &quot;i&quot;: 22}"/>
          <p:cNvSpPr txBox="1"/>
          <p:nvPr/>
        </p:nvSpPr>
        <p:spPr>
          <a:xfrm>
            <a:off x="1097280" y="3483864"/>
            <a:ext cx="1627631"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23 Oct, 07:54</a:t>
            </a:r>
          </a:p>
        </p:txBody>
      </p:sp>
      <p:sp>
        <p:nvSpPr>
          <p:cNvPr id="30" name="mbl:txt:23" descr="{&quot;mbl&quot;: 1, &quot;c&quot;: &quot;txt&quot;, &quot;i&quot;: 23}"/>
          <p:cNvSpPr txBox="1"/>
          <p:nvPr/>
        </p:nvSpPr>
        <p:spPr>
          <a:xfrm>
            <a:off x="2834640" y="3483864"/>
            <a:ext cx="804672"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2M</a:t>
            </a:r>
          </a:p>
        </p:txBody>
      </p:sp>
      <p:sp>
        <p:nvSpPr>
          <p:cNvPr id="31" name="mbl:txt:24" descr="{&quot;mbl&quot;: 1, &quot;c&quot;: &quot;txt&quot;, &quot;i&quot;: 24}"/>
          <p:cNvSpPr txBox="1"/>
          <p:nvPr/>
        </p:nvSpPr>
        <p:spPr>
          <a:xfrm>
            <a:off x="3749039" y="3483864"/>
            <a:ext cx="987552"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6</a:t>
            </a:r>
          </a:p>
        </p:txBody>
      </p:sp>
      <p:sp>
        <p:nvSpPr>
          <p:cNvPr id="32" name="mbl:txt:25" descr="{&quot;mbl&quot;: 1, &quot;c&quot;: &quot;txt&quot;, &quot;i&quot;: 25}"/>
          <p:cNvSpPr txBox="1"/>
          <p:nvPr/>
        </p:nvSpPr>
        <p:spPr>
          <a:xfrm>
            <a:off x="4846320" y="3483864"/>
            <a:ext cx="6869887"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ClickHouse again; the baseline was reused.</a:t>
            </a:r>
          </a:p>
        </p:txBody>
      </p:sp>
      <p:cxnSp>
        <p:nvCxnSpPr>
          <p:cNvPr id="33" name="mbl:hrule:5" descr="{&quot;mbl&quot;: 1, &quot;c&quot;: &quot;hrule&quot;, &quot;i&quot;: 5}"/>
          <p:cNvCxnSpPr/>
          <p:nvPr/>
        </p:nvCxnSpPr>
        <p:spPr>
          <a:xfrm>
            <a:off x="365760" y="4044696"/>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34" name="mbl:txt:26" descr="{&quot;mbl&quot;: 1, &quot;c&quot;: &quot;txt&quot;, &quot;i&quot;: 26}"/>
          <p:cNvSpPr txBox="1"/>
          <p:nvPr/>
        </p:nvSpPr>
        <p:spPr>
          <a:xfrm>
            <a:off x="365760" y="4044696"/>
            <a:ext cx="621792" cy="560832"/>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5</a:t>
            </a:r>
          </a:p>
        </p:txBody>
      </p:sp>
      <p:sp>
        <p:nvSpPr>
          <p:cNvPr id="35" name="mbl:txt:27" descr="{&quot;mbl&quot;: 1, &quot;c&quot;: &quot;txt&quot;, &quot;i&quot;: 27}"/>
          <p:cNvSpPr txBox="1"/>
          <p:nvPr/>
        </p:nvSpPr>
        <p:spPr>
          <a:xfrm>
            <a:off x="1097280" y="4044696"/>
            <a:ext cx="1627631"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23 Oct, 08:19</a:t>
            </a:r>
          </a:p>
        </p:txBody>
      </p:sp>
      <p:sp>
        <p:nvSpPr>
          <p:cNvPr id="36" name="mbl:txt:28" descr="{&quot;mbl&quot;: 1, &quot;c&quot;: &quot;txt&quot;, &quot;i&quot;: 28}"/>
          <p:cNvSpPr txBox="1"/>
          <p:nvPr/>
        </p:nvSpPr>
        <p:spPr>
          <a:xfrm>
            <a:off x="2834640" y="4044696"/>
            <a:ext cx="804672"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2M</a:t>
            </a:r>
          </a:p>
        </p:txBody>
      </p:sp>
      <p:sp>
        <p:nvSpPr>
          <p:cNvPr id="37" name="mbl:txt:29" descr="{&quot;mbl&quot;: 1, &quot;c&quot;: &quot;txt&quot;, &quot;i&quot;: 29}"/>
          <p:cNvSpPr txBox="1"/>
          <p:nvPr/>
        </p:nvSpPr>
        <p:spPr>
          <a:xfrm>
            <a:off x="3749039" y="4044696"/>
            <a:ext cx="987552"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5</a:t>
            </a:r>
          </a:p>
        </p:txBody>
      </p:sp>
      <p:sp>
        <p:nvSpPr>
          <p:cNvPr id="38" name="mbl:txt:30" descr="{&quot;mbl&quot;: 1, &quot;c&quot;: &quot;txt&quot;, &quot;i&quot;: 30}"/>
          <p:cNvSpPr txBox="1"/>
          <p:nvPr/>
        </p:nvSpPr>
        <p:spPr>
          <a:xfrm>
            <a:off x="4846320" y="4044696"/>
            <a:ext cx="6869887"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No ClickHouse; the baseline was reused; the cleanest latency of runs 3 to 5.</a:t>
            </a:r>
          </a:p>
        </p:txBody>
      </p:sp>
      <p:cxnSp>
        <p:nvCxnSpPr>
          <p:cNvPr id="39" name="mbl:hrule:6" descr="{&quot;mbl&quot;: 1, &quot;c&quot;: &quot;hrule&quot;, &quot;i&quot;: 6}"/>
          <p:cNvCxnSpPr/>
          <p:nvPr/>
        </p:nvCxnSpPr>
        <p:spPr>
          <a:xfrm>
            <a:off x="365760" y="4605528"/>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40" name="mbl:txt:31" descr="{&quot;mbl&quot;: 1, &quot;c&quot;: &quot;txt&quot;, &quot;i&quot;: 31}"/>
          <p:cNvSpPr txBox="1"/>
          <p:nvPr/>
        </p:nvSpPr>
        <p:spPr>
          <a:xfrm>
            <a:off x="365760" y="4605528"/>
            <a:ext cx="621792" cy="560832"/>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6</a:t>
            </a:r>
          </a:p>
        </p:txBody>
      </p:sp>
      <p:sp>
        <p:nvSpPr>
          <p:cNvPr id="41" name="mbl:txt:32" descr="{&quot;mbl&quot;: 1, &quot;c&quot;: &quot;txt&quot;, &quot;i&quot;: 32}"/>
          <p:cNvSpPr txBox="1"/>
          <p:nvPr/>
        </p:nvSpPr>
        <p:spPr>
          <a:xfrm>
            <a:off x="1097280" y="4605528"/>
            <a:ext cx="1627631"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23 Oct, 10:28</a:t>
            </a:r>
          </a:p>
        </p:txBody>
      </p:sp>
      <p:sp>
        <p:nvSpPr>
          <p:cNvPr id="42" name="mbl:txt:33" descr="{&quot;mbl&quot;: 1, &quot;c&quot;: &quot;txt&quot;, &quot;i&quot;: 33}"/>
          <p:cNvSpPr txBox="1"/>
          <p:nvPr/>
        </p:nvSpPr>
        <p:spPr>
          <a:xfrm>
            <a:off x="2834640" y="4605528"/>
            <a:ext cx="804672"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2M</a:t>
            </a:r>
          </a:p>
        </p:txBody>
      </p:sp>
      <p:sp>
        <p:nvSpPr>
          <p:cNvPr id="43" name="mbl:txt:34" descr="{&quot;mbl&quot;: 1, &quot;c&quot;: &quot;txt&quot;, &quot;i&quot;: 34}"/>
          <p:cNvSpPr txBox="1"/>
          <p:nvPr/>
        </p:nvSpPr>
        <p:spPr>
          <a:xfrm>
            <a:off x="3749039" y="4605528"/>
            <a:ext cx="987552"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4</a:t>
            </a:r>
          </a:p>
        </p:txBody>
      </p:sp>
      <p:sp>
        <p:nvSpPr>
          <p:cNvPr id="44" name="mbl:txt:35" descr="{&quot;mbl&quot;: 1, &quot;c&quot;: &quot;txt&quot;, &quot;i&quot;: 35}"/>
          <p:cNvSpPr txBox="1"/>
          <p:nvPr/>
        </p:nvSpPr>
        <p:spPr>
          <a:xfrm>
            <a:off x="4846320" y="4605528"/>
            <a:ext cx="6869887" cy="560832"/>
          </a:xfrm>
          <a:prstGeom prst="rect">
            <a:avLst/>
          </a:prstGeom>
          <a:noFill/>
        </p:spPr>
        <p:txBody>
          <a:bodyPr wrap="square" anchor="ctr" lIns="0" rIns="0" tIns="0" bIns="0">
            <a:noAutofit/>
          </a:bodyPr>
          <a:lstStyle/>
          <a:p>
            <a:pPr algn="l">
              <a:lnSpc>
                <a:spcPct val="100000"/>
              </a:lnSpc>
            </a:pPr>
            <a:r>
              <a:rPr sz="1300" b="0" i="0">
                <a:solidFill>
                  <a:srgbClr val="28495A"/>
                </a:solidFill>
                <a:latin typeface="Roboto"/>
              </a:rPr>
              <a:t>Ladder extended to 256 probes; no ClickHouse or WarehousePG ivfplus; reproduces run 5.</a:t>
            </a:r>
          </a:p>
        </p:txBody>
      </p:sp>
      <p:sp>
        <p:nvSpPr>
          <p:cNvPr id="45" name="mbl:txt:36" descr="{&quot;mbl&quot;: 1, &quot;c&quot;: &quot;txt&quot;, &quot;i&quot;: 36}"/>
          <p:cNvSpPr txBox="1"/>
          <p:nvPr/>
        </p:nvSpPr>
        <p:spPr>
          <a:xfrm>
            <a:off x="365760" y="5349240"/>
            <a:ext cx="11460175" cy="77724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Recall is identical in runs 3 to 6, because the queries, the exact baseline and the indexes did not change. For each 2M setting the figure used here is the lowest latency of the runs that measured it; settings above 32 probes come from run 6 alone.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AT 1M ROWS IVFPLUS ON WAREHOUSEPG REACHED 90% RECALL IN 4 MS</a:t>
            </a:r>
          </a:p>
        </p:txBody>
      </p:sp>
      <p:graphicFrame>
        <p:nvGraphicFramePr>
          <p:cNvPr id="4" name="mbl:chart:1" descr="{&quot;mbl&quot;: 1, &quot;c&quot;: &quot;chart&quot;, &quot;i&quot;: 1}"/>
          <p:cNvGraphicFramePr>
            <a:graphicFrameLocks noGrp="1"/>
          </p:cNvGraphicFramePr>
          <p:nvPr/>
        </p:nvGraphicFramePr>
        <p:xfrm>
          <a:off x="365760" y="1417320"/>
          <a:ext cx="8138160" cy="4709160"/>
        </p:xfrm>
        <a:graphic>
          <a:graphicData uri="http://schemas.openxmlformats.org/drawingml/2006/chart">
            <c:chart xmlns:c="http://schemas.openxmlformats.org/drawingml/2006/chart" r:id="rId2"/>
          </a:graphicData>
        </a:graphic>
      </p:graphicFrame>
      <p:cxnSp>
        <p:nvCxnSpPr>
          <p:cNvPr id="5" name="mbl:vrule:1" descr="{&quot;mbl&quot;: 1, &quot;c&quot;: &quot;vrule&quot;, &quot;i&quot;: 1}"/>
          <p:cNvCxnSpPr/>
          <p:nvPr/>
        </p:nvCxnSpPr>
        <p:spPr>
          <a:xfrm>
            <a:off x="8732520" y="1508760"/>
            <a:ext cx="0" cy="4526280"/>
          </a:xfrm>
          <a:prstGeom prst="line">
            <a:avLst/>
          </a:prstGeom>
          <a:ln w="12700">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6" name="mbl:panel:1" descr="{&quot;mbl&quot;: 1, &quot;c&quot;: &quot;panel&quot;, &quot;i&quot;: 1}"/>
          <p:cNvSpPr/>
          <p:nvPr/>
        </p:nvSpPr>
        <p:spPr>
          <a:xfrm>
            <a:off x="8897112" y="1463040"/>
            <a:ext cx="3035808" cy="1600200"/>
          </a:xfrm>
          <a:prstGeom prst="roundRect">
            <a:avLst>
              <a:gd name="adj" fmla="val 1497"/>
            </a:avLst>
          </a:prstGeom>
          <a:solidFill>
            <a:srgbClr val="1E3D4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7" name="mbl:txt:1" descr="{&quot;mbl&quot;: 1, &quot;c&quot;: &quot;txt&quot;, &quot;i&quot;: 1}"/>
          <p:cNvSpPr txBox="1"/>
          <p:nvPr/>
        </p:nvSpPr>
        <p:spPr>
          <a:xfrm>
            <a:off x="9006840" y="1554480"/>
            <a:ext cx="2816352" cy="566928"/>
          </a:xfrm>
          <a:prstGeom prst="rect">
            <a:avLst/>
          </a:prstGeom>
          <a:noFill/>
        </p:spPr>
        <p:txBody>
          <a:bodyPr wrap="square" anchor="ctr" lIns="0" rIns="0" tIns="0" bIns="0">
            <a:noAutofit/>
          </a:bodyPr>
          <a:lstStyle/>
          <a:p>
            <a:pPr algn="l">
              <a:lnSpc>
                <a:spcPct val="100000"/>
              </a:lnSpc>
            </a:pPr>
            <a:r>
              <a:rPr sz="3600" b="1" i="0">
                <a:solidFill>
                  <a:srgbClr val="FFFFFF"/>
                </a:solidFill>
                <a:latin typeface="Roboto Condensed"/>
              </a:rPr>
              <a:t>4.0 ms</a:t>
            </a:r>
          </a:p>
        </p:txBody>
      </p:sp>
      <p:sp>
        <p:nvSpPr>
          <p:cNvPr id="8" name="mbl:txt:2" descr="{&quot;mbl&quot;: 1, &quot;c&quot;: &quot;txt&quot;, &quot;i&quot;: 2}"/>
          <p:cNvSpPr txBox="1"/>
          <p:nvPr/>
        </p:nvSpPr>
        <p:spPr>
          <a:xfrm>
            <a:off x="9006840" y="2148840"/>
            <a:ext cx="2816352" cy="868680"/>
          </a:xfrm>
          <a:prstGeom prst="rect">
            <a:avLst/>
          </a:prstGeom>
          <a:noFill/>
        </p:spPr>
        <p:txBody>
          <a:bodyPr wrap="square" anchor="t" lIns="0" rIns="0" tIns="0" bIns="0">
            <a:noAutofit/>
          </a:bodyPr>
          <a:lstStyle/>
          <a:p>
            <a:pPr algn="l">
              <a:lnSpc>
                <a:spcPct val="100000"/>
              </a:lnSpc>
            </a:pPr>
            <a:r>
              <a:rPr sz="1300" b="0" i="0">
                <a:solidFill>
                  <a:srgbClr val="A8C2CA"/>
                </a:solidFill>
                <a:latin typeface="Roboto"/>
              </a:rPr>
              <a:t>ivfplus on WarehousePG at 91% recall, 16 probes</a:t>
            </a:r>
          </a:p>
        </p:txBody>
      </p:sp>
      <p:sp>
        <p:nvSpPr>
          <p:cNvPr id="9" name="mbl:txt:3" descr="{&quot;mbl&quot;: 1, &quot;c&quot;: &quot;txt&quot;, &quot;i&quot;: 3}"/>
          <p:cNvSpPr txBox="1"/>
          <p:nvPr/>
        </p:nvSpPr>
        <p:spPr>
          <a:xfrm>
            <a:off x="9006840" y="3291839"/>
            <a:ext cx="2816352" cy="603504"/>
          </a:xfrm>
          <a:prstGeom prst="rect">
            <a:avLst/>
          </a:prstGeom>
          <a:noFill/>
        </p:spPr>
        <p:txBody>
          <a:bodyPr wrap="square" anchor="ctr" lIns="0" rIns="0" tIns="0" bIns="0">
            <a:noAutofit/>
          </a:bodyPr>
          <a:lstStyle/>
          <a:p>
            <a:pPr algn="l">
              <a:lnSpc>
                <a:spcPct val="100000"/>
              </a:lnSpc>
            </a:pPr>
            <a:r>
              <a:rPr sz="3000" b="1" i="0">
                <a:solidFill>
                  <a:srgbClr val="28495A"/>
                </a:solidFill>
                <a:latin typeface="Roboto Condensed"/>
              </a:rPr>
              <a:t>12.6 ms</a:t>
            </a:r>
          </a:p>
        </p:txBody>
      </p:sp>
      <p:sp>
        <p:nvSpPr>
          <p:cNvPr id="10" name="mbl:txt:4" descr="{&quot;mbl&quot;: 1, &quot;c&quot;: &quot;txt&quot;, &quot;i&quot;: 4}"/>
          <p:cNvSpPr txBox="1"/>
          <p:nvPr/>
        </p:nvSpPr>
        <p:spPr>
          <a:xfrm>
            <a:off x="9006840" y="3931920"/>
            <a:ext cx="2816352" cy="45720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IVFFlat on WarehousePG at 95% recall</a:t>
            </a:r>
          </a:p>
        </p:txBody>
      </p:sp>
      <p:sp>
        <p:nvSpPr>
          <p:cNvPr id="11" name="mbl:txt:5" descr="{&quot;mbl&quot;: 1, &quot;c&quot;: &quot;txt&quot;, &quot;i&quot;: 5}"/>
          <p:cNvSpPr txBox="1"/>
          <p:nvPr/>
        </p:nvSpPr>
        <p:spPr>
          <a:xfrm>
            <a:off x="9006840" y="4389120"/>
            <a:ext cx="2816352" cy="603504"/>
          </a:xfrm>
          <a:prstGeom prst="rect">
            <a:avLst/>
          </a:prstGeom>
          <a:noFill/>
        </p:spPr>
        <p:txBody>
          <a:bodyPr wrap="square" anchor="ctr" lIns="0" rIns="0" tIns="0" bIns="0">
            <a:noAutofit/>
          </a:bodyPr>
          <a:lstStyle/>
          <a:p>
            <a:pPr algn="l">
              <a:lnSpc>
                <a:spcPct val="100000"/>
              </a:lnSpc>
            </a:pPr>
            <a:r>
              <a:rPr sz="3000" b="1" i="0">
                <a:solidFill>
                  <a:srgbClr val="28495A"/>
                </a:solidFill>
                <a:latin typeface="Roboto Condensed"/>
              </a:rPr>
              <a:t>16.9 ms</a:t>
            </a:r>
          </a:p>
        </p:txBody>
      </p:sp>
      <p:sp>
        <p:nvSpPr>
          <p:cNvPr id="12" name="mbl:txt:6" descr="{&quot;mbl&quot;: 1, &quot;c&quot;: &quot;txt&quot;, &quot;i&quot;: 6}"/>
          <p:cNvSpPr txBox="1"/>
          <p:nvPr/>
        </p:nvSpPr>
        <p:spPr>
          <a:xfrm>
            <a:off x="9006840" y="5029200"/>
            <a:ext cx="2816352" cy="45720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pgvector HNSW at 92% recall, ef_search 320</a:t>
            </a:r>
          </a:p>
        </p:txBody>
      </p:sp>
      <p:sp>
        <p:nvSpPr>
          <p:cNvPr id="13" name="mbl:txt:7" descr="{&quot;mbl&quot;: 1, &quot;c&quot;: &quot;txt&quot;, &quot;i&quot;: 7}"/>
          <p:cNvSpPr txBox="1"/>
          <p:nvPr/>
        </p:nvSpPr>
        <p:spPr>
          <a:xfrm>
            <a:off x="9006840" y="5486400"/>
            <a:ext cx="2816352" cy="64008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ivfplus on Postgres reached 0.88 after 16 probes, the end of its list. At 2M it plateaus at 0.886.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AT 2M ROWS THE ORDER HOLDS: WAREHOUSEPG IVFPLUS STAYS UNDER 7 MS</a:t>
            </a:r>
          </a:p>
        </p:txBody>
      </p:sp>
      <p:graphicFrame>
        <p:nvGraphicFramePr>
          <p:cNvPr id="4" name="mbl:chart:1" descr="{&quot;mbl&quot;: 1, &quot;c&quot;: &quot;chart&quot;, &quot;i&quot;: 1}"/>
          <p:cNvGraphicFramePr>
            <a:graphicFrameLocks noGrp="1"/>
          </p:cNvGraphicFramePr>
          <p:nvPr/>
        </p:nvGraphicFramePr>
        <p:xfrm>
          <a:off x="365760" y="1417320"/>
          <a:ext cx="8138160" cy="4709160"/>
        </p:xfrm>
        <a:graphic>
          <a:graphicData uri="http://schemas.openxmlformats.org/drawingml/2006/chart">
            <c:chart xmlns:c="http://schemas.openxmlformats.org/drawingml/2006/chart" r:id="rId2"/>
          </a:graphicData>
        </a:graphic>
      </p:graphicFrame>
      <p:cxnSp>
        <p:nvCxnSpPr>
          <p:cNvPr id="5" name="mbl:vrule:1" descr="{&quot;mbl&quot;: 1, &quot;c&quot;: &quot;vrule&quot;, &quot;i&quot;: 1}"/>
          <p:cNvCxnSpPr/>
          <p:nvPr/>
        </p:nvCxnSpPr>
        <p:spPr>
          <a:xfrm>
            <a:off x="8732520" y="1508760"/>
            <a:ext cx="0" cy="4526280"/>
          </a:xfrm>
          <a:prstGeom prst="line">
            <a:avLst/>
          </a:prstGeom>
          <a:ln w="12700">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6" name="mbl:panel:1" descr="{&quot;mbl&quot;: 1, &quot;c&quot;: &quot;panel&quot;, &quot;i&quot;: 1}"/>
          <p:cNvSpPr/>
          <p:nvPr/>
        </p:nvSpPr>
        <p:spPr>
          <a:xfrm>
            <a:off x="8897112" y="1463040"/>
            <a:ext cx="3035808" cy="1600200"/>
          </a:xfrm>
          <a:prstGeom prst="roundRect">
            <a:avLst>
              <a:gd name="adj" fmla="val 1497"/>
            </a:avLst>
          </a:prstGeom>
          <a:solidFill>
            <a:srgbClr val="1E3D4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7" name="mbl:txt:1" descr="{&quot;mbl&quot;: 1, &quot;c&quot;: &quot;txt&quot;, &quot;i&quot;: 1}"/>
          <p:cNvSpPr txBox="1"/>
          <p:nvPr/>
        </p:nvSpPr>
        <p:spPr>
          <a:xfrm>
            <a:off x="9006840" y="1554480"/>
            <a:ext cx="2816352" cy="566928"/>
          </a:xfrm>
          <a:prstGeom prst="rect">
            <a:avLst/>
          </a:prstGeom>
          <a:noFill/>
        </p:spPr>
        <p:txBody>
          <a:bodyPr wrap="square" anchor="ctr" lIns="0" rIns="0" tIns="0" bIns="0">
            <a:noAutofit/>
          </a:bodyPr>
          <a:lstStyle/>
          <a:p>
            <a:pPr algn="l">
              <a:lnSpc>
                <a:spcPct val="100000"/>
              </a:lnSpc>
            </a:pPr>
            <a:r>
              <a:rPr sz="3600" b="1" i="0">
                <a:solidFill>
                  <a:srgbClr val="FFFFFF"/>
                </a:solidFill>
                <a:latin typeface="Roboto Condensed"/>
              </a:rPr>
              <a:t>6.1 ms</a:t>
            </a:r>
          </a:p>
        </p:txBody>
      </p:sp>
      <p:sp>
        <p:nvSpPr>
          <p:cNvPr id="8" name="mbl:txt:2" descr="{&quot;mbl&quot;: 1, &quot;c&quot;: &quot;txt&quot;, &quot;i&quot;: 2}"/>
          <p:cNvSpPr txBox="1"/>
          <p:nvPr/>
        </p:nvSpPr>
        <p:spPr>
          <a:xfrm>
            <a:off x="9006840" y="2148840"/>
            <a:ext cx="2816352" cy="868680"/>
          </a:xfrm>
          <a:prstGeom prst="rect">
            <a:avLst/>
          </a:prstGeom>
          <a:noFill/>
        </p:spPr>
        <p:txBody>
          <a:bodyPr wrap="square" anchor="t" lIns="0" rIns="0" tIns="0" bIns="0">
            <a:noAutofit/>
          </a:bodyPr>
          <a:lstStyle/>
          <a:p>
            <a:pPr algn="l">
              <a:lnSpc>
                <a:spcPct val="100000"/>
              </a:lnSpc>
            </a:pPr>
            <a:r>
              <a:rPr sz="1300" b="0" i="0">
                <a:solidFill>
                  <a:srgbClr val="A8C2CA"/>
                </a:solidFill>
                <a:latin typeface="Roboto"/>
              </a:rPr>
              <a:t>ivfplus on WarehousePG at 94% recall, 32 probes</a:t>
            </a:r>
          </a:p>
        </p:txBody>
      </p:sp>
      <p:sp>
        <p:nvSpPr>
          <p:cNvPr id="9" name="mbl:txt:3" descr="{&quot;mbl&quot;: 1, &quot;c&quot;: &quot;txt&quot;, &quot;i&quot;: 3}"/>
          <p:cNvSpPr txBox="1"/>
          <p:nvPr/>
        </p:nvSpPr>
        <p:spPr>
          <a:xfrm>
            <a:off x="9006840" y="3291839"/>
            <a:ext cx="2816352" cy="603504"/>
          </a:xfrm>
          <a:prstGeom prst="rect">
            <a:avLst/>
          </a:prstGeom>
          <a:noFill/>
        </p:spPr>
        <p:txBody>
          <a:bodyPr wrap="square" anchor="ctr" lIns="0" rIns="0" tIns="0" bIns="0">
            <a:noAutofit/>
          </a:bodyPr>
          <a:lstStyle/>
          <a:p>
            <a:pPr algn="l">
              <a:lnSpc>
                <a:spcPct val="100000"/>
              </a:lnSpc>
            </a:pPr>
            <a:r>
              <a:rPr sz="3000" b="1" i="0">
                <a:solidFill>
                  <a:srgbClr val="28495A"/>
                </a:solidFill>
                <a:latin typeface="Roboto Condensed"/>
              </a:rPr>
              <a:t>19.3 ms</a:t>
            </a:r>
          </a:p>
        </p:txBody>
      </p:sp>
      <p:sp>
        <p:nvSpPr>
          <p:cNvPr id="10" name="mbl:txt:4" descr="{&quot;mbl&quot;: 1, &quot;c&quot;: &quot;txt&quot;, &quot;i&quot;: 4}"/>
          <p:cNvSpPr txBox="1"/>
          <p:nvPr/>
        </p:nvSpPr>
        <p:spPr>
          <a:xfrm>
            <a:off x="9006840" y="3931920"/>
            <a:ext cx="2816352" cy="45720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IVFFlat on WarehousePG at 92% recall</a:t>
            </a:r>
          </a:p>
        </p:txBody>
      </p:sp>
      <p:sp>
        <p:nvSpPr>
          <p:cNvPr id="11" name="mbl:txt:5" descr="{&quot;mbl&quot;: 1, &quot;c&quot;: &quot;txt&quot;, &quot;i&quot;: 5}"/>
          <p:cNvSpPr txBox="1"/>
          <p:nvPr/>
        </p:nvSpPr>
        <p:spPr>
          <a:xfrm>
            <a:off x="9006840" y="4389120"/>
            <a:ext cx="2816352" cy="603504"/>
          </a:xfrm>
          <a:prstGeom prst="rect">
            <a:avLst/>
          </a:prstGeom>
          <a:noFill/>
        </p:spPr>
        <p:txBody>
          <a:bodyPr wrap="square" anchor="ctr" lIns="0" rIns="0" tIns="0" bIns="0">
            <a:noAutofit/>
          </a:bodyPr>
          <a:lstStyle/>
          <a:p>
            <a:pPr algn="l">
              <a:lnSpc>
                <a:spcPct val="100000"/>
              </a:lnSpc>
            </a:pPr>
            <a:r>
              <a:rPr sz="3000" b="1" i="0">
                <a:solidFill>
                  <a:srgbClr val="28495A"/>
                </a:solidFill>
                <a:latin typeface="Roboto Condensed"/>
              </a:rPr>
              <a:t>47.3 ms</a:t>
            </a:r>
          </a:p>
        </p:txBody>
      </p:sp>
      <p:sp>
        <p:nvSpPr>
          <p:cNvPr id="12" name="mbl:txt:6" descr="{&quot;mbl&quot;: 1, &quot;c&quot;: &quot;txt&quot;, &quot;i&quot;: 6}"/>
          <p:cNvSpPr txBox="1"/>
          <p:nvPr/>
        </p:nvSpPr>
        <p:spPr>
          <a:xfrm>
            <a:off x="9006840" y="5029200"/>
            <a:ext cx="2816352" cy="68580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VectorChord at 90% recall; IVFFlat on Postgres took 52.2 ms</a:t>
            </a:r>
          </a:p>
        </p:txBody>
      </p:sp>
      <p:sp>
        <p:nvSpPr>
          <p:cNvPr id="13" name="mbl:txt:7" descr="{&quot;mbl&quot;: 1, &quot;c&quot;: &quot;txt&quot;, &quot;i&quot;: 7}"/>
          <p:cNvSpPr txBox="1"/>
          <p:nvPr/>
        </p:nvSpPr>
        <p:spPr>
          <a:xfrm>
            <a:off x="9006840" y="5532120"/>
            <a:ext cx="2816352" cy="59436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ivfplus on Postgres plateaus at 0.886 and ClickHouse stopped at 0.76; neither reached 90%.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AT EQUAL RECALL IVFPLUS IS 1.3 TO 6.2X FASTER THAN IVFFLAT</a:t>
            </a:r>
          </a:p>
        </p:txBody>
      </p:sp>
      <p:sp>
        <p:nvSpPr>
          <p:cNvPr id="4" name="mbl:txt:1" descr="{&quot;mbl&quot;: 1, &quot;c&quot;: &quot;txt&quot;, &quot;i&quot;: 1}"/>
          <p:cNvSpPr txBox="1"/>
          <p:nvPr/>
        </p:nvSpPr>
        <p:spPr>
          <a:xfrm>
            <a:off x="365760" y="1417320"/>
            <a:ext cx="3364991"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LATENCY AT EQUAL RECALL, 2M ROWS</a:t>
            </a:r>
          </a:p>
        </p:txBody>
      </p:sp>
      <p:sp>
        <p:nvSpPr>
          <p:cNvPr id="5" name="mbl:txt:2" descr="{&quot;mbl&quot;: 1, &quot;c&quot;: &quot;txt&quot;, &quot;i&quot;: 2}"/>
          <p:cNvSpPr txBox="1"/>
          <p:nvPr/>
        </p:nvSpPr>
        <p:spPr>
          <a:xfrm>
            <a:off x="3840480" y="1417320"/>
            <a:ext cx="1170431"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60%</a:t>
            </a:r>
          </a:p>
        </p:txBody>
      </p:sp>
      <p:sp>
        <p:nvSpPr>
          <p:cNvPr id="6" name="mbl:txt:3" descr="{&quot;mbl&quot;: 1, &quot;c&quot;: &quot;txt&quot;, &quot;i&quot;: 3}"/>
          <p:cNvSpPr txBox="1"/>
          <p:nvPr/>
        </p:nvSpPr>
        <p:spPr>
          <a:xfrm>
            <a:off x="5120640" y="1417320"/>
            <a:ext cx="1170431"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75%</a:t>
            </a:r>
          </a:p>
        </p:txBody>
      </p:sp>
      <p:sp>
        <p:nvSpPr>
          <p:cNvPr id="7" name="mbl:txt:4" descr="{&quot;mbl&quot;: 1, &quot;c&quot;: &quot;txt&quot;, &quot;i&quot;: 4}"/>
          <p:cNvSpPr txBox="1"/>
          <p:nvPr/>
        </p:nvSpPr>
        <p:spPr>
          <a:xfrm>
            <a:off x="6400800" y="1417320"/>
            <a:ext cx="1170431"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85%</a:t>
            </a:r>
          </a:p>
        </p:txBody>
      </p:sp>
      <p:sp>
        <p:nvSpPr>
          <p:cNvPr id="8" name="mbl:txt:5" descr="{&quot;mbl&quot;: 1, &quot;c&quot;: &quot;txt&quot;, &quot;i&quot;: 5}"/>
          <p:cNvSpPr txBox="1"/>
          <p:nvPr/>
        </p:nvSpPr>
        <p:spPr>
          <a:xfrm>
            <a:off x="7680960" y="1417320"/>
            <a:ext cx="1170431"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90%</a:t>
            </a:r>
          </a:p>
        </p:txBody>
      </p:sp>
      <p:sp>
        <p:nvSpPr>
          <p:cNvPr id="9" name="mbl:txt:6" descr="{&quot;mbl&quot;: 1, &quot;c&quot;: &quot;txt&quot;, &quot;i&quot;: 6}"/>
          <p:cNvSpPr txBox="1"/>
          <p:nvPr/>
        </p:nvSpPr>
        <p:spPr>
          <a:xfrm>
            <a:off x="8961120" y="1417320"/>
            <a:ext cx="1170431"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95%</a:t>
            </a:r>
          </a:p>
        </p:txBody>
      </p:sp>
      <p:sp>
        <p:nvSpPr>
          <p:cNvPr id="10" name="mbl:txt:7" descr="{&quot;mbl&quot;: 1, &quot;c&quot;: &quot;txt&quot;, &quot;i&quot;: 7}"/>
          <p:cNvSpPr txBox="1"/>
          <p:nvPr/>
        </p:nvSpPr>
        <p:spPr>
          <a:xfrm>
            <a:off x="10241280" y="1417320"/>
            <a:ext cx="1170431"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99%</a:t>
            </a:r>
          </a:p>
        </p:txBody>
      </p:sp>
      <p:sp>
        <p:nvSpPr>
          <p:cNvPr id="11" name="mbl:txt:8" descr="{&quot;mbl&quot;: 1, &quot;c&quot;: &quot;txt&quot;, &quot;i&quot;: 8}"/>
          <p:cNvSpPr txBox="1"/>
          <p:nvPr/>
        </p:nvSpPr>
        <p:spPr>
          <a:xfrm>
            <a:off x="11521440" y="1417320"/>
            <a:ext cx="194767"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
            </a:r>
          </a:p>
        </p:txBody>
      </p:sp>
      <p:cxnSp>
        <p:nvCxnSpPr>
          <p:cNvPr id="12" name="mbl:hrule:1" descr="{&quot;mbl&quot;: 1, &quot;c&quot;: &quot;hrule&quot;, &quot;i&quot;: 1}"/>
          <p:cNvCxnSpPr/>
          <p:nvPr/>
        </p:nvCxnSpPr>
        <p:spPr>
          <a:xfrm>
            <a:off x="365760" y="1728216"/>
            <a:ext cx="11460175" cy="0"/>
          </a:xfrm>
          <a:prstGeom prst="line">
            <a:avLst/>
          </a:prstGeom>
          <a:ln w="25400">
            <a:solidFill>
              <a:srgbClr val="28495A"/>
            </a:solidFill>
          </a:ln>
          <a:effectLst/>
        </p:spPr>
        <p:style>
          <a:lnRef idx="2">
            <a:schemeClr val="accent1"/>
          </a:lnRef>
          <a:fillRef idx="0">
            <a:schemeClr val="accent1"/>
          </a:fillRef>
          <a:effectRef idx="0">
            <a:schemeClr val="accent1"/>
          </a:effectRef>
          <a:fontRef idx="minor">
            <a:schemeClr val="tx1"/>
          </a:fontRef>
        </p:style>
      </p:cxnSp>
      <p:sp>
        <p:nvSpPr>
          <p:cNvPr id="13" name="mbl:txt:9" descr="{&quot;mbl&quot;: 1, &quot;c&quot;: &quot;txt&quot;, &quot;i&quot;: 9}"/>
          <p:cNvSpPr txBox="1"/>
          <p:nvPr/>
        </p:nvSpPr>
        <p:spPr>
          <a:xfrm>
            <a:off x="365760" y="1801368"/>
            <a:ext cx="3364991" cy="507492"/>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EDB ivfplus @ WHPG</a:t>
            </a:r>
          </a:p>
        </p:txBody>
      </p:sp>
      <p:sp>
        <p:nvSpPr>
          <p:cNvPr id="14" name="mbl:txt:10" descr="{&quot;mbl&quot;: 1, &quot;c&quot;: &quot;txt&quot;, &quot;i&quot;: 10}"/>
          <p:cNvSpPr txBox="1"/>
          <p:nvPr/>
        </p:nvSpPr>
        <p:spPr>
          <a:xfrm>
            <a:off x="3840480" y="1801368"/>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3.7 ms</a:t>
            </a:r>
          </a:p>
        </p:txBody>
      </p:sp>
      <p:sp>
        <p:nvSpPr>
          <p:cNvPr id="15" name="mbl:txt:11" descr="{&quot;mbl&quot;: 1, &quot;c&quot;: &quot;txt&quot;, &quot;i&quot;: 11}"/>
          <p:cNvSpPr txBox="1"/>
          <p:nvPr/>
        </p:nvSpPr>
        <p:spPr>
          <a:xfrm>
            <a:off x="5120640" y="1801368"/>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4.5 ms</a:t>
            </a:r>
          </a:p>
        </p:txBody>
      </p:sp>
      <p:sp>
        <p:nvSpPr>
          <p:cNvPr id="16" name="mbl:txt:12" descr="{&quot;mbl&quot;: 1, &quot;c&quot;: &quot;txt&quot;, &quot;i&quot;: 12}"/>
          <p:cNvSpPr txBox="1"/>
          <p:nvPr/>
        </p:nvSpPr>
        <p:spPr>
          <a:xfrm>
            <a:off x="6400800" y="1801368"/>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5.1 ms</a:t>
            </a:r>
          </a:p>
        </p:txBody>
      </p:sp>
      <p:sp>
        <p:nvSpPr>
          <p:cNvPr id="17" name="mbl:txt:13" descr="{&quot;mbl&quot;: 1, &quot;c&quot;: &quot;txt&quot;, &quot;i&quot;: 13}"/>
          <p:cNvSpPr txBox="1"/>
          <p:nvPr/>
        </p:nvSpPr>
        <p:spPr>
          <a:xfrm>
            <a:off x="7680960" y="1801368"/>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5.6 ms</a:t>
            </a:r>
          </a:p>
        </p:txBody>
      </p:sp>
      <p:sp>
        <p:nvSpPr>
          <p:cNvPr id="18" name="mbl:txt:14" descr="{&quot;mbl&quot;: 1, &quot;c&quot;: &quot;txt&quot;, &quot;i&quot;: 14}"/>
          <p:cNvSpPr txBox="1"/>
          <p:nvPr/>
        </p:nvSpPr>
        <p:spPr>
          <a:xfrm>
            <a:off x="8961120" y="1801368"/>
            <a:ext cx="1170431" cy="507492"/>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not reached</a:t>
            </a:r>
          </a:p>
        </p:txBody>
      </p:sp>
      <p:sp>
        <p:nvSpPr>
          <p:cNvPr id="19" name="mbl:txt:15" descr="{&quot;mbl&quot;: 1, &quot;c&quot;: &quot;txt&quot;, &quot;i&quot;: 15}"/>
          <p:cNvSpPr txBox="1"/>
          <p:nvPr/>
        </p:nvSpPr>
        <p:spPr>
          <a:xfrm>
            <a:off x="10241280" y="1801368"/>
            <a:ext cx="1170431" cy="507492"/>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not reached</a:t>
            </a:r>
          </a:p>
        </p:txBody>
      </p:sp>
      <p:sp>
        <p:nvSpPr>
          <p:cNvPr id="20" name="mbl:txt:16" descr="{&quot;mbl&quot;: 1, &quot;c&quot;: &quot;txt&quot;, &quot;i&quot;: 16}"/>
          <p:cNvSpPr txBox="1"/>
          <p:nvPr/>
        </p:nvSpPr>
        <p:spPr>
          <a:xfrm>
            <a:off x="11521440" y="1801368"/>
            <a:ext cx="194767" cy="507492"/>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
            </a:r>
          </a:p>
        </p:txBody>
      </p:sp>
      <p:cxnSp>
        <p:nvCxnSpPr>
          <p:cNvPr id="21" name="mbl:hrule:2" descr="{&quot;mbl&quot;: 1, &quot;c&quot;: &quot;hrule&quot;, &quot;i&quot;: 2}"/>
          <p:cNvCxnSpPr/>
          <p:nvPr/>
        </p:nvCxnSpPr>
        <p:spPr>
          <a:xfrm>
            <a:off x="365760" y="2308860"/>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2" name="mbl:txt:17" descr="{&quot;mbl&quot;: 1, &quot;c&quot;: &quot;txt&quot;, &quot;i&quot;: 17}"/>
          <p:cNvSpPr txBox="1"/>
          <p:nvPr/>
        </p:nvSpPr>
        <p:spPr>
          <a:xfrm>
            <a:off x="365760" y="2308860"/>
            <a:ext cx="3364991" cy="507492"/>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pgvector IVFFlat @ WHPG</a:t>
            </a:r>
          </a:p>
        </p:txBody>
      </p:sp>
      <p:sp>
        <p:nvSpPr>
          <p:cNvPr id="23" name="mbl:txt:18" descr="{&quot;mbl&quot;: 1, &quot;c&quot;: &quot;txt&quot;, &quot;i&quot;: 18}"/>
          <p:cNvSpPr txBox="1"/>
          <p:nvPr/>
        </p:nvSpPr>
        <p:spPr>
          <a:xfrm>
            <a:off x="3840480" y="2308860"/>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4.8 ms</a:t>
            </a:r>
          </a:p>
        </p:txBody>
      </p:sp>
      <p:sp>
        <p:nvSpPr>
          <p:cNvPr id="24" name="mbl:txt:19" descr="{&quot;mbl&quot;: 1, &quot;c&quot;: &quot;txt&quot;, &quot;i&quot;: 19}"/>
          <p:cNvSpPr txBox="1"/>
          <p:nvPr/>
        </p:nvSpPr>
        <p:spPr>
          <a:xfrm>
            <a:off x="5120640" y="2308860"/>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7.9 ms</a:t>
            </a:r>
          </a:p>
        </p:txBody>
      </p:sp>
      <p:sp>
        <p:nvSpPr>
          <p:cNvPr id="25" name="mbl:txt:20" descr="{&quot;mbl&quot;: 1, &quot;c&quot;: &quot;txt&quot;, &quot;i&quot;: 20}"/>
          <p:cNvSpPr txBox="1"/>
          <p:nvPr/>
        </p:nvSpPr>
        <p:spPr>
          <a:xfrm>
            <a:off x="6400800" y="2308860"/>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12.9 ms</a:t>
            </a:r>
          </a:p>
        </p:txBody>
      </p:sp>
      <p:sp>
        <p:nvSpPr>
          <p:cNvPr id="26" name="mbl:txt:21" descr="{&quot;mbl&quot;: 1, &quot;c&quot;: &quot;txt&quot;, &quot;i&quot;: 21}"/>
          <p:cNvSpPr txBox="1"/>
          <p:nvPr/>
        </p:nvSpPr>
        <p:spPr>
          <a:xfrm>
            <a:off x="7680960" y="2308860"/>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17.5 ms</a:t>
            </a:r>
          </a:p>
        </p:txBody>
      </p:sp>
      <p:sp>
        <p:nvSpPr>
          <p:cNvPr id="27" name="mbl:txt:22" descr="{&quot;mbl&quot;: 1, &quot;c&quot;: &quot;txt&quot;, &quot;i&quot;: 22}"/>
          <p:cNvSpPr txBox="1"/>
          <p:nvPr/>
        </p:nvSpPr>
        <p:spPr>
          <a:xfrm>
            <a:off x="8961120" y="2308860"/>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28.5 ms</a:t>
            </a:r>
          </a:p>
        </p:txBody>
      </p:sp>
      <p:sp>
        <p:nvSpPr>
          <p:cNvPr id="28" name="mbl:txt:23" descr="{&quot;mbl&quot;: 1, &quot;c&quot;: &quot;txt&quot;, &quot;i&quot;: 23}"/>
          <p:cNvSpPr txBox="1"/>
          <p:nvPr/>
        </p:nvSpPr>
        <p:spPr>
          <a:xfrm>
            <a:off x="10241280" y="2308860"/>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58.2 ms</a:t>
            </a:r>
          </a:p>
        </p:txBody>
      </p:sp>
      <p:sp>
        <p:nvSpPr>
          <p:cNvPr id="29" name="mbl:txt:24" descr="{&quot;mbl&quot;: 1, &quot;c&quot;: &quot;txt&quot;, &quot;i&quot;: 24}"/>
          <p:cNvSpPr txBox="1"/>
          <p:nvPr/>
        </p:nvSpPr>
        <p:spPr>
          <a:xfrm>
            <a:off x="11521440" y="2308860"/>
            <a:ext cx="194767" cy="507492"/>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
            </a:r>
          </a:p>
        </p:txBody>
      </p:sp>
      <p:cxnSp>
        <p:nvCxnSpPr>
          <p:cNvPr id="30" name="mbl:hrule:3" descr="{&quot;mbl&quot;: 1, &quot;c&quot;: &quot;hrule&quot;, &quot;i&quot;: 3}"/>
          <p:cNvCxnSpPr/>
          <p:nvPr/>
        </p:nvCxnSpPr>
        <p:spPr>
          <a:xfrm>
            <a:off x="365760" y="2816352"/>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31" name="mbl:txt:25" descr="{&quot;mbl&quot;: 1, &quot;c&quot;: &quot;txt&quot;, &quot;i&quot;: 25}"/>
          <p:cNvSpPr txBox="1"/>
          <p:nvPr/>
        </p:nvSpPr>
        <p:spPr>
          <a:xfrm>
            <a:off x="365760" y="2816352"/>
            <a:ext cx="3364991" cy="507492"/>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EDB Vector Plus</a:t>
            </a:r>
          </a:p>
        </p:txBody>
      </p:sp>
      <p:sp>
        <p:nvSpPr>
          <p:cNvPr id="32" name="mbl:txt:26" descr="{&quot;mbl&quot;: 1, &quot;c&quot;: &quot;txt&quot;, &quot;i&quot;: 26}"/>
          <p:cNvSpPr txBox="1"/>
          <p:nvPr/>
        </p:nvSpPr>
        <p:spPr>
          <a:xfrm>
            <a:off x="3840480" y="2816352"/>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2.6 ms</a:t>
            </a:r>
          </a:p>
        </p:txBody>
      </p:sp>
      <p:sp>
        <p:nvSpPr>
          <p:cNvPr id="33" name="mbl:txt:27" descr="{&quot;mbl&quot;: 1, &quot;c&quot;: &quot;txt&quot;, &quot;i&quot;: 27}"/>
          <p:cNvSpPr txBox="1"/>
          <p:nvPr/>
        </p:nvSpPr>
        <p:spPr>
          <a:xfrm>
            <a:off x="5120640" y="2816352"/>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3.8 ms</a:t>
            </a:r>
          </a:p>
        </p:txBody>
      </p:sp>
      <p:sp>
        <p:nvSpPr>
          <p:cNvPr id="34" name="mbl:txt:28" descr="{&quot;mbl&quot;: 1, &quot;c&quot;: &quot;txt&quot;, &quot;i&quot;: 28}"/>
          <p:cNvSpPr txBox="1"/>
          <p:nvPr/>
        </p:nvSpPr>
        <p:spPr>
          <a:xfrm>
            <a:off x="6400800" y="2816352"/>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6.9 ms</a:t>
            </a:r>
          </a:p>
        </p:txBody>
      </p:sp>
      <p:sp>
        <p:nvSpPr>
          <p:cNvPr id="35" name="mbl:txt:29" descr="{&quot;mbl&quot;: 1, &quot;c&quot;: &quot;txt&quot;, &quot;i&quot;: 29}"/>
          <p:cNvSpPr txBox="1"/>
          <p:nvPr/>
        </p:nvSpPr>
        <p:spPr>
          <a:xfrm>
            <a:off x="7680960" y="2816352"/>
            <a:ext cx="1170431" cy="507492"/>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not reached</a:t>
            </a:r>
          </a:p>
        </p:txBody>
      </p:sp>
      <p:sp>
        <p:nvSpPr>
          <p:cNvPr id="36" name="mbl:txt:30" descr="{&quot;mbl&quot;: 1, &quot;c&quot;: &quot;txt&quot;, &quot;i&quot;: 30}"/>
          <p:cNvSpPr txBox="1"/>
          <p:nvPr/>
        </p:nvSpPr>
        <p:spPr>
          <a:xfrm>
            <a:off x="8961120" y="2816352"/>
            <a:ext cx="1170431" cy="507492"/>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not reached</a:t>
            </a:r>
          </a:p>
        </p:txBody>
      </p:sp>
      <p:sp>
        <p:nvSpPr>
          <p:cNvPr id="37" name="mbl:txt:31" descr="{&quot;mbl&quot;: 1, &quot;c&quot;: &quot;txt&quot;, &quot;i&quot;: 31}"/>
          <p:cNvSpPr txBox="1"/>
          <p:nvPr/>
        </p:nvSpPr>
        <p:spPr>
          <a:xfrm>
            <a:off x="10241280" y="2816352"/>
            <a:ext cx="1170431" cy="507492"/>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not reached</a:t>
            </a:r>
          </a:p>
        </p:txBody>
      </p:sp>
      <p:sp>
        <p:nvSpPr>
          <p:cNvPr id="38" name="mbl:txt:32" descr="{&quot;mbl&quot;: 1, &quot;c&quot;: &quot;txt&quot;, &quot;i&quot;: 32}"/>
          <p:cNvSpPr txBox="1"/>
          <p:nvPr/>
        </p:nvSpPr>
        <p:spPr>
          <a:xfrm>
            <a:off x="11521440" y="2816352"/>
            <a:ext cx="194767" cy="507492"/>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
            </a:r>
          </a:p>
        </p:txBody>
      </p:sp>
      <p:cxnSp>
        <p:nvCxnSpPr>
          <p:cNvPr id="39" name="mbl:hrule:4" descr="{&quot;mbl&quot;: 1, &quot;c&quot;: &quot;hrule&quot;, &quot;i&quot;: 4}"/>
          <p:cNvCxnSpPr/>
          <p:nvPr/>
        </p:nvCxnSpPr>
        <p:spPr>
          <a:xfrm>
            <a:off x="365760" y="3323844"/>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40" name="mbl:txt:33" descr="{&quot;mbl&quot;: 1, &quot;c&quot;: &quot;txt&quot;, &quot;i&quot;: 33}"/>
          <p:cNvSpPr txBox="1"/>
          <p:nvPr/>
        </p:nvSpPr>
        <p:spPr>
          <a:xfrm>
            <a:off x="365760" y="3323844"/>
            <a:ext cx="3364991" cy="507492"/>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pgvector IVFFlat</a:t>
            </a:r>
          </a:p>
        </p:txBody>
      </p:sp>
      <p:sp>
        <p:nvSpPr>
          <p:cNvPr id="41" name="mbl:txt:34" descr="{&quot;mbl&quot;: 1, &quot;c&quot;: &quot;txt&quot;, &quot;i&quot;: 34}"/>
          <p:cNvSpPr txBox="1"/>
          <p:nvPr/>
        </p:nvSpPr>
        <p:spPr>
          <a:xfrm>
            <a:off x="3840480" y="3323844"/>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11.0 ms</a:t>
            </a:r>
          </a:p>
        </p:txBody>
      </p:sp>
      <p:sp>
        <p:nvSpPr>
          <p:cNvPr id="42" name="mbl:txt:35" descr="{&quot;mbl&quot;: 1, &quot;c&quot;: &quot;txt&quot;, &quot;i&quot;: 35}"/>
          <p:cNvSpPr txBox="1"/>
          <p:nvPr/>
        </p:nvSpPr>
        <p:spPr>
          <a:xfrm>
            <a:off x="5120640" y="3323844"/>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23.8 ms</a:t>
            </a:r>
          </a:p>
        </p:txBody>
      </p:sp>
      <p:sp>
        <p:nvSpPr>
          <p:cNvPr id="43" name="mbl:txt:36" descr="{&quot;mbl&quot;: 1, &quot;c&quot;: &quot;txt&quot;, &quot;i&quot;: 36}"/>
          <p:cNvSpPr txBox="1"/>
          <p:nvPr/>
        </p:nvSpPr>
        <p:spPr>
          <a:xfrm>
            <a:off x="6400800" y="3323844"/>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39.4 ms</a:t>
            </a:r>
          </a:p>
        </p:txBody>
      </p:sp>
      <p:sp>
        <p:nvSpPr>
          <p:cNvPr id="44" name="mbl:txt:37" descr="{&quot;mbl&quot;: 1, &quot;c&quot;: &quot;txt&quot;, &quot;i&quot;: 37}"/>
          <p:cNvSpPr txBox="1"/>
          <p:nvPr/>
        </p:nvSpPr>
        <p:spPr>
          <a:xfrm>
            <a:off x="7680960" y="3323844"/>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50.7 ms</a:t>
            </a:r>
          </a:p>
        </p:txBody>
      </p:sp>
      <p:sp>
        <p:nvSpPr>
          <p:cNvPr id="45" name="mbl:txt:38" descr="{&quot;mbl&quot;: 1, &quot;c&quot;: &quot;txt&quot;, &quot;i&quot;: 38}"/>
          <p:cNvSpPr txBox="1"/>
          <p:nvPr/>
        </p:nvSpPr>
        <p:spPr>
          <a:xfrm>
            <a:off x="8961120" y="3323844"/>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87.3 ms</a:t>
            </a:r>
          </a:p>
        </p:txBody>
      </p:sp>
      <p:sp>
        <p:nvSpPr>
          <p:cNvPr id="46" name="mbl:txt:39" descr="{&quot;mbl&quot;: 1, &quot;c&quot;: &quot;txt&quot;, &quot;i&quot;: 39}"/>
          <p:cNvSpPr txBox="1"/>
          <p:nvPr/>
        </p:nvSpPr>
        <p:spPr>
          <a:xfrm>
            <a:off x="10241280" y="3323844"/>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179 ms</a:t>
            </a:r>
          </a:p>
        </p:txBody>
      </p:sp>
      <p:sp>
        <p:nvSpPr>
          <p:cNvPr id="47" name="mbl:txt:40" descr="{&quot;mbl&quot;: 1, &quot;c&quot;: &quot;txt&quot;, &quot;i&quot;: 40}"/>
          <p:cNvSpPr txBox="1"/>
          <p:nvPr/>
        </p:nvSpPr>
        <p:spPr>
          <a:xfrm>
            <a:off x="11521440" y="3323844"/>
            <a:ext cx="194767" cy="507492"/>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
            </a:r>
          </a:p>
        </p:txBody>
      </p:sp>
      <p:cxnSp>
        <p:nvCxnSpPr>
          <p:cNvPr id="48" name="mbl:hrule:5" descr="{&quot;mbl&quot;: 1, &quot;c&quot;: &quot;hrule&quot;, &quot;i&quot;: 5}"/>
          <p:cNvCxnSpPr/>
          <p:nvPr/>
        </p:nvCxnSpPr>
        <p:spPr>
          <a:xfrm>
            <a:off x="365760" y="3831335"/>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49" name="mbl:txt:41" descr="{&quot;mbl&quot;: 1, &quot;c&quot;: &quot;txt&quot;, &quot;i&quot;: 41}"/>
          <p:cNvSpPr txBox="1"/>
          <p:nvPr/>
        </p:nvSpPr>
        <p:spPr>
          <a:xfrm>
            <a:off x="365760" y="3831336"/>
            <a:ext cx="3364991" cy="507492"/>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VectorChord</a:t>
            </a:r>
          </a:p>
        </p:txBody>
      </p:sp>
      <p:sp>
        <p:nvSpPr>
          <p:cNvPr id="50" name="mbl:txt:42" descr="{&quot;mbl&quot;: 1, &quot;c&quot;: &quot;txt&quot;, &quot;i&quot;: 42}"/>
          <p:cNvSpPr txBox="1"/>
          <p:nvPr/>
        </p:nvSpPr>
        <p:spPr>
          <a:xfrm>
            <a:off x="3840480" y="3831336"/>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14.3 ms</a:t>
            </a:r>
          </a:p>
        </p:txBody>
      </p:sp>
      <p:sp>
        <p:nvSpPr>
          <p:cNvPr id="51" name="mbl:txt:43" descr="{&quot;mbl&quot;: 1, &quot;c&quot;: &quot;txt&quot;, &quot;i&quot;: 43}"/>
          <p:cNvSpPr txBox="1"/>
          <p:nvPr/>
        </p:nvSpPr>
        <p:spPr>
          <a:xfrm>
            <a:off x="5120640" y="3831336"/>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25.2 ms</a:t>
            </a:r>
          </a:p>
        </p:txBody>
      </p:sp>
      <p:sp>
        <p:nvSpPr>
          <p:cNvPr id="52" name="mbl:txt:44" descr="{&quot;mbl&quot;: 1, &quot;c&quot;: &quot;txt&quot;, &quot;i&quot;: 44}"/>
          <p:cNvSpPr txBox="1"/>
          <p:nvPr/>
        </p:nvSpPr>
        <p:spPr>
          <a:xfrm>
            <a:off x="6400800" y="3831336"/>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37.8 ms</a:t>
            </a:r>
          </a:p>
        </p:txBody>
      </p:sp>
      <p:sp>
        <p:nvSpPr>
          <p:cNvPr id="53" name="mbl:txt:45" descr="{&quot;mbl&quot;: 1, &quot;c&quot;: &quot;txt&quot;, &quot;i&quot;: 45}"/>
          <p:cNvSpPr txBox="1"/>
          <p:nvPr/>
        </p:nvSpPr>
        <p:spPr>
          <a:xfrm>
            <a:off x="7680960" y="3831336"/>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46.5 ms</a:t>
            </a:r>
          </a:p>
        </p:txBody>
      </p:sp>
      <p:sp>
        <p:nvSpPr>
          <p:cNvPr id="54" name="mbl:txt:46" descr="{&quot;mbl&quot;: 1, &quot;c&quot;: &quot;txt&quot;, &quot;i&quot;: 46}"/>
          <p:cNvSpPr txBox="1"/>
          <p:nvPr/>
        </p:nvSpPr>
        <p:spPr>
          <a:xfrm>
            <a:off x="8961120" y="3831336"/>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69.7 ms</a:t>
            </a:r>
          </a:p>
        </p:txBody>
      </p:sp>
      <p:sp>
        <p:nvSpPr>
          <p:cNvPr id="55" name="mbl:txt:47" descr="{&quot;mbl&quot;: 1, &quot;c&quot;: &quot;txt&quot;, &quot;i&quot;: 47}"/>
          <p:cNvSpPr txBox="1"/>
          <p:nvPr/>
        </p:nvSpPr>
        <p:spPr>
          <a:xfrm>
            <a:off x="10241280" y="3831336"/>
            <a:ext cx="1170431" cy="507492"/>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not reached</a:t>
            </a:r>
          </a:p>
        </p:txBody>
      </p:sp>
      <p:sp>
        <p:nvSpPr>
          <p:cNvPr id="56" name="mbl:txt:48" descr="{&quot;mbl&quot;: 1, &quot;c&quot;: &quot;txt&quot;, &quot;i&quot;: 48}"/>
          <p:cNvSpPr txBox="1"/>
          <p:nvPr/>
        </p:nvSpPr>
        <p:spPr>
          <a:xfrm>
            <a:off x="11521440" y="3831336"/>
            <a:ext cx="194767" cy="507492"/>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
            </a:r>
          </a:p>
        </p:txBody>
      </p:sp>
      <p:cxnSp>
        <p:nvCxnSpPr>
          <p:cNvPr id="57" name="mbl:hrule:6" descr="{&quot;mbl&quot;: 1, &quot;c&quot;: &quot;hrule&quot;, &quot;i&quot;: 6}"/>
          <p:cNvCxnSpPr/>
          <p:nvPr/>
        </p:nvCxnSpPr>
        <p:spPr>
          <a:xfrm>
            <a:off x="365760" y="4338828"/>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58" name="mbl:txt:49" descr="{&quot;mbl&quot;: 1, &quot;c&quot;: &quot;txt&quot;, &quot;i&quot;: 49}"/>
          <p:cNvSpPr txBox="1"/>
          <p:nvPr/>
        </p:nvSpPr>
        <p:spPr>
          <a:xfrm>
            <a:off x="365760" y="4338828"/>
            <a:ext cx="3364991" cy="507492"/>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ClickHouse</a:t>
            </a:r>
          </a:p>
        </p:txBody>
      </p:sp>
      <p:sp>
        <p:nvSpPr>
          <p:cNvPr id="59" name="mbl:txt:50" descr="{&quot;mbl&quot;: 1, &quot;c&quot;: &quot;txt&quot;, &quot;i&quot;: 50}"/>
          <p:cNvSpPr txBox="1"/>
          <p:nvPr/>
        </p:nvSpPr>
        <p:spPr>
          <a:xfrm>
            <a:off x="3840480" y="4338828"/>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10.9 ms</a:t>
            </a:r>
          </a:p>
        </p:txBody>
      </p:sp>
      <p:sp>
        <p:nvSpPr>
          <p:cNvPr id="60" name="mbl:txt:51" descr="{&quot;mbl&quot;: 1, &quot;c&quot;: &quot;txt&quot;, &quot;i&quot;: 51}"/>
          <p:cNvSpPr txBox="1"/>
          <p:nvPr/>
        </p:nvSpPr>
        <p:spPr>
          <a:xfrm>
            <a:off x="5120640" y="4338828"/>
            <a:ext cx="1170431" cy="50749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11.9 ms</a:t>
            </a:r>
          </a:p>
        </p:txBody>
      </p:sp>
      <p:sp>
        <p:nvSpPr>
          <p:cNvPr id="61" name="mbl:txt:52" descr="{&quot;mbl&quot;: 1, &quot;c&quot;: &quot;txt&quot;, &quot;i&quot;: 52}"/>
          <p:cNvSpPr txBox="1"/>
          <p:nvPr/>
        </p:nvSpPr>
        <p:spPr>
          <a:xfrm>
            <a:off x="6400800" y="4338828"/>
            <a:ext cx="1170431" cy="507492"/>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not reached</a:t>
            </a:r>
          </a:p>
        </p:txBody>
      </p:sp>
      <p:sp>
        <p:nvSpPr>
          <p:cNvPr id="62" name="mbl:txt:53" descr="{&quot;mbl&quot;: 1, &quot;c&quot;: &quot;txt&quot;, &quot;i&quot;: 53}"/>
          <p:cNvSpPr txBox="1"/>
          <p:nvPr/>
        </p:nvSpPr>
        <p:spPr>
          <a:xfrm>
            <a:off x="7680960" y="4338828"/>
            <a:ext cx="1170431" cy="507492"/>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not reached</a:t>
            </a:r>
          </a:p>
        </p:txBody>
      </p:sp>
      <p:sp>
        <p:nvSpPr>
          <p:cNvPr id="63" name="mbl:txt:54" descr="{&quot;mbl&quot;: 1, &quot;c&quot;: &quot;txt&quot;, &quot;i&quot;: 54}"/>
          <p:cNvSpPr txBox="1"/>
          <p:nvPr/>
        </p:nvSpPr>
        <p:spPr>
          <a:xfrm>
            <a:off x="8961120" y="4338828"/>
            <a:ext cx="1170431" cy="507492"/>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not reached</a:t>
            </a:r>
          </a:p>
        </p:txBody>
      </p:sp>
      <p:sp>
        <p:nvSpPr>
          <p:cNvPr id="64" name="mbl:txt:55" descr="{&quot;mbl&quot;: 1, &quot;c&quot;: &quot;txt&quot;, &quot;i&quot;: 55}"/>
          <p:cNvSpPr txBox="1"/>
          <p:nvPr/>
        </p:nvSpPr>
        <p:spPr>
          <a:xfrm>
            <a:off x="10241280" y="4338828"/>
            <a:ext cx="1170431" cy="507492"/>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not reached</a:t>
            </a:r>
          </a:p>
        </p:txBody>
      </p:sp>
      <p:sp>
        <p:nvSpPr>
          <p:cNvPr id="65" name="mbl:txt:56" descr="{&quot;mbl&quot;: 1, &quot;c&quot;: &quot;txt&quot;, &quot;i&quot;: 56}"/>
          <p:cNvSpPr txBox="1"/>
          <p:nvPr/>
        </p:nvSpPr>
        <p:spPr>
          <a:xfrm>
            <a:off x="11521440" y="4338828"/>
            <a:ext cx="194767" cy="507492"/>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
            </a:r>
          </a:p>
        </p:txBody>
      </p:sp>
      <p:sp>
        <p:nvSpPr>
          <p:cNvPr id="66" name="mbl:txt:57" descr="{&quot;mbl&quot;: 1, &quot;c&quot;: &quot;txt&quot;, &quot;i&quot;: 57}"/>
          <p:cNvSpPr txBox="1"/>
          <p:nvPr/>
        </p:nvSpPr>
        <p:spPr>
          <a:xfrm>
            <a:off x="365760" y="4956048"/>
            <a:ext cx="3383279" cy="365760"/>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ivfplus vs IVFFlat on WarehousePG</a:t>
            </a:r>
          </a:p>
        </p:txBody>
      </p:sp>
      <p:sp>
        <p:nvSpPr>
          <p:cNvPr id="67" name="mbl:txt:58" descr="{&quot;mbl&quot;: 1, &quot;c&quot;: &quot;txt&quot;, &quot;i&quot;: 58}"/>
          <p:cNvSpPr txBox="1"/>
          <p:nvPr/>
        </p:nvSpPr>
        <p:spPr>
          <a:xfrm>
            <a:off x="3840480" y="4956048"/>
            <a:ext cx="1170431" cy="365760"/>
          </a:xfrm>
          <a:prstGeom prst="rect">
            <a:avLst/>
          </a:prstGeom>
          <a:noFill/>
        </p:spPr>
        <p:txBody>
          <a:bodyPr wrap="square" anchor="ctr" lIns="0" rIns="0" tIns="0" bIns="0">
            <a:noAutofit/>
          </a:bodyPr>
          <a:lstStyle/>
          <a:p>
            <a:pPr algn="r">
              <a:lnSpc>
                <a:spcPct val="100000"/>
              </a:lnSpc>
            </a:pPr>
            <a:r>
              <a:rPr sz="1400" b="1" i="0">
                <a:solidFill>
                  <a:srgbClr val="05825F"/>
                </a:solidFill>
                <a:latin typeface="Roboto"/>
              </a:rPr>
              <a:t>1.3×</a:t>
            </a:r>
          </a:p>
        </p:txBody>
      </p:sp>
      <p:sp>
        <p:nvSpPr>
          <p:cNvPr id="68" name="mbl:txt:59" descr="{&quot;mbl&quot;: 1, &quot;c&quot;: &quot;txt&quot;, &quot;i&quot;: 59}"/>
          <p:cNvSpPr txBox="1"/>
          <p:nvPr/>
        </p:nvSpPr>
        <p:spPr>
          <a:xfrm>
            <a:off x="5120640" y="4956048"/>
            <a:ext cx="1170431" cy="365760"/>
          </a:xfrm>
          <a:prstGeom prst="rect">
            <a:avLst/>
          </a:prstGeom>
          <a:noFill/>
        </p:spPr>
        <p:txBody>
          <a:bodyPr wrap="square" anchor="ctr" lIns="0" rIns="0" tIns="0" bIns="0">
            <a:noAutofit/>
          </a:bodyPr>
          <a:lstStyle/>
          <a:p>
            <a:pPr algn="r">
              <a:lnSpc>
                <a:spcPct val="100000"/>
              </a:lnSpc>
            </a:pPr>
            <a:r>
              <a:rPr sz="1400" b="1" i="0">
                <a:solidFill>
                  <a:srgbClr val="05825F"/>
                </a:solidFill>
                <a:latin typeface="Roboto"/>
              </a:rPr>
              <a:t>1.8×</a:t>
            </a:r>
          </a:p>
        </p:txBody>
      </p:sp>
      <p:sp>
        <p:nvSpPr>
          <p:cNvPr id="69" name="mbl:txt:60" descr="{&quot;mbl&quot;: 1, &quot;c&quot;: &quot;txt&quot;, &quot;i&quot;: 60}"/>
          <p:cNvSpPr txBox="1"/>
          <p:nvPr/>
        </p:nvSpPr>
        <p:spPr>
          <a:xfrm>
            <a:off x="6400800" y="4956048"/>
            <a:ext cx="1170431" cy="365760"/>
          </a:xfrm>
          <a:prstGeom prst="rect">
            <a:avLst/>
          </a:prstGeom>
          <a:noFill/>
        </p:spPr>
        <p:txBody>
          <a:bodyPr wrap="square" anchor="ctr" lIns="0" rIns="0" tIns="0" bIns="0">
            <a:noAutofit/>
          </a:bodyPr>
          <a:lstStyle/>
          <a:p>
            <a:pPr algn="r">
              <a:lnSpc>
                <a:spcPct val="100000"/>
              </a:lnSpc>
            </a:pPr>
            <a:r>
              <a:rPr sz="1400" b="1" i="0">
                <a:solidFill>
                  <a:srgbClr val="05825F"/>
                </a:solidFill>
                <a:latin typeface="Roboto"/>
              </a:rPr>
              <a:t>2.5×</a:t>
            </a:r>
          </a:p>
        </p:txBody>
      </p:sp>
      <p:sp>
        <p:nvSpPr>
          <p:cNvPr id="70" name="mbl:txt:61" descr="{&quot;mbl&quot;: 1, &quot;c&quot;: &quot;txt&quot;, &quot;i&quot;: 61}"/>
          <p:cNvSpPr txBox="1"/>
          <p:nvPr/>
        </p:nvSpPr>
        <p:spPr>
          <a:xfrm>
            <a:off x="7680959" y="4956048"/>
            <a:ext cx="1170431" cy="365760"/>
          </a:xfrm>
          <a:prstGeom prst="rect">
            <a:avLst/>
          </a:prstGeom>
          <a:noFill/>
        </p:spPr>
        <p:txBody>
          <a:bodyPr wrap="square" anchor="ctr" lIns="0" rIns="0" tIns="0" bIns="0">
            <a:noAutofit/>
          </a:bodyPr>
          <a:lstStyle/>
          <a:p>
            <a:pPr algn="r">
              <a:lnSpc>
                <a:spcPct val="100000"/>
              </a:lnSpc>
            </a:pPr>
            <a:r>
              <a:rPr sz="1400" b="1" i="0">
                <a:solidFill>
                  <a:srgbClr val="05825F"/>
                </a:solidFill>
                <a:latin typeface="Roboto"/>
              </a:rPr>
              <a:t>3.1×</a:t>
            </a:r>
          </a:p>
        </p:txBody>
      </p:sp>
      <p:sp>
        <p:nvSpPr>
          <p:cNvPr id="71" name="mbl:txt:62" descr="{&quot;mbl&quot;: 1, &quot;c&quot;: &quot;txt&quot;, &quot;i&quot;: 62}"/>
          <p:cNvSpPr txBox="1"/>
          <p:nvPr/>
        </p:nvSpPr>
        <p:spPr>
          <a:xfrm>
            <a:off x="8961120" y="4956048"/>
            <a:ext cx="1170431" cy="365760"/>
          </a:xfrm>
          <a:prstGeom prst="rect">
            <a:avLst/>
          </a:prstGeom>
          <a:noFill/>
        </p:spPr>
        <p:txBody>
          <a:bodyPr wrap="square" anchor="ctr" lIns="0" rIns="0" tIns="0" bIns="0">
            <a:noAutofit/>
          </a:bodyPr>
          <a:lstStyle/>
          <a:p>
            <a:pPr algn="r">
              <a:lnSpc>
                <a:spcPct val="100000"/>
              </a:lnSpc>
            </a:pPr>
            <a:r>
              <a:rPr sz="1400" b="1" i="0">
                <a:solidFill>
                  <a:srgbClr val="567F8D"/>
                </a:solidFill>
                <a:latin typeface="Roboto"/>
              </a:rPr>
              <a:t>–</a:t>
            </a:r>
          </a:p>
        </p:txBody>
      </p:sp>
      <p:sp>
        <p:nvSpPr>
          <p:cNvPr id="72" name="mbl:txt:63" descr="{&quot;mbl&quot;: 1, &quot;c&quot;: &quot;txt&quot;, &quot;i&quot;: 63}"/>
          <p:cNvSpPr txBox="1"/>
          <p:nvPr/>
        </p:nvSpPr>
        <p:spPr>
          <a:xfrm>
            <a:off x="10241280" y="4956048"/>
            <a:ext cx="1170431" cy="365760"/>
          </a:xfrm>
          <a:prstGeom prst="rect">
            <a:avLst/>
          </a:prstGeom>
          <a:noFill/>
        </p:spPr>
        <p:txBody>
          <a:bodyPr wrap="square" anchor="ctr" lIns="0" rIns="0" tIns="0" bIns="0">
            <a:noAutofit/>
          </a:bodyPr>
          <a:lstStyle/>
          <a:p>
            <a:pPr algn="r">
              <a:lnSpc>
                <a:spcPct val="100000"/>
              </a:lnSpc>
            </a:pPr>
            <a:r>
              <a:rPr sz="1400" b="1" i="0">
                <a:solidFill>
                  <a:srgbClr val="567F8D"/>
                </a:solidFill>
                <a:latin typeface="Roboto"/>
              </a:rPr>
              <a:t>–</a:t>
            </a:r>
          </a:p>
        </p:txBody>
      </p:sp>
      <p:sp>
        <p:nvSpPr>
          <p:cNvPr id="73" name="mbl:txt:64" descr="{&quot;mbl&quot;: 1, &quot;c&quot;: &quot;txt&quot;, &quot;i&quot;: 64}"/>
          <p:cNvSpPr txBox="1"/>
          <p:nvPr/>
        </p:nvSpPr>
        <p:spPr>
          <a:xfrm>
            <a:off x="365760" y="5367528"/>
            <a:ext cx="3383279" cy="365760"/>
          </a:xfrm>
          <a:prstGeom prst="rect">
            <a:avLst/>
          </a:prstGeom>
          <a:noFill/>
        </p:spPr>
        <p:txBody>
          <a:bodyPr wrap="square" anchor="ctr" lIns="0" rIns="0" tIns="0" bIns="0">
            <a:noAutofit/>
          </a:bodyPr>
          <a:lstStyle/>
          <a:p>
            <a:pPr algn="l">
              <a:lnSpc>
                <a:spcPct val="100000"/>
              </a:lnSpc>
            </a:pPr>
            <a:r>
              <a:rPr sz="1300" b="1" i="0">
                <a:solidFill>
                  <a:srgbClr val="28495A"/>
                </a:solidFill>
                <a:latin typeface="Roboto"/>
              </a:rPr>
              <a:t>ivfplus vs IVFFlat on Postgres</a:t>
            </a:r>
          </a:p>
        </p:txBody>
      </p:sp>
      <p:sp>
        <p:nvSpPr>
          <p:cNvPr id="74" name="mbl:txt:65" descr="{&quot;mbl&quot;: 1, &quot;c&quot;: &quot;txt&quot;, &quot;i&quot;: 65}"/>
          <p:cNvSpPr txBox="1"/>
          <p:nvPr/>
        </p:nvSpPr>
        <p:spPr>
          <a:xfrm>
            <a:off x="3840480" y="5367528"/>
            <a:ext cx="1170431" cy="365760"/>
          </a:xfrm>
          <a:prstGeom prst="rect">
            <a:avLst/>
          </a:prstGeom>
          <a:noFill/>
        </p:spPr>
        <p:txBody>
          <a:bodyPr wrap="square" anchor="ctr" lIns="0" rIns="0" tIns="0" bIns="0">
            <a:noAutofit/>
          </a:bodyPr>
          <a:lstStyle/>
          <a:p>
            <a:pPr algn="r">
              <a:lnSpc>
                <a:spcPct val="100000"/>
              </a:lnSpc>
            </a:pPr>
            <a:r>
              <a:rPr sz="1400" b="1" i="0">
                <a:solidFill>
                  <a:srgbClr val="05825F"/>
                </a:solidFill>
                <a:latin typeface="Roboto"/>
              </a:rPr>
              <a:t>4.3×</a:t>
            </a:r>
          </a:p>
        </p:txBody>
      </p:sp>
      <p:sp>
        <p:nvSpPr>
          <p:cNvPr id="75" name="mbl:txt:66" descr="{&quot;mbl&quot;: 1, &quot;c&quot;: &quot;txt&quot;, &quot;i&quot;: 66}"/>
          <p:cNvSpPr txBox="1"/>
          <p:nvPr/>
        </p:nvSpPr>
        <p:spPr>
          <a:xfrm>
            <a:off x="5120640" y="5367528"/>
            <a:ext cx="1170431" cy="365760"/>
          </a:xfrm>
          <a:prstGeom prst="rect">
            <a:avLst/>
          </a:prstGeom>
          <a:noFill/>
        </p:spPr>
        <p:txBody>
          <a:bodyPr wrap="square" anchor="ctr" lIns="0" rIns="0" tIns="0" bIns="0">
            <a:noAutofit/>
          </a:bodyPr>
          <a:lstStyle/>
          <a:p>
            <a:pPr algn="r">
              <a:lnSpc>
                <a:spcPct val="100000"/>
              </a:lnSpc>
            </a:pPr>
            <a:r>
              <a:rPr sz="1400" b="1" i="0">
                <a:solidFill>
                  <a:srgbClr val="05825F"/>
                </a:solidFill>
                <a:latin typeface="Roboto"/>
              </a:rPr>
              <a:t>6.2×</a:t>
            </a:r>
          </a:p>
        </p:txBody>
      </p:sp>
      <p:sp>
        <p:nvSpPr>
          <p:cNvPr id="76" name="mbl:txt:67" descr="{&quot;mbl&quot;: 1, &quot;c&quot;: &quot;txt&quot;, &quot;i&quot;: 67}"/>
          <p:cNvSpPr txBox="1"/>
          <p:nvPr/>
        </p:nvSpPr>
        <p:spPr>
          <a:xfrm>
            <a:off x="6400800" y="5367528"/>
            <a:ext cx="1170431" cy="365760"/>
          </a:xfrm>
          <a:prstGeom prst="rect">
            <a:avLst/>
          </a:prstGeom>
          <a:noFill/>
        </p:spPr>
        <p:txBody>
          <a:bodyPr wrap="square" anchor="ctr" lIns="0" rIns="0" tIns="0" bIns="0">
            <a:noAutofit/>
          </a:bodyPr>
          <a:lstStyle/>
          <a:p>
            <a:pPr algn="r">
              <a:lnSpc>
                <a:spcPct val="100000"/>
              </a:lnSpc>
            </a:pPr>
            <a:r>
              <a:rPr sz="1400" b="1" i="0">
                <a:solidFill>
                  <a:srgbClr val="05825F"/>
                </a:solidFill>
                <a:latin typeface="Roboto"/>
              </a:rPr>
              <a:t>5.7×</a:t>
            </a:r>
          </a:p>
        </p:txBody>
      </p:sp>
      <p:sp>
        <p:nvSpPr>
          <p:cNvPr id="77" name="mbl:txt:68" descr="{&quot;mbl&quot;: 1, &quot;c&quot;: &quot;txt&quot;, &quot;i&quot;: 68}"/>
          <p:cNvSpPr txBox="1"/>
          <p:nvPr/>
        </p:nvSpPr>
        <p:spPr>
          <a:xfrm>
            <a:off x="7680959" y="5367528"/>
            <a:ext cx="1170431" cy="365760"/>
          </a:xfrm>
          <a:prstGeom prst="rect">
            <a:avLst/>
          </a:prstGeom>
          <a:noFill/>
        </p:spPr>
        <p:txBody>
          <a:bodyPr wrap="square" anchor="ctr" lIns="0" rIns="0" tIns="0" bIns="0">
            <a:noAutofit/>
          </a:bodyPr>
          <a:lstStyle/>
          <a:p>
            <a:pPr algn="r">
              <a:lnSpc>
                <a:spcPct val="100000"/>
              </a:lnSpc>
            </a:pPr>
            <a:r>
              <a:rPr sz="1400" b="1" i="0">
                <a:solidFill>
                  <a:srgbClr val="567F8D"/>
                </a:solidFill>
                <a:latin typeface="Roboto"/>
              </a:rPr>
              <a:t>–</a:t>
            </a:r>
          </a:p>
        </p:txBody>
      </p:sp>
      <p:sp>
        <p:nvSpPr>
          <p:cNvPr id="78" name="mbl:txt:69" descr="{&quot;mbl&quot;: 1, &quot;c&quot;: &quot;txt&quot;, &quot;i&quot;: 69}"/>
          <p:cNvSpPr txBox="1"/>
          <p:nvPr/>
        </p:nvSpPr>
        <p:spPr>
          <a:xfrm>
            <a:off x="8961120" y="5367528"/>
            <a:ext cx="1170431" cy="365760"/>
          </a:xfrm>
          <a:prstGeom prst="rect">
            <a:avLst/>
          </a:prstGeom>
          <a:noFill/>
        </p:spPr>
        <p:txBody>
          <a:bodyPr wrap="square" anchor="ctr" lIns="0" rIns="0" tIns="0" bIns="0">
            <a:noAutofit/>
          </a:bodyPr>
          <a:lstStyle/>
          <a:p>
            <a:pPr algn="r">
              <a:lnSpc>
                <a:spcPct val="100000"/>
              </a:lnSpc>
            </a:pPr>
            <a:r>
              <a:rPr sz="1400" b="1" i="0">
                <a:solidFill>
                  <a:srgbClr val="567F8D"/>
                </a:solidFill>
                <a:latin typeface="Roboto"/>
              </a:rPr>
              <a:t>–</a:t>
            </a:r>
          </a:p>
        </p:txBody>
      </p:sp>
      <p:sp>
        <p:nvSpPr>
          <p:cNvPr id="79" name="mbl:txt:70" descr="{&quot;mbl&quot;: 1, &quot;c&quot;: &quot;txt&quot;, &quot;i&quot;: 70}"/>
          <p:cNvSpPr txBox="1"/>
          <p:nvPr/>
        </p:nvSpPr>
        <p:spPr>
          <a:xfrm>
            <a:off x="10241280" y="5367528"/>
            <a:ext cx="1170431" cy="365760"/>
          </a:xfrm>
          <a:prstGeom prst="rect">
            <a:avLst/>
          </a:prstGeom>
          <a:noFill/>
        </p:spPr>
        <p:txBody>
          <a:bodyPr wrap="square" anchor="ctr" lIns="0" rIns="0" tIns="0" bIns="0">
            <a:noAutofit/>
          </a:bodyPr>
          <a:lstStyle/>
          <a:p>
            <a:pPr algn="r">
              <a:lnSpc>
                <a:spcPct val="100000"/>
              </a:lnSpc>
            </a:pPr>
            <a:r>
              <a:rPr sz="1400" b="1" i="0">
                <a:solidFill>
                  <a:srgbClr val="567F8D"/>
                </a:solidFill>
                <a:latin typeface="Roboto"/>
              </a:rPr>
              <a:t>–</a:t>
            </a:r>
          </a:p>
        </p:txBody>
      </p:sp>
      <p:sp>
        <p:nvSpPr>
          <p:cNvPr id="80" name="mbl:txt:71" descr="{&quot;mbl&quot;: 1, &quot;c&quot;: &quot;txt&quot;, &quot;i&quot;: 71}"/>
          <p:cNvSpPr txBox="1"/>
          <p:nvPr/>
        </p:nvSpPr>
        <p:spPr>
          <a:xfrm>
            <a:off x="365760" y="5815584"/>
            <a:ext cx="11460175" cy="365760"/>
          </a:xfrm>
          <a:prstGeom prst="rect">
            <a:avLst/>
          </a:prstGeom>
          <a:noFill/>
        </p:spPr>
        <p:txBody>
          <a:bodyPr wrap="square" anchor="t" lIns="0" rIns="0" tIns="0" bIns="0">
            <a:noAutofit/>
          </a:bodyPr>
          <a:lstStyle/>
          <a:p>
            <a:pPr algn="l">
              <a:lnSpc>
                <a:spcPct val="100000"/>
              </a:lnSpc>
            </a:pPr>
            <a:r>
              <a:rPr sz="1100" b="0" i="0">
                <a:solidFill>
                  <a:srgbClr val="567F8D"/>
                </a:solidFill>
                <a:latin typeface="Roboto"/>
              </a:rPr>
              <a:t>Interpolated along each measured curve, lowest of the repeats. ivfplus on Postgres plateaus at 0.886, so its comparison ends there; “not reached” means the engine never got that far.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IVFPLUS INDEXES ARE HALF THE SIZE; BUILD TIME MATCHES IVFFLAT</a:t>
            </a:r>
          </a:p>
        </p:txBody>
      </p:sp>
      <p:sp>
        <p:nvSpPr>
          <p:cNvPr id="4" name="mbl:txt:1" descr="{&quot;mbl&quot;: 1, &quot;c&quot;: &quot;txt&quot;, &quot;i&quot;: 1}"/>
          <p:cNvSpPr txBox="1"/>
          <p:nvPr/>
        </p:nvSpPr>
        <p:spPr>
          <a:xfrm>
            <a:off x="365760" y="1417320"/>
            <a:ext cx="5501487" cy="274320"/>
          </a:xfrm>
          <a:prstGeom prst="rect">
            <a:avLst/>
          </a:prstGeom>
          <a:noFill/>
        </p:spPr>
        <p:txBody>
          <a:bodyPr wrap="square" anchor="t" lIns="0" rIns="0" tIns="0" bIns="0">
            <a:noAutofit/>
          </a:bodyPr>
          <a:lstStyle/>
          <a:p>
            <a:pPr algn="l">
              <a:lnSpc>
                <a:spcPct val="100000"/>
              </a:lnSpc>
            </a:pPr>
            <a:r>
              <a:rPr sz="1400" b="1" i="0">
                <a:solidFill>
                  <a:srgbClr val="28495A"/>
                </a:solidFill>
                <a:latin typeface="Roboto Condensed"/>
              </a:rPr>
              <a:t>Build time, seconds</a:t>
            </a:r>
          </a:p>
        </p:txBody>
      </p:sp>
      <p:graphicFrame>
        <p:nvGraphicFramePr>
          <p:cNvPr id="5" name="mbl:chart:1" descr="{&quot;mbl&quot;: 1, &quot;c&quot;: &quot;chart&quot;, &quot;i&quot;: 1}"/>
          <p:cNvGraphicFramePr>
            <a:graphicFrameLocks noGrp="1"/>
          </p:cNvGraphicFramePr>
          <p:nvPr/>
        </p:nvGraphicFramePr>
        <p:xfrm>
          <a:off x="365760" y="1737360"/>
          <a:ext cx="5501487" cy="3566160"/>
        </p:xfrm>
        <a:graphic>
          <a:graphicData uri="http://schemas.openxmlformats.org/drawingml/2006/chart">
            <c:chart xmlns:c="http://schemas.openxmlformats.org/drawingml/2006/chart" r:id="rId2"/>
          </a:graphicData>
        </a:graphic>
      </p:graphicFrame>
      <p:sp>
        <p:nvSpPr>
          <p:cNvPr id="6" name="mbl:txt:2" descr="{&quot;mbl&quot;: 1, &quot;c&quot;: &quot;txt&quot;, &quot;i&quot;: 2}"/>
          <p:cNvSpPr txBox="1"/>
          <p:nvPr/>
        </p:nvSpPr>
        <p:spPr>
          <a:xfrm>
            <a:off x="6324447" y="1417320"/>
            <a:ext cx="5501487" cy="274320"/>
          </a:xfrm>
          <a:prstGeom prst="rect">
            <a:avLst/>
          </a:prstGeom>
          <a:noFill/>
        </p:spPr>
        <p:txBody>
          <a:bodyPr wrap="square" anchor="t" lIns="0" rIns="0" tIns="0" bIns="0">
            <a:noAutofit/>
          </a:bodyPr>
          <a:lstStyle/>
          <a:p>
            <a:pPr algn="l">
              <a:lnSpc>
                <a:spcPct val="100000"/>
              </a:lnSpc>
            </a:pPr>
            <a:r>
              <a:rPr sz="1400" b="1" i="0">
                <a:solidFill>
                  <a:srgbClr val="28495A"/>
                </a:solidFill>
                <a:latin typeface="Roboto Condensed"/>
              </a:rPr>
              <a:t>Index size, GiB</a:t>
            </a:r>
          </a:p>
        </p:txBody>
      </p:sp>
      <p:graphicFrame>
        <p:nvGraphicFramePr>
          <p:cNvPr id="7" name="mbl:chart:2" descr="{&quot;mbl&quot;: 1, &quot;c&quot;: &quot;chart&quot;, &quot;i&quot;: 2}"/>
          <p:cNvGraphicFramePr>
            <a:graphicFrameLocks noGrp="1"/>
          </p:cNvGraphicFramePr>
          <p:nvPr/>
        </p:nvGraphicFramePr>
        <p:xfrm>
          <a:off x="6324447" y="1737360"/>
          <a:ext cx="5501487" cy="3566160"/>
        </p:xfrm>
        <a:graphic>
          <a:graphicData uri="http://schemas.openxmlformats.org/drawingml/2006/chart">
            <c:chart xmlns:c="http://schemas.openxmlformats.org/drawingml/2006/chart" r:id="rId3"/>
          </a:graphicData>
        </a:graphic>
      </p:graphicFrame>
      <p:cxnSp>
        <p:nvCxnSpPr>
          <p:cNvPr id="8" name="mbl:vrule:1" descr="{&quot;mbl&quot;: 1, &quot;c&quot;: &quot;vrule&quot;, &quot;i&quot;: 1}"/>
          <p:cNvCxnSpPr/>
          <p:nvPr/>
        </p:nvCxnSpPr>
        <p:spPr>
          <a:xfrm>
            <a:off x="6095847" y="1691640"/>
            <a:ext cx="0" cy="3566160"/>
          </a:xfrm>
          <a:prstGeom prst="line">
            <a:avLst/>
          </a:prstGeom>
          <a:ln w="12700">
            <a:solidFill>
              <a:srgbClr val="A8C2CA"/>
            </a:solidFill>
          </a:ln>
          <a:effectLst/>
        </p:spPr>
        <p:style>
          <a:lnRef idx="2">
            <a:schemeClr val="accent1"/>
          </a:lnRef>
          <a:fillRef idx="0">
            <a:schemeClr val="accent1"/>
          </a:fillRef>
          <a:effectRef idx="0">
            <a:schemeClr val="accent1"/>
          </a:effectRef>
          <a:fontRef idx="minor">
            <a:schemeClr val="tx1"/>
          </a:fontRef>
        </p:style>
      </p:cxnSp>
      <p:cxnSp>
        <p:nvCxnSpPr>
          <p:cNvPr id="9" name="mbl:hrule:1" descr="{&quot;mbl&quot;: 1, &quot;c&quot;: &quot;hrule&quot;, &quot;i&quot;: 1}"/>
          <p:cNvCxnSpPr/>
          <p:nvPr/>
        </p:nvCxnSpPr>
        <p:spPr>
          <a:xfrm>
            <a:off x="365760" y="5257800"/>
            <a:ext cx="11460175" cy="0"/>
          </a:xfrm>
          <a:prstGeom prst="line">
            <a:avLst/>
          </a:prstGeom>
          <a:ln w="12700">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0" name="mbl:txt:3" descr="{&quot;mbl&quot;: 1, &quot;c&quot;: &quot;txt&quot;, &quot;i&quot;: 3}"/>
          <p:cNvSpPr txBox="1"/>
          <p:nvPr/>
        </p:nvSpPr>
        <p:spPr>
          <a:xfrm>
            <a:off x="365760" y="5413248"/>
            <a:ext cx="11460175" cy="73152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Per row: ivfplus 1,908 bytes, IVFFlat 4,100, VectorChord 4,268, ClickHouse 1,637. A raw 768-dimension vector is 3,072 bytes. Builds are single measurements; the WarehousePG builds ran on 2 segments.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DOUBLING THE ROWS ADDS 32 TO 56% LATENCY AND 2.5 TO 3.1X BUILD TIME</a:t>
            </a:r>
          </a:p>
        </p:txBody>
      </p:sp>
      <p:sp>
        <p:nvSpPr>
          <p:cNvPr id="4" name="mbl:txt:1" descr="{&quot;mbl&quot;: 1, &quot;c&quot;: &quot;txt&quot;, &quot;i&quot;: 1}"/>
          <p:cNvSpPr txBox="1"/>
          <p:nvPr/>
        </p:nvSpPr>
        <p:spPr>
          <a:xfrm>
            <a:off x="365760" y="1417320"/>
            <a:ext cx="2633472"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ENGINE</a:t>
            </a:r>
          </a:p>
        </p:txBody>
      </p:sp>
      <p:sp>
        <p:nvSpPr>
          <p:cNvPr id="5" name="mbl:txt:2" descr="{&quot;mbl&quot;: 1, &quot;c&quot;: &quot;txt&quot;, &quot;i&quot;: 2}"/>
          <p:cNvSpPr txBox="1"/>
          <p:nvPr/>
        </p:nvSpPr>
        <p:spPr>
          <a:xfrm>
            <a:off x="3108960" y="1417320"/>
            <a:ext cx="2221991"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LATENCY AT 16 PROBES</a:t>
            </a:r>
          </a:p>
        </p:txBody>
      </p:sp>
      <p:sp>
        <p:nvSpPr>
          <p:cNvPr id="6" name="mbl:txt:3" descr="{&quot;mbl&quot;: 1, &quot;c&quot;: &quot;txt&quot;, &quot;i&quot;: 3}"/>
          <p:cNvSpPr txBox="1"/>
          <p:nvPr/>
        </p:nvSpPr>
        <p:spPr>
          <a:xfrm>
            <a:off x="5440679" y="1417320"/>
            <a:ext cx="2039112"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RECALL AT 16 PROBES</a:t>
            </a:r>
          </a:p>
        </p:txBody>
      </p:sp>
      <p:sp>
        <p:nvSpPr>
          <p:cNvPr id="7" name="mbl:txt:4" descr="{&quot;mbl&quot;: 1, &quot;c&quot;: &quot;txt&quot;, &quot;i&quot;: 4}"/>
          <p:cNvSpPr txBox="1"/>
          <p:nvPr/>
        </p:nvSpPr>
        <p:spPr>
          <a:xfrm>
            <a:off x="7589519" y="1417320"/>
            <a:ext cx="1901952"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BUILD TIME</a:t>
            </a:r>
          </a:p>
        </p:txBody>
      </p:sp>
      <p:sp>
        <p:nvSpPr>
          <p:cNvPr id="8" name="mbl:txt:5" descr="{&quot;mbl&quot;: 1, &quot;c&quot;: &quot;txt&quot;, &quot;i&quot;: 5}"/>
          <p:cNvSpPr txBox="1"/>
          <p:nvPr/>
        </p:nvSpPr>
        <p:spPr>
          <a:xfrm>
            <a:off x="9601200" y="1417320"/>
            <a:ext cx="2112264"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INDEX SIZE</a:t>
            </a:r>
          </a:p>
        </p:txBody>
      </p:sp>
      <p:cxnSp>
        <p:nvCxnSpPr>
          <p:cNvPr id="9" name="mbl:hrule:1" descr="{&quot;mbl&quot;: 1, &quot;c&quot;: &quot;hrule&quot;, &quot;i&quot;: 1}"/>
          <p:cNvCxnSpPr/>
          <p:nvPr/>
        </p:nvCxnSpPr>
        <p:spPr>
          <a:xfrm>
            <a:off x="365760" y="1728216"/>
            <a:ext cx="11457432" cy="0"/>
          </a:xfrm>
          <a:prstGeom prst="line">
            <a:avLst/>
          </a:prstGeom>
          <a:ln w="25400">
            <a:solidFill>
              <a:srgbClr val="28495A"/>
            </a:solidFill>
          </a:ln>
          <a:effectLst/>
        </p:spPr>
        <p:style>
          <a:lnRef idx="2">
            <a:schemeClr val="accent1"/>
          </a:lnRef>
          <a:fillRef idx="0">
            <a:schemeClr val="accent1"/>
          </a:fillRef>
          <a:effectRef idx="0">
            <a:schemeClr val="accent1"/>
          </a:effectRef>
          <a:fontRef idx="minor">
            <a:schemeClr val="tx1"/>
          </a:fontRef>
        </p:style>
      </p:cxnSp>
      <p:sp>
        <p:nvSpPr>
          <p:cNvPr id="10" name="mbl:txt:6" descr="{&quot;mbl&quot;: 1, &quot;c&quot;: &quot;txt&quot;, &quot;i&quot;: 6}"/>
          <p:cNvSpPr txBox="1"/>
          <p:nvPr/>
        </p:nvSpPr>
        <p:spPr>
          <a:xfrm>
            <a:off x="365760" y="1801368"/>
            <a:ext cx="2633472" cy="618134"/>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EDB Vector Plus</a:t>
            </a:r>
          </a:p>
        </p:txBody>
      </p:sp>
      <p:sp>
        <p:nvSpPr>
          <p:cNvPr id="11" name="mbl:txt:7" descr="{&quot;mbl&quot;: 1, &quot;c&quot;: &quot;txt&quot;, &quot;i&quot;: 7}"/>
          <p:cNvSpPr txBox="1"/>
          <p:nvPr/>
        </p:nvSpPr>
        <p:spPr>
          <a:xfrm>
            <a:off x="3108960" y="1801368"/>
            <a:ext cx="2221991"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4.3 → 5.7 ms  (×1.31)</a:t>
            </a:r>
          </a:p>
        </p:txBody>
      </p:sp>
      <p:sp>
        <p:nvSpPr>
          <p:cNvPr id="12" name="mbl:txt:8" descr="{&quot;mbl&quot;: 1, &quot;c&quot;: &quot;txt&quot;, &quot;i&quot;: 8}"/>
          <p:cNvSpPr txBox="1"/>
          <p:nvPr/>
        </p:nvSpPr>
        <p:spPr>
          <a:xfrm>
            <a:off x="5440679" y="1801368"/>
            <a:ext cx="2039112"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0.882 → 0.834</a:t>
            </a:r>
          </a:p>
        </p:txBody>
      </p:sp>
      <p:sp>
        <p:nvSpPr>
          <p:cNvPr id="13" name="mbl:txt:9" descr="{&quot;mbl&quot;: 1, &quot;c&quot;: &quot;txt&quot;, &quot;i&quot;: 9}"/>
          <p:cNvSpPr txBox="1"/>
          <p:nvPr/>
        </p:nvSpPr>
        <p:spPr>
          <a:xfrm>
            <a:off x="7589519" y="1801368"/>
            <a:ext cx="1901952"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×2.5</a:t>
            </a:r>
          </a:p>
        </p:txBody>
      </p:sp>
      <p:sp>
        <p:nvSpPr>
          <p:cNvPr id="14" name="mbl:txt:10" descr="{&quot;mbl&quot;: 1, &quot;c&quot;: &quot;txt&quot;, &quot;i&quot;: 10}"/>
          <p:cNvSpPr txBox="1"/>
          <p:nvPr/>
        </p:nvSpPr>
        <p:spPr>
          <a:xfrm>
            <a:off x="9601200" y="1801368"/>
            <a:ext cx="2112264"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×2.0</a:t>
            </a:r>
          </a:p>
        </p:txBody>
      </p:sp>
      <p:cxnSp>
        <p:nvCxnSpPr>
          <p:cNvPr id="15" name="mbl:hrule:2" descr="{&quot;mbl&quot;: 1, &quot;c&quot;: &quot;hrule&quot;, &quot;i&quot;: 2}"/>
          <p:cNvCxnSpPr/>
          <p:nvPr/>
        </p:nvCxnSpPr>
        <p:spPr>
          <a:xfrm>
            <a:off x="365760" y="2419502"/>
            <a:ext cx="11457432"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6" name="mbl:txt:11" descr="{&quot;mbl&quot;: 1, &quot;c&quot;: &quot;txt&quot;, &quot;i&quot;: 11}"/>
          <p:cNvSpPr txBox="1"/>
          <p:nvPr/>
        </p:nvSpPr>
        <p:spPr>
          <a:xfrm>
            <a:off x="365760" y="2419502"/>
            <a:ext cx="2633472" cy="618134"/>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EDB ivfplus @ WHPG</a:t>
            </a:r>
          </a:p>
        </p:txBody>
      </p:sp>
      <p:sp>
        <p:nvSpPr>
          <p:cNvPr id="17" name="mbl:txt:12" descr="{&quot;mbl&quot;: 1, &quot;c&quot;: &quot;txt&quot;, &quot;i&quot;: 12}"/>
          <p:cNvSpPr txBox="1"/>
          <p:nvPr/>
        </p:nvSpPr>
        <p:spPr>
          <a:xfrm>
            <a:off x="3108960" y="2419502"/>
            <a:ext cx="2221991"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4.0 → 5.3 ms  (×1.32)</a:t>
            </a:r>
          </a:p>
        </p:txBody>
      </p:sp>
      <p:sp>
        <p:nvSpPr>
          <p:cNvPr id="18" name="mbl:txt:13" descr="{&quot;mbl&quot;: 1, &quot;c&quot;: &quot;txt&quot;, &quot;i&quot;: 13}"/>
          <p:cNvSpPr txBox="1"/>
          <p:nvPr/>
        </p:nvSpPr>
        <p:spPr>
          <a:xfrm>
            <a:off x="5440679" y="2419502"/>
            <a:ext cx="2039112"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0.914 → 0.874</a:t>
            </a:r>
          </a:p>
        </p:txBody>
      </p:sp>
      <p:sp>
        <p:nvSpPr>
          <p:cNvPr id="19" name="mbl:txt:14" descr="{&quot;mbl&quot;: 1, &quot;c&quot;: &quot;txt&quot;, &quot;i&quot;: 14}"/>
          <p:cNvSpPr txBox="1"/>
          <p:nvPr/>
        </p:nvSpPr>
        <p:spPr>
          <a:xfrm>
            <a:off x="7589519" y="2419502"/>
            <a:ext cx="1901952"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×3.1</a:t>
            </a:r>
          </a:p>
        </p:txBody>
      </p:sp>
      <p:sp>
        <p:nvSpPr>
          <p:cNvPr id="20" name="mbl:txt:15" descr="{&quot;mbl&quot;: 1, &quot;c&quot;: &quot;txt&quot;, &quot;i&quot;: 15}"/>
          <p:cNvSpPr txBox="1"/>
          <p:nvPr/>
        </p:nvSpPr>
        <p:spPr>
          <a:xfrm>
            <a:off x="9601200" y="2419502"/>
            <a:ext cx="2112264"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×1.9</a:t>
            </a:r>
          </a:p>
        </p:txBody>
      </p:sp>
      <p:cxnSp>
        <p:nvCxnSpPr>
          <p:cNvPr id="21" name="mbl:hrule:3" descr="{&quot;mbl&quot;: 1, &quot;c&quot;: &quot;hrule&quot;, &quot;i&quot;: 3}"/>
          <p:cNvCxnSpPr/>
          <p:nvPr/>
        </p:nvCxnSpPr>
        <p:spPr>
          <a:xfrm>
            <a:off x="365760" y="3037636"/>
            <a:ext cx="11457432"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2" name="mbl:txt:16" descr="{&quot;mbl&quot;: 1, &quot;c&quot;: &quot;txt&quot;, &quot;i&quot;: 16}"/>
          <p:cNvSpPr txBox="1"/>
          <p:nvPr/>
        </p:nvSpPr>
        <p:spPr>
          <a:xfrm>
            <a:off x="365760" y="3037636"/>
            <a:ext cx="2633472" cy="618134"/>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pgvector IVFFlat</a:t>
            </a:r>
          </a:p>
        </p:txBody>
      </p:sp>
      <p:sp>
        <p:nvSpPr>
          <p:cNvPr id="23" name="mbl:txt:17" descr="{&quot;mbl&quot;: 1, &quot;c&quot;: &quot;txt&quot;, &quot;i&quot;: 17}"/>
          <p:cNvSpPr txBox="1"/>
          <p:nvPr/>
        </p:nvSpPr>
        <p:spPr>
          <a:xfrm>
            <a:off x="3108960" y="3037636"/>
            <a:ext cx="2221991"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34.8 → 52.2 ms  (×1.50)</a:t>
            </a:r>
          </a:p>
        </p:txBody>
      </p:sp>
      <p:sp>
        <p:nvSpPr>
          <p:cNvPr id="24" name="mbl:txt:18" descr="{&quot;mbl&quot;: 1, &quot;c&quot;: &quot;txt&quot;, &quot;i&quot;: 18}"/>
          <p:cNvSpPr txBox="1"/>
          <p:nvPr/>
        </p:nvSpPr>
        <p:spPr>
          <a:xfrm>
            <a:off x="5440679" y="3037636"/>
            <a:ext cx="2039112"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0.938 → 0.906</a:t>
            </a:r>
          </a:p>
        </p:txBody>
      </p:sp>
      <p:sp>
        <p:nvSpPr>
          <p:cNvPr id="25" name="mbl:txt:19" descr="{&quot;mbl&quot;: 1, &quot;c&quot;: &quot;txt&quot;, &quot;i&quot;: 19}"/>
          <p:cNvSpPr txBox="1"/>
          <p:nvPr/>
        </p:nvSpPr>
        <p:spPr>
          <a:xfrm>
            <a:off x="7589519" y="3037636"/>
            <a:ext cx="1901952"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×2.5</a:t>
            </a:r>
          </a:p>
        </p:txBody>
      </p:sp>
      <p:sp>
        <p:nvSpPr>
          <p:cNvPr id="26" name="mbl:txt:20" descr="{&quot;mbl&quot;: 1, &quot;c&quot;: &quot;txt&quot;, &quot;i&quot;: 20}"/>
          <p:cNvSpPr txBox="1"/>
          <p:nvPr/>
        </p:nvSpPr>
        <p:spPr>
          <a:xfrm>
            <a:off x="9601200" y="3037636"/>
            <a:ext cx="2112264"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×2.0</a:t>
            </a:r>
          </a:p>
        </p:txBody>
      </p:sp>
      <p:cxnSp>
        <p:nvCxnSpPr>
          <p:cNvPr id="27" name="mbl:hrule:4" descr="{&quot;mbl&quot;: 1, &quot;c&quot;: &quot;hrule&quot;, &quot;i&quot;: 4}"/>
          <p:cNvCxnSpPr/>
          <p:nvPr/>
        </p:nvCxnSpPr>
        <p:spPr>
          <a:xfrm>
            <a:off x="365760" y="3655771"/>
            <a:ext cx="11457432"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8" name="mbl:txt:21" descr="{&quot;mbl&quot;: 1, &quot;c&quot;: &quot;txt&quot;, &quot;i&quot;: 21}"/>
          <p:cNvSpPr txBox="1"/>
          <p:nvPr/>
        </p:nvSpPr>
        <p:spPr>
          <a:xfrm>
            <a:off x="365760" y="3655771"/>
            <a:ext cx="2633472" cy="618134"/>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pgvector IVFFlat @ WHPG</a:t>
            </a:r>
          </a:p>
        </p:txBody>
      </p:sp>
      <p:sp>
        <p:nvSpPr>
          <p:cNvPr id="29" name="mbl:txt:22" descr="{&quot;mbl&quot;: 1, &quot;c&quot;: &quot;txt&quot;, &quot;i&quot;: 22}"/>
          <p:cNvSpPr txBox="1"/>
          <p:nvPr/>
        </p:nvSpPr>
        <p:spPr>
          <a:xfrm>
            <a:off x="3108960" y="3655771"/>
            <a:ext cx="2221991"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12.6 → 19.3 ms  (×1.53)</a:t>
            </a:r>
          </a:p>
        </p:txBody>
      </p:sp>
      <p:sp>
        <p:nvSpPr>
          <p:cNvPr id="30" name="mbl:txt:23" descr="{&quot;mbl&quot;: 1, &quot;c&quot;: &quot;txt&quot;, &quot;i&quot;: 23}"/>
          <p:cNvSpPr txBox="1"/>
          <p:nvPr/>
        </p:nvSpPr>
        <p:spPr>
          <a:xfrm>
            <a:off x="5440679" y="3655771"/>
            <a:ext cx="2039112"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0.946 → 0.916</a:t>
            </a:r>
          </a:p>
        </p:txBody>
      </p:sp>
      <p:sp>
        <p:nvSpPr>
          <p:cNvPr id="31" name="mbl:txt:24" descr="{&quot;mbl&quot;: 1, &quot;c&quot;: &quot;txt&quot;, &quot;i&quot;: 24}"/>
          <p:cNvSpPr txBox="1"/>
          <p:nvPr/>
        </p:nvSpPr>
        <p:spPr>
          <a:xfrm>
            <a:off x="7589519" y="3655771"/>
            <a:ext cx="1901952"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×3.0</a:t>
            </a:r>
          </a:p>
        </p:txBody>
      </p:sp>
      <p:sp>
        <p:nvSpPr>
          <p:cNvPr id="32" name="mbl:txt:25" descr="{&quot;mbl&quot;: 1, &quot;c&quot;: &quot;txt&quot;, &quot;i&quot;: 25}"/>
          <p:cNvSpPr txBox="1"/>
          <p:nvPr/>
        </p:nvSpPr>
        <p:spPr>
          <a:xfrm>
            <a:off x="9601200" y="3655771"/>
            <a:ext cx="2112264"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×2.0</a:t>
            </a:r>
          </a:p>
        </p:txBody>
      </p:sp>
      <p:cxnSp>
        <p:nvCxnSpPr>
          <p:cNvPr id="33" name="mbl:hrule:5" descr="{&quot;mbl&quot;: 1, &quot;c&quot;: &quot;hrule&quot;, &quot;i&quot;: 5}"/>
          <p:cNvCxnSpPr/>
          <p:nvPr/>
        </p:nvCxnSpPr>
        <p:spPr>
          <a:xfrm>
            <a:off x="365760" y="4273905"/>
            <a:ext cx="11457432"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34" name="mbl:txt:26" descr="{&quot;mbl&quot;: 1, &quot;c&quot;: &quot;txt&quot;, &quot;i&quot;: 26}"/>
          <p:cNvSpPr txBox="1"/>
          <p:nvPr/>
        </p:nvSpPr>
        <p:spPr>
          <a:xfrm>
            <a:off x="365760" y="4273905"/>
            <a:ext cx="2633472" cy="618134"/>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VectorChord</a:t>
            </a:r>
          </a:p>
        </p:txBody>
      </p:sp>
      <p:sp>
        <p:nvSpPr>
          <p:cNvPr id="35" name="mbl:txt:27" descr="{&quot;mbl&quot;: 1, &quot;c&quot;: &quot;txt&quot;, &quot;i&quot;: 27}"/>
          <p:cNvSpPr txBox="1"/>
          <p:nvPr/>
        </p:nvSpPr>
        <p:spPr>
          <a:xfrm>
            <a:off x="3108960" y="4273905"/>
            <a:ext cx="2221991"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33.6 → 47.3 ms  (×1.41)</a:t>
            </a:r>
          </a:p>
        </p:txBody>
      </p:sp>
      <p:sp>
        <p:nvSpPr>
          <p:cNvPr id="36" name="mbl:txt:28" descr="{&quot;mbl&quot;: 1, &quot;c&quot;: &quot;txt&quot;, &quot;i&quot;: 28}"/>
          <p:cNvSpPr txBox="1"/>
          <p:nvPr/>
        </p:nvSpPr>
        <p:spPr>
          <a:xfrm>
            <a:off x="5440679" y="4273905"/>
            <a:ext cx="2039112"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0.914 → 0.904</a:t>
            </a:r>
          </a:p>
        </p:txBody>
      </p:sp>
      <p:sp>
        <p:nvSpPr>
          <p:cNvPr id="37" name="mbl:txt:29" descr="{&quot;mbl&quot;: 1, &quot;c&quot;: &quot;txt&quot;, &quot;i&quot;: 29}"/>
          <p:cNvSpPr txBox="1"/>
          <p:nvPr/>
        </p:nvSpPr>
        <p:spPr>
          <a:xfrm>
            <a:off x="7589519" y="4273905"/>
            <a:ext cx="1901952"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×3.1</a:t>
            </a:r>
          </a:p>
        </p:txBody>
      </p:sp>
      <p:sp>
        <p:nvSpPr>
          <p:cNvPr id="38" name="mbl:txt:30" descr="{&quot;mbl&quot;: 1, &quot;c&quot;: &quot;txt&quot;, &quot;i&quot;: 30}"/>
          <p:cNvSpPr txBox="1"/>
          <p:nvPr/>
        </p:nvSpPr>
        <p:spPr>
          <a:xfrm>
            <a:off x="9601200" y="4273905"/>
            <a:ext cx="2112264" cy="618134"/>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×2.0</a:t>
            </a:r>
          </a:p>
        </p:txBody>
      </p:sp>
      <p:sp>
        <p:nvSpPr>
          <p:cNvPr id="39" name="mbl:txt:31" descr="{&quot;mbl&quot;: 1, &quot;c&quot;: &quot;txt&quot;, &quot;i&quot;: 31}"/>
          <p:cNvSpPr txBox="1"/>
          <p:nvPr/>
        </p:nvSpPr>
        <p:spPr>
          <a:xfrm>
            <a:off x="365760" y="5074920"/>
            <a:ext cx="11460175" cy="100584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Doubling the rows doubles the index and multiplies build time by 2.5 to 3.1. Query latency grows by less than the data, but recall at the same probes falls by 0.01 to 0.05, so a larger table needs a few more probes for the same recall. The 1M figures are a single run.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WAREHOUSEPG CUTS IVFFLAT LATENCY 2.5X, BUT IVFPLUS MAINLY GAINS RECALL</a:t>
            </a:r>
          </a:p>
        </p:txBody>
      </p:sp>
      <p:sp>
        <p:nvSpPr>
          <p:cNvPr id="4" name="mbl:txt:1" descr="{&quot;mbl&quot;: 1, &quot;c&quot;: &quot;txt&quot;, &quot;i&quot;: 1}"/>
          <p:cNvSpPr txBox="1"/>
          <p:nvPr/>
        </p:nvSpPr>
        <p:spPr>
          <a:xfrm>
            <a:off x="365760" y="1417320"/>
            <a:ext cx="2999232"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ENGINE AND PROBES</a:t>
            </a:r>
          </a:p>
        </p:txBody>
      </p:sp>
      <p:sp>
        <p:nvSpPr>
          <p:cNvPr id="5" name="mbl:txt:2" descr="{&quot;mbl&quot;: 1, &quot;c&quot;: &quot;txt&quot;, &quot;i&quot;: 2}"/>
          <p:cNvSpPr txBox="1"/>
          <p:nvPr/>
        </p:nvSpPr>
        <p:spPr>
          <a:xfrm>
            <a:off x="3474720" y="1417320"/>
            <a:ext cx="2542032"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POSTGRES</a:t>
            </a:r>
          </a:p>
        </p:txBody>
      </p:sp>
      <p:sp>
        <p:nvSpPr>
          <p:cNvPr id="6" name="mbl:txt:3" descr="{&quot;mbl&quot;: 1, &quot;c&quot;: &quot;txt&quot;, &quot;i&quot;: 3}"/>
          <p:cNvSpPr txBox="1"/>
          <p:nvPr/>
        </p:nvSpPr>
        <p:spPr>
          <a:xfrm>
            <a:off x="6126479" y="1417320"/>
            <a:ext cx="2542032"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WAREHOUSEPG</a:t>
            </a:r>
          </a:p>
        </p:txBody>
      </p:sp>
      <p:sp>
        <p:nvSpPr>
          <p:cNvPr id="7" name="mbl:txt:4" descr="{&quot;mbl&quot;: 1, &quot;c&quot;: &quot;txt&quot;, &quot;i&quot;: 4}"/>
          <p:cNvSpPr txBox="1"/>
          <p:nvPr/>
        </p:nvSpPr>
        <p:spPr>
          <a:xfrm>
            <a:off x="8778240" y="1417320"/>
            <a:ext cx="1444752"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LATENCY GAIN</a:t>
            </a:r>
          </a:p>
        </p:txBody>
      </p:sp>
      <p:sp>
        <p:nvSpPr>
          <p:cNvPr id="8" name="mbl:txt:5" descr="{&quot;mbl&quot;: 1, &quot;c&quot;: &quot;txt&quot;, &quot;i&quot;: 5}"/>
          <p:cNvSpPr txBox="1"/>
          <p:nvPr/>
        </p:nvSpPr>
        <p:spPr>
          <a:xfrm>
            <a:off x="10332719" y="1417320"/>
            <a:ext cx="1383487"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RECALL GAIN</a:t>
            </a:r>
          </a:p>
        </p:txBody>
      </p:sp>
      <p:cxnSp>
        <p:nvCxnSpPr>
          <p:cNvPr id="9" name="mbl:hrule:1" descr="{&quot;mbl&quot;: 1, &quot;c&quot;: &quot;hrule&quot;, &quot;i&quot;: 1}"/>
          <p:cNvCxnSpPr/>
          <p:nvPr/>
        </p:nvCxnSpPr>
        <p:spPr>
          <a:xfrm>
            <a:off x="365760" y="1728216"/>
            <a:ext cx="11460175" cy="0"/>
          </a:xfrm>
          <a:prstGeom prst="line">
            <a:avLst/>
          </a:prstGeom>
          <a:ln w="25400">
            <a:solidFill>
              <a:srgbClr val="28495A"/>
            </a:solidFill>
          </a:ln>
          <a:effectLst/>
        </p:spPr>
        <p:style>
          <a:lnRef idx="2">
            <a:schemeClr val="accent1"/>
          </a:lnRef>
          <a:fillRef idx="0">
            <a:schemeClr val="accent1"/>
          </a:fillRef>
          <a:effectRef idx="0">
            <a:schemeClr val="accent1"/>
          </a:effectRef>
          <a:fontRef idx="minor">
            <a:schemeClr val="tx1"/>
          </a:fontRef>
        </p:style>
      </p:cxnSp>
      <p:sp>
        <p:nvSpPr>
          <p:cNvPr id="10" name="mbl:txt:6" descr="{&quot;mbl&quot;: 1, &quot;c&quot;: &quot;txt&quot;, &quot;i&quot;: 6}"/>
          <p:cNvSpPr txBox="1"/>
          <p:nvPr/>
        </p:nvSpPr>
        <p:spPr>
          <a:xfrm>
            <a:off x="365760" y="1801368"/>
            <a:ext cx="2999232" cy="669798"/>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ivfplus, 16 probes</a:t>
            </a:r>
          </a:p>
        </p:txBody>
      </p:sp>
      <p:sp>
        <p:nvSpPr>
          <p:cNvPr id="11" name="mbl:txt:7" descr="{&quot;mbl&quot;: 1, &quot;c&quot;: &quot;txt&quot;, &quot;i&quot;: 7}"/>
          <p:cNvSpPr txBox="1"/>
          <p:nvPr/>
        </p:nvSpPr>
        <p:spPr>
          <a:xfrm>
            <a:off x="3474720" y="1801368"/>
            <a:ext cx="2542032" cy="669798"/>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5.7 ms · recall 0.834</a:t>
            </a:r>
          </a:p>
        </p:txBody>
      </p:sp>
      <p:sp>
        <p:nvSpPr>
          <p:cNvPr id="12" name="mbl:txt:8" descr="{&quot;mbl&quot;: 1, &quot;c&quot;: &quot;txt&quot;, &quot;i&quot;: 8}"/>
          <p:cNvSpPr txBox="1"/>
          <p:nvPr/>
        </p:nvSpPr>
        <p:spPr>
          <a:xfrm>
            <a:off x="6126479" y="1801368"/>
            <a:ext cx="2542032" cy="669798"/>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5.3 ms · recall 0.874</a:t>
            </a:r>
          </a:p>
        </p:txBody>
      </p:sp>
      <p:sp>
        <p:nvSpPr>
          <p:cNvPr id="13" name="mbl:txt:9" descr="{&quot;mbl&quot;: 1, &quot;c&quot;: &quot;txt&quot;, &quot;i&quot;: 9}"/>
          <p:cNvSpPr txBox="1"/>
          <p:nvPr/>
        </p:nvSpPr>
        <p:spPr>
          <a:xfrm>
            <a:off x="8778240" y="1801368"/>
            <a:ext cx="1444752" cy="669798"/>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1.07×</a:t>
            </a:r>
          </a:p>
        </p:txBody>
      </p:sp>
      <p:sp>
        <p:nvSpPr>
          <p:cNvPr id="14" name="mbl:txt:10" descr="{&quot;mbl&quot;: 1, &quot;c&quot;: &quot;txt&quot;, &quot;i&quot;: 10}"/>
          <p:cNvSpPr txBox="1"/>
          <p:nvPr/>
        </p:nvSpPr>
        <p:spPr>
          <a:xfrm>
            <a:off x="10332719" y="1801368"/>
            <a:ext cx="1383487" cy="669798"/>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+0.040</a:t>
            </a:r>
          </a:p>
        </p:txBody>
      </p:sp>
      <p:cxnSp>
        <p:nvCxnSpPr>
          <p:cNvPr id="15" name="mbl:hrule:2" descr="{&quot;mbl&quot;: 1, &quot;c&quot;: &quot;hrule&quot;, &quot;i&quot;: 2}"/>
          <p:cNvCxnSpPr/>
          <p:nvPr/>
        </p:nvCxnSpPr>
        <p:spPr>
          <a:xfrm>
            <a:off x="365760" y="2471166"/>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6" name="mbl:txt:11" descr="{&quot;mbl&quot;: 1, &quot;c&quot;: &quot;txt&quot;, &quot;i&quot;: 11}"/>
          <p:cNvSpPr txBox="1"/>
          <p:nvPr/>
        </p:nvSpPr>
        <p:spPr>
          <a:xfrm>
            <a:off x="365760" y="2471166"/>
            <a:ext cx="2999232" cy="669798"/>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ivfplus, 32 probes</a:t>
            </a:r>
          </a:p>
        </p:txBody>
      </p:sp>
      <p:sp>
        <p:nvSpPr>
          <p:cNvPr id="17" name="mbl:txt:12" descr="{&quot;mbl&quot;: 1, &quot;c&quot;: &quot;txt&quot;, &quot;i&quot;: 12}"/>
          <p:cNvSpPr txBox="1"/>
          <p:nvPr/>
        </p:nvSpPr>
        <p:spPr>
          <a:xfrm>
            <a:off x="3474720" y="2471166"/>
            <a:ext cx="2542032" cy="669798"/>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10.0 ms · recall 0.880</a:t>
            </a:r>
          </a:p>
        </p:txBody>
      </p:sp>
      <p:sp>
        <p:nvSpPr>
          <p:cNvPr id="18" name="mbl:txt:13" descr="{&quot;mbl&quot;: 1, &quot;c&quot;: &quot;txt&quot;, &quot;i&quot;: 13}"/>
          <p:cNvSpPr txBox="1"/>
          <p:nvPr/>
        </p:nvSpPr>
        <p:spPr>
          <a:xfrm>
            <a:off x="6126479" y="2471166"/>
            <a:ext cx="2542032" cy="669798"/>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6.1 ms · recall 0.936</a:t>
            </a:r>
          </a:p>
        </p:txBody>
      </p:sp>
      <p:sp>
        <p:nvSpPr>
          <p:cNvPr id="19" name="mbl:txt:14" descr="{&quot;mbl&quot;: 1, &quot;c&quot;: &quot;txt&quot;, &quot;i&quot;: 14}"/>
          <p:cNvSpPr txBox="1"/>
          <p:nvPr/>
        </p:nvSpPr>
        <p:spPr>
          <a:xfrm>
            <a:off x="8778240" y="2471166"/>
            <a:ext cx="1444752" cy="669798"/>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1.64×</a:t>
            </a:r>
          </a:p>
        </p:txBody>
      </p:sp>
      <p:sp>
        <p:nvSpPr>
          <p:cNvPr id="20" name="mbl:txt:15" descr="{&quot;mbl&quot;: 1, &quot;c&quot;: &quot;txt&quot;, &quot;i&quot;: 15}"/>
          <p:cNvSpPr txBox="1"/>
          <p:nvPr/>
        </p:nvSpPr>
        <p:spPr>
          <a:xfrm>
            <a:off x="10332719" y="2471166"/>
            <a:ext cx="1383487" cy="669798"/>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+0.056</a:t>
            </a:r>
          </a:p>
        </p:txBody>
      </p:sp>
      <p:cxnSp>
        <p:nvCxnSpPr>
          <p:cNvPr id="21" name="mbl:hrule:3" descr="{&quot;mbl&quot;: 1, &quot;c&quot;: &quot;hrule&quot;, &quot;i&quot;: 3}"/>
          <p:cNvCxnSpPr/>
          <p:nvPr/>
        </p:nvCxnSpPr>
        <p:spPr>
          <a:xfrm>
            <a:off x="365760" y="3140964"/>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2" name="mbl:txt:16" descr="{&quot;mbl&quot;: 1, &quot;c&quot;: &quot;txt&quot;, &quot;i&quot;: 16}"/>
          <p:cNvSpPr txBox="1"/>
          <p:nvPr/>
        </p:nvSpPr>
        <p:spPr>
          <a:xfrm>
            <a:off x="365760" y="3140964"/>
            <a:ext cx="2999232" cy="669798"/>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IVFFlat, 16 probes</a:t>
            </a:r>
          </a:p>
        </p:txBody>
      </p:sp>
      <p:sp>
        <p:nvSpPr>
          <p:cNvPr id="23" name="mbl:txt:17" descr="{&quot;mbl&quot;: 1, &quot;c&quot;: &quot;txt&quot;, &quot;i&quot;: 17}"/>
          <p:cNvSpPr txBox="1"/>
          <p:nvPr/>
        </p:nvSpPr>
        <p:spPr>
          <a:xfrm>
            <a:off x="3474720" y="3140964"/>
            <a:ext cx="2542032" cy="669798"/>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52.2 ms · recall 0.906</a:t>
            </a:r>
          </a:p>
        </p:txBody>
      </p:sp>
      <p:sp>
        <p:nvSpPr>
          <p:cNvPr id="24" name="mbl:txt:18" descr="{&quot;mbl&quot;: 1, &quot;c&quot;: &quot;txt&quot;, &quot;i&quot;: 18}"/>
          <p:cNvSpPr txBox="1"/>
          <p:nvPr/>
        </p:nvSpPr>
        <p:spPr>
          <a:xfrm>
            <a:off x="6126479" y="3140964"/>
            <a:ext cx="2542032" cy="669798"/>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19.3 ms · recall 0.916</a:t>
            </a:r>
          </a:p>
        </p:txBody>
      </p:sp>
      <p:sp>
        <p:nvSpPr>
          <p:cNvPr id="25" name="mbl:txt:19" descr="{&quot;mbl&quot;: 1, &quot;c&quot;: &quot;txt&quot;, &quot;i&quot;: 19}"/>
          <p:cNvSpPr txBox="1"/>
          <p:nvPr/>
        </p:nvSpPr>
        <p:spPr>
          <a:xfrm>
            <a:off x="8778240" y="3140964"/>
            <a:ext cx="1444752" cy="669798"/>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2.71×</a:t>
            </a:r>
          </a:p>
        </p:txBody>
      </p:sp>
      <p:sp>
        <p:nvSpPr>
          <p:cNvPr id="26" name="mbl:txt:20" descr="{&quot;mbl&quot;: 1, &quot;c&quot;: &quot;txt&quot;, &quot;i&quot;: 20}"/>
          <p:cNvSpPr txBox="1"/>
          <p:nvPr/>
        </p:nvSpPr>
        <p:spPr>
          <a:xfrm>
            <a:off x="10332719" y="3140964"/>
            <a:ext cx="1383487" cy="669798"/>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+0.010</a:t>
            </a:r>
          </a:p>
        </p:txBody>
      </p:sp>
      <p:cxnSp>
        <p:nvCxnSpPr>
          <p:cNvPr id="27" name="mbl:hrule:4" descr="{&quot;mbl&quot;: 1, &quot;c&quot;: &quot;hrule&quot;, &quot;i&quot;: 4}"/>
          <p:cNvCxnSpPr/>
          <p:nvPr/>
        </p:nvCxnSpPr>
        <p:spPr>
          <a:xfrm>
            <a:off x="365760" y="3810762"/>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8" name="mbl:txt:21" descr="{&quot;mbl&quot;: 1, &quot;c&quot;: &quot;txt&quot;, &quot;i&quot;: 21}"/>
          <p:cNvSpPr txBox="1"/>
          <p:nvPr/>
        </p:nvSpPr>
        <p:spPr>
          <a:xfrm>
            <a:off x="365760" y="3810762"/>
            <a:ext cx="2999232" cy="669798"/>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IVFFlat, 32 probes</a:t>
            </a:r>
          </a:p>
        </p:txBody>
      </p:sp>
      <p:sp>
        <p:nvSpPr>
          <p:cNvPr id="29" name="mbl:txt:22" descr="{&quot;mbl&quot;: 1, &quot;c&quot;: &quot;txt&quot;, &quot;i&quot;: 22}"/>
          <p:cNvSpPr txBox="1"/>
          <p:nvPr/>
        </p:nvSpPr>
        <p:spPr>
          <a:xfrm>
            <a:off x="3474720" y="3810762"/>
            <a:ext cx="2542032" cy="669798"/>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107.7 ms · recall 0.968</a:t>
            </a:r>
          </a:p>
        </p:txBody>
      </p:sp>
      <p:sp>
        <p:nvSpPr>
          <p:cNvPr id="30" name="mbl:txt:23" descr="{&quot;mbl&quot;: 1, &quot;c&quot;: &quot;txt&quot;, &quot;i&quot;: 23}"/>
          <p:cNvSpPr txBox="1"/>
          <p:nvPr/>
        </p:nvSpPr>
        <p:spPr>
          <a:xfrm>
            <a:off x="6126479" y="3810762"/>
            <a:ext cx="2542032" cy="669798"/>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41.1 ms · recall 0.982</a:t>
            </a:r>
          </a:p>
        </p:txBody>
      </p:sp>
      <p:sp>
        <p:nvSpPr>
          <p:cNvPr id="31" name="mbl:txt:24" descr="{&quot;mbl&quot;: 1, &quot;c&quot;: &quot;txt&quot;, &quot;i&quot;: 24}"/>
          <p:cNvSpPr txBox="1"/>
          <p:nvPr/>
        </p:nvSpPr>
        <p:spPr>
          <a:xfrm>
            <a:off x="8778240" y="3810762"/>
            <a:ext cx="1444752" cy="669798"/>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2.62×</a:t>
            </a:r>
          </a:p>
        </p:txBody>
      </p:sp>
      <p:sp>
        <p:nvSpPr>
          <p:cNvPr id="32" name="mbl:txt:25" descr="{&quot;mbl&quot;: 1, &quot;c&quot;: &quot;txt&quot;, &quot;i&quot;: 25}"/>
          <p:cNvSpPr txBox="1"/>
          <p:nvPr/>
        </p:nvSpPr>
        <p:spPr>
          <a:xfrm>
            <a:off x="10332719" y="3810762"/>
            <a:ext cx="1383487" cy="669798"/>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+0.014</a:t>
            </a:r>
          </a:p>
        </p:txBody>
      </p:sp>
      <p:sp>
        <p:nvSpPr>
          <p:cNvPr id="33" name="mbl:txt:26" descr="{&quot;mbl&quot;: 1, &quot;c&quot;: &quot;txt&quot;, &quot;i&quot;: 26}"/>
          <p:cNvSpPr txBox="1"/>
          <p:nvPr/>
        </p:nvSpPr>
        <p:spPr>
          <a:xfrm>
            <a:off x="365760" y="4709160"/>
            <a:ext cx="5486400" cy="1371600"/>
          </a:xfrm>
          <a:prstGeom prst="rect">
            <a:avLst/>
          </a:prstGeom>
          <a:noFill/>
        </p:spPr>
        <p:txBody>
          <a:bodyPr wrap="square" anchor="t" lIns="0" rIns="0" tIns="0" bIns="0">
            <a:noAutofit/>
          </a:bodyPr>
          <a:lstStyle/>
          <a:p>
            <a:pPr algn="l">
              <a:lnSpc>
                <a:spcPct val="100000"/>
              </a:lnSpc>
            </a:pPr>
            <a:r>
              <a:rPr sz="1400" b="0" i="0">
                <a:solidFill>
                  <a:srgbClr val="567F8D"/>
                </a:solidFill>
                <a:latin typeface="Roboto"/>
              </a:rPr>
              <a:t>IVFFlat spends 50 ms or more per query on Postgres, so splitting its lists over two segments pays off. ivfplus already answers in 5 to 10 ms there, which leaves little for a second segment to save.</a:t>
            </a:r>
          </a:p>
        </p:txBody>
      </p:sp>
      <p:sp>
        <p:nvSpPr>
          <p:cNvPr id="34" name="mbl:txt:27" descr="{&quot;mbl&quot;: 1, &quot;c&quot;: &quot;txt&quot;, &quot;i&quot;: 27}"/>
          <p:cNvSpPr txBox="1"/>
          <p:nvPr/>
        </p:nvSpPr>
        <p:spPr>
          <a:xfrm>
            <a:off x="6263640" y="4709160"/>
            <a:ext cx="5559552" cy="1371600"/>
          </a:xfrm>
          <a:prstGeom prst="rect">
            <a:avLst/>
          </a:prstGeom>
          <a:noFill/>
        </p:spPr>
        <p:txBody>
          <a:bodyPr wrap="square" anchor="t" lIns="0" rIns="0" tIns="0" bIns="0">
            <a:noAutofit/>
          </a:bodyPr>
          <a:lstStyle/>
          <a:p>
            <a:pPr algn="l">
              <a:lnSpc>
                <a:spcPct val="100000"/>
              </a:lnSpc>
            </a:pPr>
            <a:r>
              <a:rPr sz="1400" b="0" i="0">
                <a:solidFill>
                  <a:srgbClr val="567F8D"/>
                </a:solidFill>
                <a:latin typeface="Roboto"/>
              </a:rPr>
              <a:t>Probes apply on each segment, so the same setting searches more lists in total and returns higher recall. Compare at equal recall. WarehousePG also runs Postgres 12 with pgvector 0.7.4.</a:t>
            </a:r>
          </a:p>
        </p:txBody>
      </p:sp>
      <p:cxnSp>
        <p:nvCxnSpPr>
          <p:cNvPr id="35" name="mbl:vrule:1" descr="{&quot;mbl&quot;: 1, &quot;c&quot;: &quot;vrule&quot;, &quot;i&quot;: 1}"/>
          <p:cNvCxnSpPr/>
          <p:nvPr/>
        </p:nvCxnSpPr>
        <p:spPr>
          <a:xfrm>
            <a:off x="6096304" y="4736592"/>
            <a:ext cx="0" cy="1143000"/>
          </a:xfrm>
          <a:prstGeom prst="line">
            <a:avLst/>
          </a:prstGeom>
          <a:ln w="12700">
            <a:solidFill>
              <a:srgbClr val="A8C2CA"/>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CLICKHOUSE HAS NOT REACHED 90% RECALL; ITS LATENCY IS FLAT AT 11 MS</a:t>
            </a:r>
          </a:p>
        </p:txBody>
      </p:sp>
      <p:graphicFrame>
        <p:nvGraphicFramePr>
          <p:cNvPr id="4" name="mbl:chart:1" descr="{&quot;mbl&quot;: 1, &quot;c&quot;: &quot;chart&quot;, &quot;i&quot;: 1}"/>
          <p:cNvGraphicFramePr>
            <a:graphicFrameLocks noGrp="1"/>
          </p:cNvGraphicFramePr>
          <p:nvPr/>
        </p:nvGraphicFramePr>
        <p:xfrm>
          <a:off x="365760" y="1417320"/>
          <a:ext cx="7589520" cy="4297680"/>
        </p:xfrm>
        <a:graphic>
          <a:graphicData uri="http://schemas.openxmlformats.org/drawingml/2006/chart">
            <c:chart xmlns:c="http://schemas.openxmlformats.org/drawingml/2006/chart" r:id="rId2"/>
          </a:graphicData>
        </a:graphic>
      </p:graphicFrame>
      <p:cxnSp>
        <p:nvCxnSpPr>
          <p:cNvPr id="5" name="mbl:vrule:1" descr="{&quot;mbl&quot;: 1, &quot;c&quot;: &quot;vrule&quot;, &quot;i&quot;: 1}"/>
          <p:cNvCxnSpPr/>
          <p:nvPr/>
        </p:nvCxnSpPr>
        <p:spPr>
          <a:xfrm>
            <a:off x="8229600" y="1508760"/>
            <a:ext cx="0" cy="4114800"/>
          </a:xfrm>
          <a:prstGeom prst="line">
            <a:avLst/>
          </a:prstGeom>
          <a:ln w="12700">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6" name="mbl:txt:1" descr="{&quot;mbl&quot;: 1, &quot;c&quot;: &quot;txt&quot;, &quot;i&quot;: 1}"/>
          <p:cNvSpPr txBox="1"/>
          <p:nvPr/>
        </p:nvSpPr>
        <p:spPr>
          <a:xfrm>
            <a:off x="8503920" y="1508760"/>
            <a:ext cx="3319272" cy="603504"/>
          </a:xfrm>
          <a:prstGeom prst="rect">
            <a:avLst/>
          </a:prstGeom>
          <a:noFill/>
        </p:spPr>
        <p:txBody>
          <a:bodyPr wrap="square" anchor="ctr" lIns="0" rIns="0" tIns="0" bIns="0">
            <a:noAutofit/>
          </a:bodyPr>
          <a:lstStyle/>
          <a:p>
            <a:pPr algn="l">
              <a:lnSpc>
                <a:spcPct val="100000"/>
              </a:lnSpc>
            </a:pPr>
            <a:r>
              <a:rPr sz="3400" b="1" i="0">
                <a:solidFill>
                  <a:srgbClr val="28495A"/>
                </a:solidFill>
                <a:latin typeface="Roboto Condensed"/>
              </a:rPr>
              <a:t>0.76</a:t>
            </a:r>
          </a:p>
        </p:txBody>
      </p:sp>
      <p:sp>
        <p:nvSpPr>
          <p:cNvPr id="7" name="mbl:txt:2" descr="{&quot;mbl&quot;: 1, &quot;c&quot;: &quot;txt&quot;, &quot;i&quot;: 2}"/>
          <p:cNvSpPr txBox="1"/>
          <p:nvPr/>
        </p:nvSpPr>
        <p:spPr>
          <a:xfrm>
            <a:off x="8503920" y="2148840"/>
            <a:ext cx="3319272" cy="91440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best recall, at ef_search 128. pgvector HNSW at 1M rows needed ef_search 640 to reach 0.94.</a:t>
            </a:r>
          </a:p>
        </p:txBody>
      </p:sp>
      <p:sp>
        <p:nvSpPr>
          <p:cNvPr id="8" name="mbl:txt:3" descr="{&quot;mbl&quot;: 1, &quot;c&quot;: &quot;txt&quot;, &quot;i&quot;: 3}"/>
          <p:cNvSpPr txBox="1"/>
          <p:nvPr/>
        </p:nvSpPr>
        <p:spPr>
          <a:xfrm>
            <a:off x="8503920" y="3200400"/>
            <a:ext cx="3319272" cy="603504"/>
          </a:xfrm>
          <a:prstGeom prst="rect">
            <a:avLst/>
          </a:prstGeom>
          <a:noFill/>
        </p:spPr>
        <p:txBody>
          <a:bodyPr wrap="square" anchor="ctr" lIns="0" rIns="0" tIns="0" bIns="0">
            <a:noAutofit/>
          </a:bodyPr>
          <a:lstStyle/>
          <a:p>
            <a:pPr algn="l">
              <a:lnSpc>
                <a:spcPct val="100000"/>
              </a:lnSpc>
            </a:pPr>
            <a:r>
              <a:rPr sz="3400" b="1" i="0">
                <a:solidFill>
                  <a:srgbClr val="28495A"/>
                </a:solidFill>
                <a:latin typeface="Roboto Condensed"/>
              </a:rPr>
              <a:t>11 ms</a:t>
            </a:r>
          </a:p>
        </p:txBody>
      </p:sp>
      <p:sp>
        <p:nvSpPr>
          <p:cNvPr id="9" name="mbl:txt:4" descr="{&quot;mbl&quot;: 1, &quot;c&quot;: &quot;txt&quot;, &quot;i&quot;: 4}"/>
          <p:cNvSpPr txBox="1"/>
          <p:nvPr/>
        </p:nvSpPr>
        <p:spPr>
          <a:xfrm>
            <a:off x="8503920" y="3840480"/>
            <a:ext cx="3319272" cy="91440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at every setting from 10 to 128. A fixed per-query cost, the HTTP round trip included, seems to dominate.</a:t>
            </a:r>
          </a:p>
        </p:txBody>
      </p:sp>
      <p:sp>
        <p:nvSpPr>
          <p:cNvPr id="10" name="mbl:txt:5" descr="{&quot;mbl&quot;: 1, &quot;c&quot;: &quot;txt&quot;, &quot;i&quot;: 5}"/>
          <p:cNvSpPr txBox="1"/>
          <p:nvPr/>
        </p:nvSpPr>
        <p:spPr>
          <a:xfrm>
            <a:off x="8503920" y="4892040"/>
            <a:ext cx="3319272" cy="603504"/>
          </a:xfrm>
          <a:prstGeom prst="rect">
            <a:avLst/>
          </a:prstGeom>
          <a:noFill/>
        </p:spPr>
        <p:txBody>
          <a:bodyPr wrap="square" anchor="ctr" lIns="0" rIns="0" tIns="0" bIns="0">
            <a:noAutofit/>
          </a:bodyPr>
          <a:lstStyle/>
          <a:p>
            <a:pPr algn="l">
              <a:lnSpc>
                <a:spcPct val="100000"/>
              </a:lnSpc>
            </a:pPr>
            <a:r>
              <a:rPr sz="3400" b="1" i="0">
                <a:solidFill>
                  <a:srgbClr val="28495A"/>
                </a:solidFill>
                <a:latin typeface="Roboto Condensed"/>
              </a:rPr>
              <a:t>465 s</a:t>
            </a:r>
          </a:p>
        </p:txBody>
      </p:sp>
      <p:sp>
        <p:nvSpPr>
          <p:cNvPr id="11" name="mbl:txt:6" descr="{&quot;mbl&quot;: 1, &quot;c&quot;: &quot;txt&quot;, &quot;i&quot;: 6}"/>
          <p:cNvSpPr txBox="1"/>
          <p:nvPr/>
        </p:nvSpPr>
        <p:spPr>
          <a:xfrm>
            <a:off x="8503920" y="5532120"/>
            <a:ext cx="3319272" cy="640080"/>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to build, with a 3.05 GiB index (M 16, ef_construction 128, bf16).</a:t>
            </a:r>
          </a:p>
        </p:txBody>
      </p:sp>
      <p:sp>
        <p:nvSpPr>
          <p:cNvPr id="12" name="mbl:txt:7" descr="{&quot;mbl&quot;: 1, &quot;c&quot;: &quot;txt&quot;, &quot;i&quot;: 7}"/>
          <p:cNvSpPr txBox="1"/>
          <p:nvPr/>
        </p:nvSpPr>
        <p:spPr>
          <a:xfrm>
            <a:off x="365760" y="5852160"/>
            <a:ext cx="7589520" cy="320040"/>
          </a:xfrm>
          <a:prstGeom prst="rect">
            <a:avLst/>
          </a:prstGeom>
          <a:noFill/>
        </p:spPr>
        <p:txBody>
          <a:bodyPr wrap="square" anchor="t" lIns="0" rIns="0" tIns="0" bIns="0">
            <a:noAutofit/>
          </a:bodyPr>
          <a:lstStyle/>
          <a:p>
            <a:pPr algn="l">
              <a:lnSpc>
                <a:spcPct val="100000"/>
              </a:lnSpc>
            </a:pPr>
            <a:r>
              <a:rPr sz="1200" b="0" i="0">
                <a:solidFill>
                  <a:srgbClr val="567F8D"/>
                </a:solidFill>
                <a:latin typeface="Roboto"/>
              </a:rPr>
              <a:t>Two latency spikes (68 and 76 ms) hit one setting in each run and did not repeat.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200" b="1" i="0">
                <a:solidFill>
                  <a:srgbClr val="28495A"/>
                </a:solidFill>
                <a:latin typeface="Roboto Condensed"/>
              </a:rPr>
              <a:t>AT A 90% BAR WAREHOUSEPG IVFPLUS RANKS FIRST; AT 95% IVFFLAT TAKES OVER</a:t>
            </a:r>
          </a:p>
        </p:txBody>
      </p:sp>
      <p:sp>
        <p:nvSpPr>
          <p:cNvPr id="4" name="mbl:txt:1" descr="{&quot;mbl&quot;: 1, &quot;c&quot;: &quot;txt&quot;, &quot;i&quot;: 1}"/>
          <p:cNvSpPr txBox="1"/>
          <p:nvPr/>
        </p:nvSpPr>
        <p:spPr>
          <a:xfrm>
            <a:off x="365760" y="1417320"/>
            <a:ext cx="667512"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RANK</a:t>
            </a:r>
          </a:p>
        </p:txBody>
      </p:sp>
      <p:sp>
        <p:nvSpPr>
          <p:cNvPr id="5" name="mbl:txt:2" descr="{&quot;mbl&quot;: 1, &quot;c&quot;: &quot;txt&quot;, &quot;i&quot;: 2}"/>
          <p:cNvSpPr txBox="1"/>
          <p:nvPr/>
        </p:nvSpPr>
        <p:spPr>
          <a:xfrm>
            <a:off x="1143000" y="1417320"/>
            <a:ext cx="2770632"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ENGINE</a:t>
            </a:r>
          </a:p>
        </p:txBody>
      </p:sp>
      <p:sp>
        <p:nvSpPr>
          <p:cNvPr id="6" name="mbl:txt:3" descr="{&quot;mbl&quot;: 1, &quot;c&quot;: &quot;txt&quot;, &quot;i&quot;: 3}"/>
          <p:cNvSpPr txBox="1"/>
          <p:nvPr/>
        </p:nvSpPr>
        <p:spPr>
          <a:xfrm>
            <a:off x="4023360" y="1417320"/>
            <a:ext cx="850392"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SCORE</a:t>
            </a:r>
          </a:p>
        </p:txBody>
      </p:sp>
      <p:sp>
        <p:nvSpPr>
          <p:cNvPr id="7" name="mbl:txt:4" descr="{&quot;mbl&quot;: 1, &quot;c&quot;: &quot;txt&quot;, &quot;i&quot;: 4}"/>
          <p:cNvSpPr txBox="1"/>
          <p:nvPr/>
        </p:nvSpPr>
        <p:spPr>
          <a:xfrm>
            <a:off x="4983480" y="1417320"/>
            <a:ext cx="1581912"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LATENCY AT BAR</a:t>
            </a:r>
          </a:p>
        </p:txBody>
      </p:sp>
      <p:sp>
        <p:nvSpPr>
          <p:cNvPr id="8" name="mbl:txt:5" descr="{&quot;mbl&quot;: 1, &quot;c&quot;: &quot;txt&quot;, &quot;i&quot;: 5}"/>
          <p:cNvSpPr txBox="1"/>
          <p:nvPr/>
        </p:nvSpPr>
        <p:spPr>
          <a:xfrm>
            <a:off x="6675120" y="1417320"/>
            <a:ext cx="1124712"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P95</a:t>
            </a:r>
          </a:p>
        </p:txBody>
      </p:sp>
      <p:sp>
        <p:nvSpPr>
          <p:cNvPr id="9" name="mbl:txt:6" descr="{&quot;mbl&quot;: 1, &quot;c&quot;: &quot;txt&quot;, &quot;i&quot;: 6}"/>
          <p:cNvSpPr txBox="1"/>
          <p:nvPr/>
        </p:nvSpPr>
        <p:spPr>
          <a:xfrm>
            <a:off x="7909560" y="1417320"/>
            <a:ext cx="1261872"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BEST RECALL</a:t>
            </a:r>
          </a:p>
        </p:txBody>
      </p:sp>
      <p:sp>
        <p:nvSpPr>
          <p:cNvPr id="10" name="mbl:txt:7" descr="{&quot;mbl&quot;: 1, &quot;c&quot;: &quot;txt&quot;, &quot;i&quot;: 7}"/>
          <p:cNvSpPr txBox="1"/>
          <p:nvPr/>
        </p:nvSpPr>
        <p:spPr>
          <a:xfrm>
            <a:off x="9281160" y="1417320"/>
            <a:ext cx="1078992"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BUILD</a:t>
            </a:r>
          </a:p>
        </p:txBody>
      </p:sp>
      <p:sp>
        <p:nvSpPr>
          <p:cNvPr id="11" name="mbl:txt:8" descr="{&quot;mbl&quot;: 1, &quot;c&quot;: &quot;txt&quot;, &quot;i&quot;: 8}"/>
          <p:cNvSpPr txBox="1"/>
          <p:nvPr/>
        </p:nvSpPr>
        <p:spPr>
          <a:xfrm>
            <a:off x="10469880" y="1417320"/>
            <a:ext cx="1246327"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INDEX</a:t>
            </a:r>
          </a:p>
        </p:txBody>
      </p:sp>
      <p:cxnSp>
        <p:nvCxnSpPr>
          <p:cNvPr id="12" name="mbl:hrule:1" descr="{&quot;mbl&quot;: 1, &quot;c&quot;: &quot;hrule&quot;, &quot;i&quot;: 1}"/>
          <p:cNvCxnSpPr/>
          <p:nvPr/>
        </p:nvCxnSpPr>
        <p:spPr>
          <a:xfrm>
            <a:off x="365760" y="1728216"/>
            <a:ext cx="11460175" cy="0"/>
          </a:xfrm>
          <a:prstGeom prst="line">
            <a:avLst/>
          </a:prstGeom>
          <a:ln w="25400">
            <a:solidFill>
              <a:srgbClr val="28495A"/>
            </a:solidFill>
          </a:ln>
          <a:effectLst/>
        </p:spPr>
        <p:style>
          <a:lnRef idx="2">
            <a:schemeClr val="accent1"/>
          </a:lnRef>
          <a:fillRef idx="0">
            <a:schemeClr val="accent1"/>
          </a:fillRef>
          <a:effectRef idx="0">
            <a:schemeClr val="accent1"/>
          </a:effectRef>
          <a:fontRef idx="minor">
            <a:schemeClr val="tx1"/>
          </a:fontRef>
        </p:style>
      </p:cxnSp>
      <p:sp>
        <p:nvSpPr>
          <p:cNvPr id="13" name="mbl:txt:9" descr="{&quot;mbl&quot;: 1, &quot;c&quot;: &quot;txt&quot;, &quot;i&quot;: 9}"/>
          <p:cNvSpPr txBox="1"/>
          <p:nvPr/>
        </p:nvSpPr>
        <p:spPr>
          <a:xfrm>
            <a:off x="365760" y="1801368"/>
            <a:ext cx="667512" cy="522732"/>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1</a:t>
            </a:r>
          </a:p>
        </p:txBody>
      </p:sp>
      <p:sp>
        <p:nvSpPr>
          <p:cNvPr id="14" name="mbl:txt:10" descr="{&quot;mbl&quot;: 1, &quot;c&quot;: &quot;txt&quot;, &quot;i&quot;: 10}"/>
          <p:cNvSpPr txBox="1"/>
          <p:nvPr/>
        </p:nvSpPr>
        <p:spPr>
          <a:xfrm>
            <a:off x="1143000" y="1801368"/>
            <a:ext cx="2770632" cy="522732"/>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EDB ivfplus @ WHPG</a:t>
            </a:r>
          </a:p>
        </p:txBody>
      </p:sp>
      <p:sp>
        <p:nvSpPr>
          <p:cNvPr id="15" name="mbl:txt:11" descr="{&quot;mbl&quot;: 1, &quot;c&quot;: &quot;txt&quot;, &quot;i&quot;: 11}"/>
          <p:cNvSpPr txBox="1"/>
          <p:nvPr/>
        </p:nvSpPr>
        <p:spPr>
          <a:xfrm>
            <a:off x="4023360" y="1801368"/>
            <a:ext cx="850392" cy="522732"/>
          </a:xfrm>
          <a:prstGeom prst="rect">
            <a:avLst/>
          </a:prstGeom>
          <a:noFill/>
        </p:spPr>
        <p:txBody>
          <a:bodyPr wrap="square" anchor="ctr" lIns="0" rIns="0" tIns="0" bIns="0">
            <a:noAutofit/>
          </a:bodyPr>
          <a:lstStyle/>
          <a:p>
            <a:pPr algn="r">
              <a:lnSpc>
                <a:spcPct val="100000"/>
              </a:lnSpc>
            </a:pPr>
            <a:r>
              <a:rPr sz="1400" b="1" i="0">
                <a:solidFill>
                  <a:srgbClr val="28495A"/>
                </a:solidFill>
                <a:latin typeface="Roboto"/>
              </a:rPr>
              <a:t>90.9</a:t>
            </a:r>
          </a:p>
        </p:txBody>
      </p:sp>
      <p:sp>
        <p:nvSpPr>
          <p:cNvPr id="16" name="mbl:txt:12" descr="{&quot;mbl&quot;: 1, &quot;c&quot;: &quot;txt&quot;, &quot;i&quot;: 12}"/>
          <p:cNvSpPr txBox="1"/>
          <p:nvPr/>
        </p:nvSpPr>
        <p:spPr>
          <a:xfrm>
            <a:off x="4983480" y="1801368"/>
            <a:ext cx="1581912" cy="522732"/>
          </a:xfrm>
          <a:prstGeom prst="rect">
            <a:avLst/>
          </a:prstGeom>
          <a:noFill/>
        </p:spPr>
        <p:txBody>
          <a:bodyPr wrap="square" anchor="ctr" lIns="0" rIns="0" tIns="0" bIns="0">
            <a:noAutofit/>
          </a:bodyPr>
          <a:lstStyle/>
          <a:p>
            <a:pPr algn="r">
              <a:lnSpc>
                <a:spcPct val="100000"/>
              </a:lnSpc>
            </a:pPr>
            <a:r>
              <a:rPr sz="1400" b="1" i="0">
                <a:solidFill>
                  <a:srgbClr val="05825F"/>
                </a:solidFill>
                <a:latin typeface="Roboto"/>
              </a:rPr>
              <a:t>6.1 ms</a:t>
            </a:r>
          </a:p>
        </p:txBody>
      </p:sp>
      <p:sp>
        <p:nvSpPr>
          <p:cNvPr id="17" name="mbl:txt:13" descr="{&quot;mbl&quot;: 1, &quot;c&quot;: &quot;txt&quot;, &quot;i&quot;: 13}"/>
          <p:cNvSpPr txBox="1"/>
          <p:nvPr/>
        </p:nvSpPr>
        <p:spPr>
          <a:xfrm>
            <a:off x="6675120" y="1801368"/>
            <a:ext cx="1124712" cy="522732"/>
          </a:xfrm>
          <a:prstGeom prst="rect">
            <a:avLst/>
          </a:prstGeom>
          <a:noFill/>
        </p:spPr>
        <p:txBody>
          <a:bodyPr wrap="square" anchor="ctr" lIns="0" rIns="0" tIns="0" bIns="0">
            <a:noAutofit/>
          </a:bodyPr>
          <a:lstStyle/>
          <a:p>
            <a:pPr algn="r">
              <a:lnSpc>
                <a:spcPct val="100000"/>
              </a:lnSpc>
            </a:pPr>
            <a:r>
              <a:rPr sz="1400" b="1" i="0">
                <a:solidFill>
                  <a:srgbClr val="05825F"/>
                </a:solidFill>
                <a:latin typeface="Roboto"/>
              </a:rPr>
              <a:t>10.9 ms</a:t>
            </a:r>
          </a:p>
        </p:txBody>
      </p:sp>
      <p:sp>
        <p:nvSpPr>
          <p:cNvPr id="18" name="mbl:txt:14" descr="{&quot;mbl&quot;: 1, &quot;c&quot;: &quot;txt&quot;, &quot;i&quot;: 14}"/>
          <p:cNvSpPr txBox="1"/>
          <p:nvPr/>
        </p:nvSpPr>
        <p:spPr>
          <a:xfrm>
            <a:off x="7909560" y="1801368"/>
            <a:ext cx="126187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0.936</a:t>
            </a:r>
          </a:p>
        </p:txBody>
      </p:sp>
      <p:sp>
        <p:nvSpPr>
          <p:cNvPr id="19" name="mbl:txt:15" descr="{&quot;mbl&quot;: 1, &quot;c&quot;: &quot;txt&quot;, &quot;i&quot;: 15}"/>
          <p:cNvSpPr txBox="1"/>
          <p:nvPr/>
        </p:nvSpPr>
        <p:spPr>
          <a:xfrm>
            <a:off x="9281160" y="1801368"/>
            <a:ext cx="107899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650 s</a:t>
            </a:r>
          </a:p>
        </p:txBody>
      </p:sp>
      <p:sp>
        <p:nvSpPr>
          <p:cNvPr id="20" name="mbl:txt:16" descr="{&quot;mbl&quot;: 1, &quot;c&quot;: &quot;txt&quot;, &quot;i&quot;: 16}"/>
          <p:cNvSpPr txBox="1"/>
          <p:nvPr/>
        </p:nvSpPr>
        <p:spPr>
          <a:xfrm>
            <a:off x="10469880" y="1801368"/>
            <a:ext cx="1246327"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3.49 GiB</a:t>
            </a:r>
          </a:p>
        </p:txBody>
      </p:sp>
      <p:cxnSp>
        <p:nvCxnSpPr>
          <p:cNvPr id="21" name="mbl:hrule:2" descr="{&quot;mbl&quot;: 1, &quot;c&quot;: &quot;hrule&quot;, &quot;i&quot;: 2}"/>
          <p:cNvCxnSpPr/>
          <p:nvPr/>
        </p:nvCxnSpPr>
        <p:spPr>
          <a:xfrm>
            <a:off x="365760" y="2324100"/>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2" name="mbl:txt:17" descr="{&quot;mbl&quot;: 1, &quot;c&quot;: &quot;txt&quot;, &quot;i&quot;: 17}"/>
          <p:cNvSpPr txBox="1"/>
          <p:nvPr/>
        </p:nvSpPr>
        <p:spPr>
          <a:xfrm>
            <a:off x="365760" y="2324100"/>
            <a:ext cx="667512" cy="522732"/>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2</a:t>
            </a:r>
          </a:p>
        </p:txBody>
      </p:sp>
      <p:sp>
        <p:nvSpPr>
          <p:cNvPr id="23" name="mbl:txt:18" descr="{&quot;mbl&quot;: 1, &quot;c&quot;: &quot;txt&quot;, &quot;i&quot;: 18}"/>
          <p:cNvSpPr txBox="1"/>
          <p:nvPr/>
        </p:nvSpPr>
        <p:spPr>
          <a:xfrm>
            <a:off x="1143000" y="2324100"/>
            <a:ext cx="2770632" cy="522732"/>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pgvector IVFFlat @ WHPG</a:t>
            </a:r>
          </a:p>
        </p:txBody>
      </p:sp>
      <p:sp>
        <p:nvSpPr>
          <p:cNvPr id="24" name="mbl:txt:19" descr="{&quot;mbl&quot;: 1, &quot;c&quot;: &quot;txt&quot;, &quot;i&quot;: 19}"/>
          <p:cNvSpPr txBox="1"/>
          <p:nvPr/>
        </p:nvSpPr>
        <p:spPr>
          <a:xfrm>
            <a:off x="4023360" y="2324100"/>
            <a:ext cx="850392" cy="522732"/>
          </a:xfrm>
          <a:prstGeom prst="rect">
            <a:avLst/>
          </a:prstGeom>
          <a:noFill/>
        </p:spPr>
        <p:txBody>
          <a:bodyPr wrap="square" anchor="ctr" lIns="0" rIns="0" tIns="0" bIns="0">
            <a:noAutofit/>
          </a:bodyPr>
          <a:lstStyle/>
          <a:p>
            <a:pPr algn="r">
              <a:lnSpc>
                <a:spcPct val="100000"/>
              </a:lnSpc>
            </a:pPr>
            <a:r>
              <a:rPr sz="1400" b="1" i="0">
                <a:solidFill>
                  <a:srgbClr val="28495A"/>
                </a:solidFill>
                <a:latin typeface="Roboto"/>
              </a:rPr>
              <a:t>53.3</a:t>
            </a:r>
          </a:p>
        </p:txBody>
      </p:sp>
      <p:sp>
        <p:nvSpPr>
          <p:cNvPr id="25" name="mbl:txt:20" descr="{&quot;mbl&quot;: 1, &quot;c&quot;: &quot;txt&quot;, &quot;i&quot;: 20}"/>
          <p:cNvSpPr txBox="1"/>
          <p:nvPr/>
        </p:nvSpPr>
        <p:spPr>
          <a:xfrm>
            <a:off x="4983480" y="2324100"/>
            <a:ext cx="158191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19.3 ms</a:t>
            </a:r>
          </a:p>
        </p:txBody>
      </p:sp>
      <p:sp>
        <p:nvSpPr>
          <p:cNvPr id="26" name="mbl:txt:21" descr="{&quot;mbl&quot;: 1, &quot;c&quot;: &quot;txt&quot;, &quot;i&quot;: 21}"/>
          <p:cNvSpPr txBox="1"/>
          <p:nvPr/>
        </p:nvSpPr>
        <p:spPr>
          <a:xfrm>
            <a:off x="6675120" y="2324100"/>
            <a:ext cx="112471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38.5 ms</a:t>
            </a:r>
          </a:p>
        </p:txBody>
      </p:sp>
      <p:sp>
        <p:nvSpPr>
          <p:cNvPr id="27" name="mbl:txt:22" descr="{&quot;mbl&quot;: 1, &quot;c&quot;: &quot;txt&quot;, &quot;i&quot;: 22}"/>
          <p:cNvSpPr txBox="1"/>
          <p:nvPr/>
        </p:nvSpPr>
        <p:spPr>
          <a:xfrm>
            <a:off x="7909560" y="2324100"/>
            <a:ext cx="126187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1.000</a:t>
            </a:r>
          </a:p>
        </p:txBody>
      </p:sp>
      <p:sp>
        <p:nvSpPr>
          <p:cNvPr id="28" name="mbl:txt:23" descr="{&quot;mbl&quot;: 1, &quot;c&quot;: &quot;txt&quot;, &quot;i&quot;: 23}"/>
          <p:cNvSpPr txBox="1"/>
          <p:nvPr/>
        </p:nvSpPr>
        <p:spPr>
          <a:xfrm>
            <a:off x="9281160" y="2324100"/>
            <a:ext cx="107899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406 s</a:t>
            </a:r>
          </a:p>
        </p:txBody>
      </p:sp>
      <p:sp>
        <p:nvSpPr>
          <p:cNvPr id="29" name="mbl:txt:24" descr="{&quot;mbl&quot;: 1, &quot;c&quot;: &quot;txt&quot;, &quot;i&quot;: 24}"/>
          <p:cNvSpPr txBox="1"/>
          <p:nvPr/>
        </p:nvSpPr>
        <p:spPr>
          <a:xfrm>
            <a:off x="10469880" y="2324100"/>
            <a:ext cx="1246327"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6.20 GiB</a:t>
            </a:r>
          </a:p>
        </p:txBody>
      </p:sp>
      <p:cxnSp>
        <p:nvCxnSpPr>
          <p:cNvPr id="30" name="mbl:hrule:3" descr="{&quot;mbl&quot;: 1, &quot;c&quot;: &quot;hrule&quot;, &quot;i&quot;: 3}"/>
          <p:cNvCxnSpPr/>
          <p:nvPr/>
        </p:nvCxnSpPr>
        <p:spPr>
          <a:xfrm>
            <a:off x="365760" y="2846832"/>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31" name="mbl:txt:25" descr="{&quot;mbl&quot;: 1, &quot;c&quot;: &quot;txt&quot;, &quot;i&quot;: 25}"/>
          <p:cNvSpPr txBox="1"/>
          <p:nvPr/>
        </p:nvSpPr>
        <p:spPr>
          <a:xfrm>
            <a:off x="365760" y="2846832"/>
            <a:ext cx="667512" cy="522732"/>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3</a:t>
            </a:r>
          </a:p>
        </p:txBody>
      </p:sp>
      <p:sp>
        <p:nvSpPr>
          <p:cNvPr id="32" name="mbl:txt:26" descr="{&quot;mbl&quot;: 1, &quot;c&quot;: &quot;txt&quot;, &quot;i&quot;: 26}"/>
          <p:cNvSpPr txBox="1"/>
          <p:nvPr/>
        </p:nvSpPr>
        <p:spPr>
          <a:xfrm>
            <a:off x="1143000" y="2846832"/>
            <a:ext cx="2770632" cy="522732"/>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VectorChord</a:t>
            </a:r>
          </a:p>
        </p:txBody>
      </p:sp>
      <p:sp>
        <p:nvSpPr>
          <p:cNvPr id="33" name="mbl:txt:27" descr="{&quot;mbl&quot;: 1, &quot;c&quot;: &quot;txt&quot;, &quot;i&quot;: 27}"/>
          <p:cNvSpPr txBox="1"/>
          <p:nvPr/>
        </p:nvSpPr>
        <p:spPr>
          <a:xfrm>
            <a:off x="4023360" y="2846832"/>
            <a:ext cx="850392" cy="522732"/>
          </a:xfrm>
          <a:prstGeom prst="rect">
            <a:avLst/>
          </a:prstGeom>
          <a:noFill/>
        </p:spPr>
        <p:txBody>
          <a:bodyPr wrap="square" anchor="ctr" lIns="0" rIns="0" tIns="0" bIns="0">
            <a:noAutofit/>
          </a:bodyPr>
          <a:lstStyle/>
          <a:p>
            <a:pPr algn="r">
              <a:lnSpc>
                <a:spcPct val="100000"/>
              </a:lnSpc>
            </a:pPr>
            <a:r>
              <a:rPr sz="1400" b="1" i="0">
                <a:solidFill>
                  <a:srgbClr val="28495A"/>
                </a:solidFill>
                <a:latin typeface="Roboto"/>
              </a:rPr>
              <a:t>38.4</a:t>
            </a:r>
          </a:p>
        </p:txBody>
      </p:sp>
      <p:sp>
        <p:nvSpPr>
          <p:cNvPr id="34" name="mbl:txt:28" descr="{&quot;mbl&quot;: 1, &quot;c&quot;: &quot;txt&quot;, &quot;i&quot;: 28}"/>
          <p:cNvSpPr txBox="1"/>
          <p:nvPr/>
        </p:nvSpPr>
        <p:spPr>
          <a:xfrm>
            <a:off x="4983480" y="2846832"/>
            <a:ext cx="158191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47.3 ms</a:t>
            </a:r>
          </a:p>
        </p:txBody>
      </p:sp>
      <p:sp>
        <p:nvSpPr>
          <p:cNvPr id="35" name="mbl:txt:29" descr="{&quot;mbl&quot;: 1, &quot;c&quot;: &quot;txt&quot;, &quot;i&quot;: 29}"/>
          <p:cNvSpPr txBox="1"/>
          <p:nvPr/>
        </p:nvSpPr>
        <p:spPr>
          <a:xfrm>
            <a:off x="6675120" y="2846832"/>
            <a:ext cx="112471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133 ms</a:t>
            </a:r>
          </a:p>
        </p:txBody>
      </p:sp>
      <p:sp>
        <p:nvSpPr>
          <p:cNvPr id="36" name="mbl:txt:30" descr="{&quot;mbl&quot;: 1, &quot;c&quot;: &quot;txt&quot;, &quot;i&quot;: 30}"/>
          <p:cNvSpPr txBox="1"/>
          <p:nvPr/>
        </p:nvSpPr>
        <p:spPr>
          <a:xfrm>
            <a:off x="7909560" y="2846832"/>
            <a:ext cx="126187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0.988</a:t>
            </a:r>
          </a:p>
        </p:txBody>
      </p:sp>
      <p:sp>
        <p:nvSpPr>
          <p:cNvPr id="37" name="mbl:txt:31" descr="{&quot;mbl&quot;: 1, &quot;c&quot;: &quot;txt&quot;, &quot;i&quot;: 31}"/>
          <p:cNvSpPr txBox="1"/>
          <p:nvPr/>
        </p:nvSpPr>
        <p:spPr>
          <a:xfrm>
            <a:off x="9281160" y="2846832"/>
            <a:ext cx="107899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471 s</a:t>
            </a:r>
          </a:p>
        </p:txBody>
      </p:sp>
      <p:sp>
        <p:nvSpPr>
          <p:cNvPr id="38" name="mbl:txt:32" descr="{&quot;mbl&quot;: 1, &quot;c&quot;: &quot;txt&quot;, &quot;i&quot;: 32}"/>
          <p:cNvSpPr txBox="1"/>
          <p:nvPr/>
        </p:nvSpPr>
        <p:spPr>
          <a:xfrm>
            <a:off x="10469880" y="2846832"/>
            <a:ext cx="1246327"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7.95 GiB</a:t>
            </a:r>
          </a:p>
        </p:txBody>
      </p:sp>
      <p:cxnSp>
        <p:nvCxnSpPr>
          <p:cNvPr id="39" name="mbl:hrule:4" descr="{&quot;mbl&quot;: 1, &quot;c&quot;: &quot;hrule&quot;, &quot;i&quot;: 4}"/>
          <p:cNvCxnSpPr/>
          <p:nvPr/>
        </p:nvCxnSpPr>
        <p:spPr>
          <a:xfrm>
            <a:off x="365760" y="3369564"/>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40" name="mbl:txt:33" descr="{&quot;mbl&quot;: 1, &quot;c&quot;: &quot;txt&quot;, &quot;i&quot;: 33}"/>
          <p:cNvSpPr txBox="1"/>
          <p:nvPr/>
        </p:nvSpPr>
        <p:spPr>
          <a:xfrm>
            <a:off x="365760" y="3369564"/>
            <a:ext cx="667512" cy="522732"/>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4</a:t>
            </a:r>
          </a:p>
        </p:txBody>
      </p:sp>
      <p:sp>
        <p:nvSpPr>
          <p:cNvPr id="41" name="mbl:txt:34" descr="{&quot;mbl&quot;: 1, &quot;c&quot;: &quot;txt&quot;, &quot;i&quot;: 34}"/>
          <p:cNvSpPr txBox="1"/>
          <p:nvPr/>
        </p:nvSpPr>
        <p:spPr>
          <a:xfrm>
            <a:off x="1143000" y="3369564"/>
            <a:ext cx="2770632" cy="522732"/>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pgvector IVFFlat</a:t>
            </a:r>
          </a:p>
        </p:txBody>
      </p:sp>
      <p:sp>
        <p:nvSpPr>
          <p:cNvPr id="42" name="mbl:txt:35" descr="{&quot;mbl&quot;: 1, &quot;c&quot;: &quot;txt&quot;, &quot;i&quot;: 35}"/>
          <p:cNvSpPr txBox="1"/>
          <p:nvPr/>
        </p:nvSpPr>
        <p:spPr>
          <a:xfrm>
            <a:off x="4023360" y="3369564"/>
            <a:ext cx="850392" cy="522732"/>
          </a:xfrm>
          <a:prstGeom prst="rect">
            <a:avLst/>
          </a:prstGeom>
          <a:noFill/>
        </p:spPr>
        <p:txBody>
          <a:bodyPr wrap="square" anchor="ctr" lIns="0" rIns="0" tIns="0" bIns="0">
            <a:noAutofit/>
          </a:bodyPr>
          <a:lstStyle/>
          <a:p>
            <a:pPr algn="r">
              <a:lnSpc>
                <a:spcPct val="100000"/>
              </a:lnSpc>
            </a:pPr>
            <a:r>
              <a:rPr sz="1400" b="1" i="0">
                <a:solidFill>
                  <a:srgbClr val="28495A"/>
                </a:solidFill>
                <a:latin typeface="Roboto"/>
              </a:rPr>
              <a:t>34.3</a:t>
            </a:r>
          </a:p>
        </p:txBody>
      </p:sp>
      <p:sp>
        <p:nvSpPr>
          <p:cNvPr id="43" name="mbl:txt:36" descr="{&quot;mbl&quot;: 1, &quot;c&quot;: &quot;txt&quot;, &quot;i&quot;: 36}"/>
          <p:cNvSpPr txBox="1"/>
          <p:nvPr/>
        </p:nvSpPr>
        <p:spPr>
          <a:xfrm>
            <a:off x="4983480" y="3369564"/>
            <a:ext cx="158191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52.2 ms</a:t>
            </a:r>
          </a:p>
        </p:txBody>
      </p:sp>
      <p:sp>
        <p:nvSpPr>
          <p:cNvPr id="44" name="mbl:txt:37" descr="{&quot;mbl&quot;: 1, &quot;c&quot;: &quot;txt&quot;, &quot;i&quot;: 37}"/>
          <p:cNvSpPr txBox="1"/>
          <p:nvPr/>
        </p:nvSpPr>
        <p:spPr>
          <a:xfrm>
            <a:off x="6675120" y="3369564"/>
            <a:ext cx="112471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83.3 ms</a:t>
            </a:r>
          </a:p>
        </p:txBody>
      </p:sp>
      <p:sp>
        <p:nvSpPr>
          <p:cNvPr id="45" name="mbl:txt:38" descr="{&quot;mbl&quot;: 1, &quot;c&quot;: &quot;txt&quot;, &quot;i&quot;: 38}"/>
          <p:cNvSpPr txBox="1"/>
          <p:nvPr/>
        </p:nvSpPr>
        <p:spPr>
          <a:xfrm>
            <a:off x="7909560" y="3369564"/>
            <a:ext cx="126187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1.000</a:t>
            </a:r>
          </a:p>
        </p:txBody>
      </p:sp>
      <p:sp>
        <p:nvSpPr>
          <p:cNvPr id="46" name="mbl:txt:39" descr="{&quot;mbl&quot;: 1, &quot;c&quot;: &quot;txt&quot;, &quot;i&quot;: 39}"/>
          <p:cNvSpPr txBox="1"/>
          <p:nvPr/>
        </p:nvSpPr>
        <p:spPr>
          <a:xfrm>
            <a:off x="9281160" y="3369564"/>
            <a:ext cx="107899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685 s</a:t>
            </a:r>
          </a:p>
        </p:txBody>
      </p:sp>
      <p:sp>
        <p:nvSpPr>
          <p:cNvPr id="47" name="mbl:txt:40" descr="{&quot;mbl&quot;: 1, &quot;c&quot;: &quot;txt&quot;, &quot;i&quot;: 40}"/>
          <p:cNvSpPr txBox="1"/>
          <p:nvPr/>
        </p:nvSpPr>
        <p:spPr>
          <a:xfrm>
            <a:off x="10469880" y="3369564"/>
            <a:ext cx="1246327"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7.64 GiB</a:t>
            </a:r>
          </a:p>
        </p:txBody>
      </p:sp>
      <p:cxnSp>
        <p:nvCxnSpPr>
          <p:cNvPr id="48" name="mbl:hrule:5" descr="{&quot;mbl&quot;: 1, &quot;c&quot;: &quot;hrule&quot;, &quot;i&quot;: 5}"/>
          <p:cNvCxnSpPr/>
          <p:nvPr/>
        </p:nvCxnSpPr>
        <p:spPr>
          <a:xfrm>
            <a:off x="365760" y="3892296"/>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49" name="mbl:txt:41" descr="{&quot;mbl&quot;: 1, &quot;c&quot;: &quot;txt&quot;, &quot;i&quot;: 41}"/>
          <p:cNvSpPr txBox="1"/>
          <p:nvPr/>
        </p:nvSpPr>
        <p:spPr>
          <a:xfrm>
            <a:off x="365760" y="3892296"/>
            <a:ext cx="667512" cy="522732"/>
          </a:xfrm>
          <a:prstGeom prst="rect">
            <a:avLst/>
          </a:prstGeom>
          <a:noFill/>
        </p:spPr>
        <p:txBody>
          <a:bodyPr wrap="square" anchor="ctr" lIns="0" rIns="0" tIns="0" bIns="0">
            <a:noAutofit/>
          </a:bodyPr>
          <a:lstStyle/>
          <a:p>
            <a:pPr algn="l">
              <a:lnSpc>
                <a:spcPct val="100000"/>
              </a:lnSpc>
            </a:pPr>
            <a:r>
              <a:rPr sz="1400" b="1" i="0">
                <a:solidFill>
                  <a:srgbClr val="567F8D"/>
                </a:solidFill>
                <a:latin typeface="Roboto"/>
              </a:rPr>
              <a:t>DNQ</a:t>
            </a:r>
          </a:p>
        </p:txBody>
      </p:sp>
      <p:sp>
        <p:nvSpPr>
          <p:cNvPr id="50" name="mbl:txt:42" descr="{&quot;mbl&quot;: 1, &quot;c&quot;: &quot;txt&quot;, &quot;i&quot;: 42}"/>
          <p:cNvSpPr txBox="1"/>
          <p:nvPr/>
        </p:nvSpPr>
        <p:spPr>
          <a:xfrm>
            <a:off x="1143000" y="3892296"/>
            <a:ext cx="2770632" cy="522732"/>
          </a:xfrm>
          <a:prstGeom prst="rect">
            <a:avLst/>
          </a:prstGeom>
          <a:noFill/>
        </p:spPr>
        <p:txBody>
          <a:bodyPr wrap="square" anchor="ctr" lIns="0" rIns="0" tIns="0" bIns="0">
            <a:noAutofit/>
          </a:bodyPr>
          <a:lstStyle/>
          <a:p>
            <a:pPr algn="l">
              <a:lnSpc>
                <a:spcPct val="100000"/>
              </a:lnSpc>
            </a:pPr>
            <a:r>
              <a:rPr sz="1400" b="1" i="0">
                <a:solidFill>
                  <a:srgbClr val="567F8D"/>
                </a:solidFill>
                <a:latin typeface="Roboto"/>
              </a:rPr>
              <a:t>ClickHouse</a:t>
            </a:r>
          </a:p>
        </p:txBody>
      </p:sp>
      <p:sp>
        <p:nvSpPr>
          <p:cNvPr id="51" name="mbl:txt:43" descr="{&quot;mbl&quot;: 1, &quot;c&quot;: &quot;txt&quot;, &quot;i&quot;: 43}"/>
          <p:cNvSpPr txBox="1"/>
          <p:nvPr/>
        </p:nvSpPr>
        <p:spPr>
          <a:xfrm>
            <a:off x="4023360" y="3892296"/>
            <a:ext cx="850392" cy="522732"/>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(39.7)</a:t>
            </a:r>
          </a:p>
        </p:txBody>
      </p:sp>
      <p:sp>
        <p:nvSpPr>
          <p:cNvPr id="52" name="mbl:txt:44" descr="{&quot;mbl&quot;: 1, &quot;c&quot;: &quot;txt&quot;, &quot;i&quot;: 44}"/>
          <p:cNvSpPr txBox="1"/>
          <p:nvPr/>
        </p:nvSpPr>
        <p:spPr>
          <a:xfrm>
            <a:off x="4983480" y="3892296"/>
            <a:ext cx="1581912" cy="522732"/>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not reached</a:t>
            </a:r>
          </a:p>
        </p:txBody>
      </p:sp>
      <p:sp>
        <p:nvSpPr>
          <p:cNvPr id="53" name="mbl:txt:45" descr="{&quot;mbl&quot;: 1, &quot;c&quot;: &quot;txt&quot;, &quot;i&quot;: 45}"/>
          <p:cNvSpPr txBox="1"/>
          <p:nvPr/>
        </p:nvSpPr>
        <p:spPr>
          <a:xfrm>
            <a:off x="6675120" y="3892296"/>
            <a:ext cx="112471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
            </a:r>
          </a:p>
        </p:txBody>
      </p:sp>
      <p:sp>
        <p:nvSpPr>
          <p:cNvPr id="54" name="mbl:txt:46" descr="{&quot;mbl&quot;: 1, &quot;c&quot;: &quot;txt&quot;, &quot;i&quot;: 46}"/>
          <p:cNvSpPr txBox="1"/>
          <p:nvPr/>
        </p:nvSpPr>
        <p:spPr>
          <a:xfrm>
            <a:off x="7909560" y="3892296"/>
            <a:ext cx="126187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0.760</a:t>
            </a:r>
          </a:p>
        </p:txBody>
      </p:sp>
      <p:sp>
        <p:nvSpPr>
          <p:cNvPr id="55" name="mbl:txt:47" descr="{&quot;mbl&quot;: 1, &quot;c&quot;: &quot;txt&quot;, &quot;i&quot;: 47}"/>
          <p:cNvSpPr txBox="1"/>
          <p:nvPr/>
        </p:nvSpPr>
        <p:spPr>
          <a:xfrm>
            <a:off x="9281160" y="3892296"/>
            <a:ext cx="107899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465 s</a:t>
            </a:r>
          </a:p>
        </p:txBody>
      </p:sp>
      <p:sp>
        <p:nvSpPr>
          <p:cNvPr id="56" name="mbl:txt:48" descr="{&quot;mbl&quot;: 1, &quot;c&quot;: &quot;txt&quot;, &quot;i&quot;: 48}"/>
          <p:cNvSpPr txBox="1"/>
          <p:nvPr/>
        </p:nvSpPr>
        <p:spPr>
          <a:xfrm>
            <a:off x="10469880" y="3892296"/>
            <a:ext cx="1246327"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3.05 GiB</a:t>
            </a:r>
          </a:p>
        </p:txBody>
      </p:sp>
      <p:cxnSp>
        <p:nvCxnSpPr>
          <p:cNvPr id="57" name="mbl:hrule:6" descr="{&quot;mbl&quot;: 1, &quot;c&quot;: &quot;hrule&quot;, &quot;i&quot;: 6}"/>
          <p:cNvCxnSpPr/>
          <p:nvPr/>
        </p:nvCxnSpPr>
        <p:spPr>
          <a:xfrm>
            <a:off x="365760" y="4415028"/>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58" name="mbl:txt:49" descr="{&quot;mbl&quot;: 1, &quot;c&quot;: &quot;txt&quot;, &quot;i&quot;: 49}"/>
          <p:cNvSpPr txBox="1"/>
          <p:nvPr/>
        </p:nvSpPr>
        <p:spPr>
          <a:xfrm>
            <a:off x="365760" y="4415028"/>
            <a:ext cx="667512" cy="522732"/>
          </a:xfrm>
          <a:prstGeom prst="rect">
            <a:avLst/>
          </a:prstGeom>
          <a:noFill/>
        </p:spPr>
        <p:txBody>
          <a:bodyPr wrap="square" anchor="ctr" lIns="0" rIns="0" tIns="0" bIns="0">
            <a:noAutofit/>
          </a:bodyPr>
          <a:lstStyle/>
          <a:p>
            <a:pPr algn="l">
              <a:lnSpc>
                <a:spcPct val="100000"/>
              </a:lnSpc>
            </a:pPr>
            <a:r>
              <a:rPr sz="1400" b="1" i="0">
                <a:solidFill>
                  <a:srgbClr val="567F8D"/>
                </a:solidFill>
                <a:latin typeface="Roboto"/>
              </a:rPr>
              <a:t>DNQ</a:t>
            </a:r>
          </a:p>
        </p:txBody>
      </p:sp>
      <p:sp>
        <p:nvSpPr>
          <p:cNvPr id="59" name="mbl:txt:50" descr="{&quot;mbl&quot;: 1, &quot;c&quot;: &quot;txt&quot;, &quot;i&quot;: 50}"/>
          <p:cNvSpPr txBox="1"/>
          <p:nvPr/>
        </p:nvSpPr>
        <p:spPr>
          <a:xfrm>
            <a:off x="1143000" y="4415028"/>
            <a:ext cx="2770632" cy="522732"/>
          </a:xfrm>
          <a:prstGeom prst="rect">
            <a:avLst/>
          </a:prstGeom>
          <a:noFill/>
        </p:spPr>
        <p:txBody>
          <a:bodyPr wrap="square" anchor="ctr" lIns="0" rIns="0" tIns="0" bIns="0">
            <a:noAutofit/>
          </a:bodyPr>
          <a:lstStyle/>
          <a:p>
            <a:pPr algn="l">
              <a:lnSpc>
                <a:spcPct val="100000"/>
              </a:lnSpc>
            </a:pPr>
            <a:r>
              <a:rPr sz="1400" b="1" i="0">
                <a:solidFill>
                  <a:srgbClr val="567F8D"/>
                </a:solidFill>
                <a:latin typeface="Roboto"/>
              </a:rPr>
              <a:t>EDB Vector Plus</a:t>
            </a:r>
          </a:p>
        </p:txBody>
      </p:sp>
      <p:sp>
        <p:nvSpPr>
          <p:cNvPr id="60" name="mbl:txt:51" descr="{&quot;mbl&quot;: 1, &quot;c&quot;: &quot;txt&quot;, &quot;i&quot;: 51}"/>
          <p:cNvSpPr txBox="1"/>
          <p:nvPr/>
        </p:nvSpPr>
        <p:spPr>
          <a:xfrm>
            <a:off x="4023360" y="4415028"/>
            <a:ext cx="850392" cy="522732"/>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(34.1)</a:t>
            </a:r>
          </a:p>
        </p:txBody>
      </p:sp>
      <p:sp>
        <p:nvSpPr>
          <p:cNvPr id="61" name="mbl:txt:52" descr="{&quot;mbl&quot;: 1, &quot;c&quot;: &quot;txt&quot;, &quot;i&quot;: 52}"/>
          <p:cNvSpPr txBox="1"/>
          <p:nvPr/>
        </p:nvSpPr>
        <p:spPr>
          <a:xfrm>
            <a:off x="4983480" y="4415028"/>
            <a:ext cx="1581912" cy="522732"/>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not reached</a:t>
            </a:r>
          </a:p>
        </p:txBody>
      </p:sp>
      <p:sp>
        <p:nvSpPr>
          <p:cNvPr id="62" name="mbl:txt:53" descr="{&quot;mbl&quot;: 1, &quot;c&quot;: &quot;txt&quot;, &quot;i&quot;: 53}"/>
          <p:cNvSpPr txBox="1"/>
          <p:nvPr/>
        </p:nvSpPr>
        <p:spPr>
          <a:xfrm>
            <a:off x="6675120" y="4415028"/>
            <a:ext cx="112471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
            </a:r>
          </a:p>
        </p:txBody>
      </p:sp>
      <p:sp>
        <p:nvSpPr>
          <p:cNvPr id="63" name="mbl:txt:54" descr="{&quot;mbl&quot;: 1, &quot;c&quot;: &quot;txt&quot;, &quot;i&quot;: 54}"/>
          <p:cNvSpPr txBox="1"/>
          <p:nvPr/>
        </p:nvSpPr>
        <p:spPr>
          <a:xfrm>
            <a:off x="7909560" y="4415028"/>
            <a:ext cx="126187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0.886</a:t>
            </a:r>
          </a:p>
        </p:txBody>
      </p:sp>
      <p:sp>
        <p:nvSpPr>
          <p:cNvPr id="64" name="mbl:txt:55" descr="{&quot;mbl&quot;: 1, &quot;c&quot;: &quot;txt&quot;, &quot;i&quot;: 55}"/>
          <p:cNvSpPr txBox="1"/>
          <p:nvPr/>
        </p:nvSpPr>
        <p:spPr>
          <a:xfrm>
            <a:off x="9281160" y="4415028"/>
            <a:ext cx="1078992"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678 s</a:t>
            </a:r>
          </a:p>
        </p:txBody>
      </p:sp>
      <p:sp>
        <p:nvSpPr>
          <p:cNvPr id="65" name="mbl:txt:56" descr="{&quot;mbl&quot;: 1, &quot;c&quot;: &quot;txt&quot;, &quot;i&quot;: 56}"/>
          <p:cNvSpPr txBox="1"/>
          <p:nvPr/>
        </p:nvSpPr>
        <p:spPr>
          <a:xfrm>
            <a:off x="10469880" y="4415028"/>
            <a:ext cx="1246327" cy="522732"/>
          </a:xfrm>
          <a:prstGeom prst="rect">
            <a:avLst/>
          </a:prstGeom>
          <a:noFill/>
        </p:spPr>
        <p:txBody>
          <a:bodyPr wrap="square" anchor="ctr" lIns="0" rIns="0" tIns="0" bIns="0">
            <a:noAutofit/>
          </a:bodyPr>
          <a:lstStyle/>
          <a:p>
            <a:pPr algn="r">
              <a:lnSpc>
                <a:spcPct val="100000"/>
              </a:lnSpc>
            </a:pPr>
            <a:r>
              <a:rPr sz="1400" b="0" i="0">
                <a:solidFill>
                  <a:srgbClr val="28495A"/>
                </a:solidFill>
                <a:latin typeface="Roboto"/>
              </a:rPr>
              <a:t>3.55 GiB</a:t>
            </a:r>
          </a:p>
        </p:txBody>
      </p:sp>
      <p:sp>
        <p:nvSpPr>
          <p:cNvPr id="66" name="mbl:txt:57" descr="{&quot;mbl&quot;: 1, &quot;c&quot;: &quot;txt&quot;, &quot;i&quot;: 57}"/>
          <p:cNvSpPr txBox="1"/>
          <p:nvPr/>
        </p:nvSpPr>
        <p:spPr>
          <a:xfrm>
            <a:off x="365760" y="5138928"/>
            <a:ext cx="11460175" cy="960120"/>
          </a:xfrm>
          <a:prstGeom prst="rect">
            <a:avLst/>
          </a:prstGeom>
          <a:noFill/>
        </p:spPr>
        <p:txBody>
          <a:bodyPr wrap="square" anchor="t" lIns="0" rIns="0" tIns="0" bIns="0">
            <a:noAutofit/>
          </a:bodyPr>
          <a:lstStyle/>
          <a:p>
            <a:pPr algn="l">
              <a:lnSpc>
                <a:spcPct val="110000"/>
              </a:lnSpc>
            </a:pPr>
            <a:r>
              <a:rPr sz="1300" b="0" i="0">
                <a:solidFill>
                  <a:srgbClr val="567F8D"/>
                </a:solidFill>
                <a:latin typeface="Roboto"/>
              </a:rPr>
              <a:t>Score: latency 40, p95 10, best recall 10, build 15, index size 15; maintenance was not measured. An engine that never reaches the bar is DNQ and ranks below every engine that does.</a:t>
            </a:r>
          </a:p>
          <a:p>
            <a:pPr algn="l">
              <a:lnSpc>
                <a:spcPct val="110000"/>
              </a:lnSpc>
            </a:pPr>
            <a:r>
              <a:rPr sz="1300" b="0" i="0">
                <a:solidFill>
                  <a:srgbClr val="567F8D"/>
                </a:solidFill>
                <a:latin typeface="Roboto"/>
              </a:rPr>
              <a:t>IVFFlat on WarehousePG leads at a 95% bar (91.5) and at a 99% bar (91.5). ivfplus on WarehousePG (best 0.936) is DNQ there because its ladder ended at 32 probes; at 99% only the two IVFFlat engines qualify.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RUNS 3 AND 4 CARRY LATENCY SPIKES; RUN 6 REPRODUCES RUN 5</a:t>
            </a:r>
          </a:p>
        </p:txBody>
      </p:sp>
      <p:sp>
        <p:nvSpPr>
          <p:cNvPr id="4" name="mbl:txt:1" descr="{&quot;mbl&quot;: 1, &quot;c&quot;: &quot;txt&quot;, &quot;i&quot;: 1}"/>
          <p:cNvSpPr txBox="1"/>
          <p:nvPr/>
        </p:nvSpPr>
        <p:spPr>
          <a:xfrm>
            <a:off x="365760" y="1417320"/>
            <a:ext cx="3273552"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SAME SETTING, FOUR RUNS</a:t>
            </a:r>
          </a:p>
        </p:txBody>
      </p:sp>
      <p:sp>
        <p:nvSpPr>
          <p:cNvPr id="5" name="mbl:txt:2" descr="{&quot;mbl&quot;: 1, &quot;c&quot;: &quot;txt&quot;, &quot;i&quot;: 2}"/>
          <p:cNvSpPr txBox="1"/>
          <p:nvPr/>
        </p:nvSpPr>
        <p:spPr>
          <a:xfrm>
            <a:off x="3749040" y="1417320"/>
            <a:ext cx="1444752"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RUN 3</a:t>
            </a:r>
          </a:p>
        </p:txBody>
      </p:sp>
      <p:sp>
        <p:nvSpPr>
          <p:cNvPr id="6" name="mbl:txt:3" descr="{&quot;mbl&quot;: 1, &quot;c&quot;: &quot;txt&quot;, &quot;i&quot;: 3}"/>
          <p:cNvSpPr txBox="1"/>
          <p:nvPr/>
        </p:nvSpPr>
        <p:spPr>
          <a:xfrm>
            <a:off x="5303520" y="1417320"/>
            <a:ext cx="1444752"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RUN 4</a:t>
            </a:r>
          </a:p>
        </p:txBody>
      </p:sp>
      <p:sp>
        <p:nvSpPr>
          <p:cNvPr id="7" name="mbl:txt:4" descr="{&quot;mbl&quot;: 1, &quot;c&quot;: &quot;txt&quot;, &quot;i&quot;: 4}"/>
          <p:cNvSpPr txBox="1"/>
          <p:nvPr/>
        </p:nvSpPr>
        <p:spPr>
          <a:xfrm>
            <a:off x="6858000" y="1417320"/>
            <a:ext cx="1444752"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RUN 5</a:t>
            </a:r>
          </a:p>
        </p:txBody>
      </p:sp>
      <p:sp>
        <p:nvSpPr>
          <p:cNvPr id="8" name="mbl:txt:5" descr="{&quot;mbl&quot;: 1, &quot;c&quot;: &quot;txt&quot;, &quot;i&quot;: 5}"/>
          <p:cNvSpPr txBox="1"/>
          <p:nvPr/>
        </p:nvSpPr>
        <p:spPr>
          <a:xfrm>
            <a:off x="8412480" y="1417320"/>
            <a:ext cx="1444752" cy="256032"/>
          </a:xfrm>
          <a:prstGeom prst="rect">
            <a:avLst/>
          </a:prstGeom>
          <a:noFill/>
        </p:spPr>
        <p:txBody>
          <a:bodyPr wrap="square" anchor="ctr" lIns="0" rIns="0" tIns="0" bIns="0">
            <a:noAutofit/>
          </a:bodyPr>
          <a:lstStyle/>
          <a:p>
            <a:pPr algn="r">
              <a:lnSpc>
                <a:spcPct val="100000"/>
              </a:lnSpc>
            </a:pPr>
            <a:r>
              <a:rPr sz="1050" b="1" i="0">
                <a:solidFill>
                  <a:srgbClr val="567F8D"/>
                </a:solidFill>
                <a:latin typeface="Roboto Condensed"/>
              </a:rPr>
              <a:t>RUN 6</a:t>
            </a:r>
          </a:p>
        </p:txBody>
      </p:sp>
      <p:sp>
        <p:nvSpPr>
          <p:cNvPr id="9" name="mbl:txt:6" descr="{&quot;mbl&quot;: 1, &quot;c&quot;: &quot;txt&quot;, &quot;i&quot;: 6}"/>
          <p:cNvSpPr txBox="1"/>
          <p:nvPr/>
        </p:nvSpPr>
        <p:spPr>
          <a:xfrm>
            <a:off x="9966960" y="1417320"/>
            <a:ext cx="1749247" cy="256032"/>
          </a:xfrm>
          <a:prstGeom prst="rect">
            <a:avLst/>
          </a:prstGeom>
          <a:noFill/>
        </p:spPr>
        <p:txBody>
          <a:bodyPr wrap="square" anchor="ctr" lIns="0" rIns="0" tIns="0" bIns="0">
            <a:noAutofit/>
          </a:bodyPr>
          <a:lstStyle/>
          <a:p>
            <a:pPr algn="l">
              <a:lnSpc>
                <a:spcPct val="100000"/>
              </a:lnSpc>
            </a:pPr>
            <a:r>
              <a:rPr sz="1050" b="1" i="0">
                <a:solidFill>
                  <a:srgbClr val="567F8D"/>
                </a:solidFill>
                <a:latin typeface="Roboto Condensed"/>
              </a:rPr>
              <a:t/>
            </a:r>
          </a:p>
        </p:txBody>
      </p:sp>
      <p:cxnSp>
        <p:nvCxnSpPr>
          <p:cNvPr id="10" name="mbl:hrule:1" descr="{&quot;mbl&quot;: 1, &quot;c&quot;: &quot;hrule&quot;, &quot;i&quot;: 1}"/>
          <p:cNvCxnSpPr/>
          <p:nvPr/>
        </p:nvCxnSpPr>
        <p:spPr>
          <a:xfrm>
            <a:off x="365760" y="1728216"/>
            <a:ext cx="11460175" cy="0"/>
          </a:xfrm>
          <a:prstGeom prst="line">
            <a:avLst/>
          </a:prstGeom>
          <a:ln w="25400">
            <a:solidFill>
              <a:srgbClr val="28495A"/>
            </a:solidFill>
          </a:ln>
          <a:effectLst/>
        </p:spPr>
        <p:style>
          <a:lnRef idx="2">
            <a:schemeClr val="accent1"/>
          </a:lnRef>
          <a:fillRef idx="0">
            <a:schemeClr val="accent1"/>
          </a:fillRef>
          <a:effectRef idx="0">
            <a:schemeClr val="accent1"/>
          </a:effectRef>
          <a:fontRef idx="minor">
            <a:schemeClr val="tx1"/>
          </a:fontRef>
        </p:style>
      </p:cxnSp>
      <p:sp>
        <p:nvSpPr>
          <p:cNvPr id="11" name="mbl:txt:7" descr="{&quot;mbl&quot;: 1, &quot;c&quot;: &quot;txt&quot;, &quot;i&quot;: 7}"/>
          <p:cNvSpPr txBox="1"/>
          <p:nvPr/>
        </p:nvSpPr>
        <p:spPr>
          <a:xfrm>
            <a:off x="365760" y="1801368"/>
            <a:ext cx="3273552" cy="612648"/>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EDB Vector Plus, 16 probes</a:t>
            </a:r>
          </a:p>
        </p:txBody>
      </p:sp>
      <p:sp>
        <p:nvSpPr>
          <p:cNvPr id="12" name="mbl:txt:8" descr="{&quot;mbl&quot;: 1, &quot;c&quot;: &quot;txt&quot;, &quot;i&quot;: 8}"/>
          <p:cNvSpPr txBox="1"/>
          <p:nvPr/>
        </p:nvSpPr>
        <p:spPr>
          <a:xfrm>
            <a:off x="3749040" y="1801368"/>
            <a:ext cx="1444752" cy="612648"/>
          </a:xfrm>
          <a:prstGeom prst="rect">
            <a:avLst/>
          </a:prstGeom>
          <a:noFill/>
        </p:spPr>
        <p:txBody>
          <a:bodyPr wrap="square" anchor="ctr" lIns="0" rIns="0" tIns="0" bIns="0">
            <a:noAutofit/>
          </a:bodyPr>
          <a:lstStyle/>
          <a:p>
            <a:pPr algn="r">
              <a:lnSpc>
                <a:spcPct val="100000"/>
              </a:lnSpc>
            </a:pPr>
            <a:r>
              <a:rPr sz="1400" b="1" i="0">
                <a:solidFill>
                  <a:srgbClr val="28495A"/>
                </a:solidFill>
                <a:latin typeface="Roboto"/>
              </a:rPr>
              <a:t>66.5 ms</a:t>
            </a:r>
          </a:p>
        </p:txBody>
      </p:sp>
      <p:sp>
        <p:nvSpPr>
          <p:cNvPr id="13" name="mbl:txt:9" descr="{&quot;mbl&quot;: 1, &quot;c&quot;: &quot;txt&quot;, &quot;i&quot;: 9}"/>
          <p:cNvSpPr txBox="1"/>
          <p:nvPr/>
        </p:nvSpPr>
        <p:spPr>
          <a:xfrm>
            <a:off x="5303520" y="1801368"/>
            <a:ext cx="1444752" cy="612648"/>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5.9 ms</a:t>
            </a:r>
          </a:p>
        </p:txBody>
      </p:sp>
      <p:sp>
        <p:nvSpPr>
          <p:cNvPr id="14" name="mbl:txt:10" descr="{&quot;mbl&quot;: 1, &quot;c&quot;: &quot;txt&quot;, &quot;i&quot;: 10}"/>
          <p:cNvSpPr txBox="1"/>
          <p:nvPr/>
        </p:nvSpPr>
        <p:spPr>
          <a:xfrm>
            <a:off x="6858000" y="1801368"/>
            <a:ext cx="1444752" cy="612648"/>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5.8 ms</a:t>
            </a:r>
          </a:p>
        </p:txBody>
      </p:sp>
      <p:sp>
        <p:nvSpPr>
          <p:cNvPr id="15" name="mbl:txt:11" descr="{&quot;mbl&quot;: 1, &quot;c&quot;: &quot;txt&quot;, &quot;i&quot;: 11}"/>
          <p:cNvSpPr txBox="1"/>
          <p:nvPr/>
        </p:nvSpPr>
        <p:spPr>
          <a:xfrm>
            <a:off x="8412480" y="1801368"/>
            <a:ext cx="1444752" cy="612648"/>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5.7 ms</a:t>
            </a:r>
          </a:p>
        </p:txBody>
      </p:sp>
      <p:sp>
        <p:nvSpPr>
          <p:cNvPr id="16" name="mbl:txt:12" descr="{&quot;mbl&quot;: 1, &quot;c&quot;: &quot;txt&quot;, &quot;i&quot;: 12}"/>
          <p:cNvSpPr txBox="1"/>
          <p:nvPr/>
        </p:nvSpPr>
        <p:spPr>
          <a:xfrm>
            <a:off x="9966960" y="1801368"/>
            <a:ext cx="1749247" cy="612648"/>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
            </a:r>
          </a:p>
        </p:txBody>
      </p:sp>
      <p:cxnSp>
        <p:nvCxnSpPr>
          <p:cNvPr id="17" name="mbl:hrule:2" descr="{&quot;mbl&quot;: 1, &quot;c&quot;: &quot;hrule&quot;, &quot;i&quot;: 2}"/>
          <p:cNvCxnSpPr/>
          <p:nvPr/>
        </p:nvCxnSpPr>
        <p:spPr>
          <a:xfrm>
            <a:off x="365760" y="2414016"/>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8" name="mbl:txt:13" descr="{&quot;mbl&quot;: 1, &quot;c&quot;: &quot;txt&quot;, &quot;i&quot;: 13}"/>
          <p:cNvSpPr txBox="1"/>
          <p:nvPr/>
        </p:nvSpPr>
        <p:spPr>
          <a:xfrm>
            <a:off x="365760" y="2414016"/>
            <a:ext cx="3273552" cy="612648"/>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VectorChord, 8 probes</a:t>
            </a:r>
          </a:p>
        </p:txBody>
      </p:sp>
      <p:sp>
        <p:nvSpPr>
          <p:cNvPr id="19" name="mbl:txt:14" descr="{&quot;mbl&quot;: 1, &quot;c&quot;: &quot;txt&quot;, &quot;i&quot;: 14}"/>
          <p:cNvSpPr txBox="1"/>
          <p:nvPr/>
        </p:nvSpPr>
        <p:spPr>
          <a:xfrm>
            <a:off x="3749040" y="2414016"/>
            <a:ext cx="1444752" cy="612648"/>
          </a:xfrm>
          <a:prstGeom prst="rect">
            <a:avLst/>
          </a:prstGeom>
          <a:noFill/>
        </p:spPr>
        <p:txBody>
          <a:bodyPr wrap="square" anchor="ctr" lIns="0" rIns="0" tIns="0" bIns="0">
            <a:noAutofit/>
          </a:bodyPr>
          <a:lstStyle/>
          <a:p>
            <a:pPr algn="r">
              <a:lnSpc>
                <a:spcPct val="100000"/>
              </a:lnSpc>
            </a:pPr>
            <a:r>
              <a:rPr sz="1400" b="1" i="0">
                <a:solidFill>
                  <a:srgbClr val="28495A"/>
                </a:solidFill>
                <a:latin typeface="Roboto"/>
              </a:rPr>
              <a:t>427 ms</a:t>
            </a:r>
          </a:p>
        </p:txBody>
      </p:sp>
      <p:sp>
        <p:nvSpPr>
          <p:cNvPr id="20" name="mbl:txt:15" descr="{&quot;mbl&quot;: 1, &quot;c&quot;: &quot;txt&quot;, &quot;i&quot;: 15}"/>
          <p:cNvSpPr txBox="1"/>
          <p:nvPr/>
        </p:nvSpPr>
        <p:spPr>
          <a:xfrm>
            <a:off x="5303520" y="2414016"/>
            <a:ext cx="1444752" cy="612648"/>
          </a:xfrm>
          <a:prstGeom prst="rect">
            <a:avLst/>
          </a:prstGeom>
          <a:noFill/>
        </p:spPr>
        <p:txBody>
          <a:bodyPr wrap="square" anchor="ctr" lIns="0" rIns="0" tIns="0" bIns="0">
            <a:noAutofit/>
          </a:bodyPr>
          <a:lstStyle/>
          <a:p>
            <a:pPr algn="r">
              <a:lnSpc>
                <a:spcPct val="100000"/>
              </a:lnSpc>
            </a:pPr>
            <a:r>
              <a:rPr sz="1400" b="1" i="0">
                <a:solidFill>
                  <a:srgbClr val="28495A"/>
                </a:solidFill>
                <a:latin typeface="Roboto"/>
              </a:rPr>
              <a:t>186 ms</a:t>
            </a:r>
          </a:p>
        </p:txBody>
      </p:sp>
      <p:sp>
        <p:nvSpPr>
          <p:cNvPr id="21" name="mbl:txt:16" descr="{&quot;mbl&quot;: 1, &quot;c&quot;: &quot;txt&quot;, &quot;i&quot;: 16}"/>
          <p:cNvSpPr txBox="1"/>
          <p:nvPr/>
        </p:nvSpPr>
        <p:spPr>
          <a:xfrm>
            <a:off x="6858000" y="2414016"/>
            <a:ext cx="1444752" cy="612648"/>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28.3 ms</a:t>
            </a:r>
          </a:p>
        </p:txBody>
      </p:sp>
      <p:sp>
        <p:nvSpPr>
          <p:cNvPr id="22" name="mbl:txt:17" descr="{&quot;mbl&quot;: 1, &quot;c&quot;: &quot;txt&quot;, &quot;i&quot;: 17}"/>
          <p:cNvSpPr txBox="1"/>
          <p:nvPr/>
        </p:nvSpPr>
        <p:spPr>
          <a:xfrm>
            <a:off x="8412480" y="2414016"/>
            <a:ext cx="1444752" cy="612648"/>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28.2 ms</a:t>
            </a:r>
          </a:p>
        </p:txBody>
      </p:sp>
      <p:sp>
        <p:nvSpPr>
          <p:cNvPr id="23" name="mbl:txt:18" descr="{&quot;mbl&quot;: 1, &quot;c&quot;: &quot;txt&quot;, &quot;i&quot;: 18}"/>
          <p:cNvSpPr txBox="1"/>
          <p:nvPr/>
        </p:nvSpPr>
        <p:spPr>
          <a:xfrm>
            <a:off x="9966960" y="2414016"/>
            <a:ext cx="1749247" cy="612648"/>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
            </a:r>
          </a:p>
        </p:txBody>
      </p:sp>
      <p:cxnSp>
        <p:nvCxnSpPr>
          <p:cNvPr id="24" name="mbl:hrule:3" descr="{&quot;mbl&quot;: 1, &quot;c&quot;: &quot;hrule&quot;, &quot;i&quot;: 3}"/>
          <p:cNvCxnSpPr/>
          <p:nvPr/>
        </p:nvCxnSpPr>
        <p:spPr>
          <a:xfrm>
            <a:off x="365760" y="3026664"/>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5" name="mbl:txt:19" descr="{&quot;mbl&quot;: 1, &quot;c&quot;: &quot;txt&quot;, &quot;i&quot;: 19}"/>
          <p:cNvSpPr txBox="1"/>
          <p:nvPr/>
        </p:nvSpPr>
        <p:spPr>
          <a:xfrm>
            <a:off x="365760" y="3026664"/>
            <a:ext cx="3273552" cy="612648"/>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pgvector IVFFlat, 32 probes</a:t>
            </a:r>
          </a:p>
        </p:txBody>
      </p:sp>
      <p:sp>
        <p:nvSpPr>
          <p:cNvPr id="26" name="mbl:txt:20" descr="{&quot;mbl&quot;: 1, &quot;c&quot;: &quot;txt&quot;, &quot;i&quot;: 20}"/>
          <p:cNvSpPr txBox="1"/>
          <p:nvPr/>
        </p:nvSpPr>
        <p:spPr>
          <a:xfrm>
            <a:off x="3749040" y="3026664"/>
            <a:ext cx="1444752" cy="612648"/>
          </a:xfrm>
          <a:prstGeom prst="rect">
            <a:avLst/>
          </a:prstGeom>
          <a:noFill/>
        </p:spPr>
        <p:txBody>
          <a:bodyPr wrap="square" anchor="ctr" lIns="0" rIns="0" tIns="0" bIns="0">
            <a:noAutofit/>
          </a:bodyPr>
          <a:lstStyle/>
          <a:p>
            <a:pPr algn="r">
              <a:lnSpc>
                <a:spcPct val="100000"/>
              </a:lnSpc>
            </a:pPr>
            <a:r>
              <a:rPr sz="1400" b="1" i="0">
                <a:solidFill>
                  <a:srgbClr val="28495A"/>
                </a:solidFill>
                <a:latin typeface="Roboto"/>
              </a:rPr>
              <a:t>231 ms</a:t>
            </a:r>
          </a:p>
        </p:txBody>
      </p:sp>
      <p:sp>
        <p:nvSpPr>
          <p:cNvPr id="27" name="mbl:txt:21" descr="{&quot;mbl&quot;: 1, &quot;c&quot;: &quot;txt&quot;, &quot;i&quot;: 21}"/>
          <p:cNvSpPr txBox="1"/>
          <p:nvPr/>
        </p:nvSpPr>
        <p:spPr>
          <a:xfrm>
            <a:off x="5303520" y="3026664"/>
            <a:ext cx="1444752" cy="612648"/>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110 ms</a:t>
            </a:r>
          </a:p>
        </p:txBody>
      </p:sp>
      <p:sp>
        <p:nvSpPr>
          <p:cNvPr id="28" name="mbl:txt:22" descr="{&quot;mbl&quot;: 1, &quot;c&quot;: &quot;txt&quot;, &quot;i&quot;: 22}"/>
          <p:cNvSpPr txBox="1"/>
          <p:nvPr/>
        </p:nvSpPr>
        <p:spPr>
          <a:xfrm>
            <a:off x="6858000" y="3026664"/>
            <a:ext cx="1444752" cy="612648"/>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108 ms</a:t>
            </a:r>
          </a:p>
        </p:txBody>
      </p:sp>
      <p:sp>
        <p:nvSpPr>
          <p:cNvPr id="29" name="mbl:txt:23" descr="{&quot;mbl&quot;: 1, &quot;c&quot;: &quot;txt&quot;, &quot;i&quot;: 23}"/>
          <p:cNvSpPr txBox="1"/>
          <p:nvPr/>
        </p:nvSpPr>
        <p:spPr>
          <a:xfrm>
            <a:off x="8412480" y="3026664"/>
            <a:ext cx="1444752" cy="612648"/>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108 ms</a:t>
            </a:r>
          </a:p>
        </p:txBody>
      </p:sp>
      <p:sp>
        <p:nvSpPr>
          <p:cNvPr id="30" name="mbl:txt:24" descr="{&quot;mbl&quot;: 1, &quot;c&quot;: &quot;txt&quot;, &quot;i&quot;: 24}"/>
          <p:cNvSpPr txBox="1"/>
          <p:nvPr/>
        </p:nvSpPr>
        <p:spPr>
          <a:xfrm>
            <a:off x="9966960" y="3026664"/>
            <a:ext cx="1749247" cy="612648"/>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
            </a:r>
          </a:p>
        </p:txBody>
      </p:sp>
      <p:cxnSp>
        <p:nvCxnSpPr>
          <p:cNvPr id="31" name="mbl:hrule:4" descr="{&quot;mbl&quot;: 1, &quot;c&quot;: &quot;hrule&quot;, &quot;i&quot;: 4}"/>
          <p:cNvCxnSpPr/>
          <p:nvPr/>
        </p:nvCxnSpPr>
        <p:spPr>
          <a:xfrm>
            <a:off x="365760" y="3639312"/>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32" name="mbl:txt:25" descr="{&quot;mbl&quot;: 1, &quot;c&quot;: &quot;txt&quot;, &quot;i&quot;: 25}"/>
          <p:cNvSpPr txBox="1"/>
          <p:nvPr/>
        </p:nvSpPr>
        <p:spPr>
          <a:xfrm>
            <a:off x="365760" y="3639312"/>
            <a:ext cx="3273552" cy="612648"/>
          </a:xfrm>
          <a:prstGeom prst="rect">
            <a:avLst/>
          </a:prstGeom>
          <a:noFill/>
        </p:spPr>
        <p:txBody>
          <a:bodyPr wrap="square" anchor="ctr" lIns="0" rIns="0" tIns="0" bIns="0">
            <a:noAutofit/>
          </a:bodyPr>
          <a:lstStyle/>
          <a:p>
            <a:pPr algn="l">
              <a:lnSpc>
                <a:spcPct val="100000"/>
              </a:lnSpc>
            </a:pPr>
            <a:r>
              <a:rPr sz="1400" b="1" i="0">
                <a:solidFill>
                  <a:srgbClr val="28495A"/>
                </a:solidFill>
                <a:latin typeface="Roboto"/>
              </a:rPr>
              <a:t>IVFFlat @ WHPG, 32 probes</a:t>
            </a:r>
          </a:p>
        </p:txBody>
      </p:sp>
      <p:sp>
        <p:nvSpPr>
          <p:cNvPr id="33" name="mbl:txt:26" descr="{&quot;mbl&quot;: 1, &quot;c&quot;: &quot;txt&quot;, &quot;i&quot;: 26}"/>
          <p:cNvSpPr txBox="1"/>
          <p:nvPr/>
        </p:nvSpPr>
        <p:spPr>
          <a:xfrm>
            <a:off x="3749040" y="3639312"/>
            <a:ext cx="1444752" cy="612648"/>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43.2 ms</a:t>
            </a:r>
          </a:p>
        </p:txBody>
      </p:sp>
      <p:sp>
        <p:nvSpPr>
          <p:cNvPr id="34" name="mbl:txt:27" descr="{&quot;mbl&quot;: 1, &quot;c&quot;: &quot;txt&quot;, &quot;i&quot;: 27}"/>
          <p:cNvSpPr txBox="1"/>
          <p:nvPr/>
        </p:nvSpPr>
        <p:spPr>
          <a:xfrm>
            <a:off x="5303520" y="3639312"/>
            <a:ext cx="1444752" cy="612648"/>
          </a:xfrm>
          <a:prstGeom prst="rect">
            <a:avLst/>
          </a:prstGeom>
          <a:noFill/>
        </p:spPr>
        <p:txBody>
          <a:bodyPr wrap="square" anchor="ctr" lIns="0" rIns="0" tIns="0" bIns="0">
            <a:noAutofit/>
          </a:bodyPr>
          <a:lstStyle/>
          <a:p>
            <a:pPr algn="r">
              <a:lnSpc>
                <a:spcPct val="100000"/>
              </a:lnSpc>
            </a:pPr>
            <a:r>
              <a:rPr sz="1400" b="1" i="0">
                <a:solidFill>
                  <a:srgbClr val="28495A"/>
                </a:solidFill>
                <a:latin typeface="Roboto"/>
              </a:rPr>
              <a:t>224 ms</a:t>
            </a:r>
          </a:p>
        </p:txBody>
      </p:sp>
      <p:sp>
        <p:nvSpPr>
          <p:cNvPr id="35" name="mbl:txt:28" descr="{&quot;mbl&quot;: 1, &quot;c&quot;: &quot;txt&quot;, &quot;i&quot;: 28}"/>
          <p:cNvSpPr txBox="1"/>
          <p:nvPr/>
        </p:nvSpPr>
        <p:spPr>
          <a:xfrm>
            <a:off x="6858000" y="3639312"/>
            <a:ext cx="1444752" cy="612648"/>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45.3 ms</a:t>
            </a:r>
          </a:p>
        </p:txBody>
      </p:sp>
      <p:sp>
        <p:nvSpPr>
          <p:cNvPr id="36" name="mbl:txt:29" descr="{&quot;mbl&quot;: 1, &quot;c&quot;: &quot;txt&quot;, &quot;i&quot;: 29}"/>
          <p:cNvSpPr txBox="1"/>
          <p:nvPr/>
        </p:nvSpPr>
        <p:spPr>
          <a:xfrm>
            <a:off x="8412480" y="3639312"/>
            <a:ext cx="1444752" cy="612648"/>
          </a:xfrm>
          <a:prstGeom prst="rect">
            <a:avLst/>
          </a:prstGeom>
          <a:noFill/>
        </p:spPr>
        <p:txBody>
          <a:bodyPr wrap="square" anchor="ctr" lIns="0" rIns="0" tIns="0" bIns="0">
            <a:noAutofit/>
          </a:bodyPr>
          <a:lstStyle/>
          <a:p>
            <a:pPr algn="r">
              <a:lnSpc>
                <a:spcPct val="100000"/>
              </a:lnSpc>
            </a:pPr>
            <a:r>
              <a:rPr sz="1400" b="0" i="0">
                <a:solidFill>
                  <a:srgbClr val="567F8D"/>
                </a:solidFill>
                <a:latin typeface="Roboto"/>
              </a:rPr>
              <a:t>41.1 ms</a:t>
            </a:r>
          </a:p>
        </p:txBody>
      </p:sp>
      <p:sp>
        <p:nvSpPr>
          <p:cNvPr id="37" name="mbl:txt:30" descr="{&quot;mbl&quot;: 1, &quot;c&quot;: &quot;txt&quot;, &quot;i&quot;: 30}"/>
          <p:cNvSpPr txBox="1"/>
          <p:nvPr/>
        </p:nvSpPr>
        <p:spPr>
          <a:xfrm>
            <a:off x="9966960" y="3639312"/>
            <a:ext cx="1749247" cy="612648"/>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
            </a:r>
          </a:p>
        </p:txBody>
      </p:sp>
      <p:sp>
        <p:nvSpPr>
          <p:cNvPr id="38" name="mbl:txt:31" descr="{&quot;mbl&quot;: 1, &quot;c&quot;: &quot;txt&quot;, &quot;i&quot;: 31}"/>
          <p:cNvSpPr txBox="1"/>
          <p:nvPr/>
        </p:nvSpPr>
        <p:spPr>
          <a:xfrm>
            <a:off x="365760" y="4480560"/>
            <a:ext cx="11460175" cy="1645920"/>
          </a:xfrm>
          <a:prstGeom prst="rect">
            <a:avLst/>
          </a:prstGeom>
          <a:noFill/>
        </p:spPr>
        <p:txBody>
          <a:bodyPr wrap="square" anchor="t" lIns="0" rIns="0" tIns="0" bIns="0">
            <a:noAutofit/>
          </a:bodyPr>
          <a:lstStyle/>
          <a:p>
            <a:pPr algn="l">
              <a:lnSpc>
                <a:spcPct val="112000"/>
              </a:lnSpc>
            </a:pPr>
            <a:r>
              <a:rPr sz="1400" b="0" i="0">
                <a:solidFill>
                  <a:srgbClr val="567F8D"/>
                </a:solidFill>
                <a:latin typeface="Roboto"/>
              </a:rPr>
              <a:t>Run 6 repeats run 5's settings from 1 to 32 probes: 22 of 24 latencies agree within 10%, the median ratio is 0.99, and recall is identical. Run 6 carries no warning that ClickHouse was running, and run 5 had no ClickHouse engine.</a:t>
            </a:r>
          </a:p>
          <a:p>
            <a:pPr algn="l">
              <a:lnSpc>
                <a:spcPct val="112000"/>
              </a:lnSpc>
            </a:pPr>
            <a:r>
              <a:rPr sz="1400" b="0" i="0">
                <a:solidFill>
                  <a:srgbClr val="567F8D"/>
                </a:solidFill>
                <a:latin typeface="Roboto"/>
              </a:rPr>
              <a:t>In runs 3 and 4, 7 and 6 of 30 settings ran more than 1.5 times slower than in run 5; both included ClickHouse on the same host. This deck keeps the lowest latency per setting.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E25"/>
        </a:solidFill>
        <a:effectLst/>
      </p:bgPr>
    </p:bg>
    <p:spTree>
      <p:nvGrpSpPr>
        <p:cNvPr id="1" name=""/>
        <p:cNvGrpSpPr/>
        <p:nvPr/>
      </p:nvGrpSpPr>
      <p:grpSpPr/>
      <p:sp>
        <p:nvSpPr>
          <p:cNvPr id="2" name="mbl:gbar:1" descr="{&quot;mbl&quot;: 1, &quot;c&quot;: &quot;gbar&quot;, &quot;i&quot;: 1}"/>
          <p:cNvSpPr/>
          <p:nvPr/>
        </p:nvSpPr>
        <p:spPr>
          <a:xfrm>
            <a:off x="219456" y="2834640"/>
            <a:ext cx="82296" cy="658368"/>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xt:1" descr="{&quot;mbl&quot;: 1, &quot;c&quot;: &quot;txt&quot;, &quot;i&quot;: 1}"/>
          <p:cNvSpPr txBox="1"/>
          <p:nvPr/>
        </p:nvSpPr>
        <p:spPr>
          <a:xfrm>
            <a:off x="365760" y="2834640"/>
            <a:ext cx="11094415" cy="658368"/>
          </a:xfrm>
          <a:prstGeom prst="rect">
            <a:avLst/>
          </a:prstGeom>
          <a:noFill/>
        </p:spPr>
        <p:txBody>
          <a:bodyPr wrap="square" anchor="ctr" lIns="0" rIns="0" tIns="0" bIns="0">
            <a:noAutofit/>
          </a:bodyPr>
          <a:lstStyle/>
          <a:p>
            <a:pPr algn="l">
              <a:lnSpc>
                <a:spcPct val="100000"/>
              </a:lnSpc>
            </a:pPr>
            <a:r>
              <a:rPr sz="3400" b="1" i="0">
                <a:solidFill>
                  <a:srgbClr val="FFFFFF"/>
                </a:solidFill>
                <a:latin typeface="Roboto Condensed"/>
              </a:rPr>
              <a:t>WHAT IS STILL OPEN</a:t>
            </a:r>
          </a:p>
        </p:txBody>
      </p:sp>
      <p:sp>
        <p:nvSpPr>
          <p:cNvPr id="4" name="mbl:txt:2" descr="{&quot;mbl&quot;: 1, &quot;c&quot;: &quot;txt&quot;, &quot;i&quot;: 2}"/>
          <p:cNvSpPr txBox="1"/>
          <p:nvPr/>
        </p:nvSpPr>
        <p:spPr>
          <a:xfrm>
            <a:off x="365760" y="3584448"/>
            <a:ext cx="11094415" cy="274320"/>
          </a:xfrm>
          <a:prstGeom prst="rect">
            <a:avLst/>
          </a:prstGeom>
          <a:noFill/>
        </p:spPr>
        <p:txBody>
          <a:bodyPr wrap="square" anchor="t" lIns="0" rIns="0" tIns="0" bIns="0">
            <a:noAutofit/>
          </a:bodyPr>
          <a:lstStyle/>
          <a:p>
            <a:pPr algn="l">
              <a:lnSpc>
                <a:spcPct val="100000"/>
              </a:lnSpc>
            </a:pPr>
            <a:r>
              <a:rPr sz="1400" b="0" i="0">
                <a:solidFill>
                  <a:srgbClr val="A8C2CA"/>
                </a:solidFill>
                <a:latin typeface="Roboto"/>
              </a:rPr>
              <a:t>Gaps in the data and the next sweep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400" b="1" i="0">
                <a:solidFill>
                  <a:srgbClr val="28495A"/>
                </a:solidFill>
                <a:latin typeface="Roboto Condensed"/>
              </a:rPr>
              <a:t>TWO LADDERS STILL END EARLY: IVFPLUS ON WAREHOUSEPG AND CLICKHOUSE</a:t>
            </a:r>
          </a:p>
        </p:txBody>
      </p:sp>
      <p:sp>
        <p:nvSpPr>
          <p:cNvPr id="4" name="mbl:tab:1" descr="{&quot;mbl&quot;: 1, &quot;c&quot;: &quot;tab&quot;, &quot;i&quot;: 1}"/>
          <p:cNvSpPr/>
          <p:nvPr/>
        </p:nvSpPr>
        <p:spPr>
          <a:xfrm>
            <a:off x="365760" y="1417320"/>
            <a:ext cx="5501487" cy="274320"/>
          </a:xfrm>
          <a:prstGeom prst="roundRect">
            <a:avLst>
              <a:gd name="adj" fmla="val 5424"/>
            </a:avLst>
          </a:prstGeom>
          <a:solidFill>
            <a:srgbClr val="2849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a:noAutofit/>
          </a:bodyPr>
          <a:lstStyle/>
          <a:p>
            <a:pPr algn="ctr"/>
            <a:r>
              <a:rPr sz="1200" b="1">
                <a:solidFill>
                  <a:srgbClr val="FFFFFF"/>
                </a:solidFill>
                <a:latin typeface="Roboto Condensed"/>
              </a:rPr>
              <a:t>NOT MEASURED YET</a:t>
            </a:r>
          </a:p>
        </p:txBody>
      </p:sp>
      <p:sp>
        <p:nvSpPr>
          <p:cNvPr id="5" name="mbl:tab:2" descr="{&quot;mbl&quot;: 1, &quot;c&quot;: &quot;tab&quot;, &quot;i&quot;: 2}"/>
          <p:cNvSpPr/>
          <p:nvPr/>
        </p:nvSpPr>
        <p:spPr>
          <a:xfrm>
            <a:off x="6324447" y="1417320"/>
            <a:ext cx="5501487" cy="274320"/>
          </a:xfrm>
          <a:prstGeom prst="roundRect">
            <a:avLst>
              <a:gd name="adj" fmla="val 5424"/>
            </a:avLst>
          </a:prstGeom>
          <a:solidFill>
            <a:srgbClr val="2849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a:noAutofit/>
          </a:bodyPr>
          <a:lstStyle/>
          <a:p>
            <a:pPr algn="ctr"/>
            <a:r>
              <a:rPr sz="1200" b="1">
                <a:solidFill>
                  <a:srgbClr val="FFFFFF"/>
                </a:solidFill>
                <a:latin typeface="Roboto Condensed"/>
              </a:rPr>
              <a:t>LIMITS OF WHAT WAS MEASURED</a:t>
            </a:r>
          </a:p>
        </p:txBody>
      </p:sp>
      <p:sp>
        <p:nvSpPr>
          <p:cNvPr id="6" name="mbl:runs:1" descr="{&quot;mbl&quot;: 1, &quot;c&quot;: &quot;runs&quot;, &quot;i&quot;: 1}"/>
          <p:cNvSpPr txBox="1"/>
          <p:nvPr/>
        </p:nvSpPr>
        <p:spPr>
          <a:xfrm>
            <a:off x="365760" y="1984248"/>
            <a:ext cx="5501487" cy="822960"/>
          </a:xfrm>
          <a:prstGeom prst="rect">
            <a:avLst/>
          </a:prstGeom>
          <a:noFill/>
        </p:spPr>
        <p:txBody>
          <a:bodyPr wrap="square" anchor="t" lIns="0" rIns="0" tIns="0" bIns="0">
            <a:noAutofit/>
          </a:bodyPr>
          <a:lstStyle/>
          <a:p>
            <a:pPr algn="l">
              <a:lnSpc>
                <a:spcPct val="100000"/>
              </a:lnSpc>
            </a:pPr>
            <a:r>
              <a:rPr sz="1500" b="1">
                <a:solidFill>
                  <a:srgbClr val="28495A"/>
                </a:solidFill>
                <a:latin typeface="Roboto"/>
              </a:rPr>
              <a:t>ivfplus on WarehousePG past 32 probes: </a:t>
            </a:r>
            <a:r>
              <a:rPr sz="1500" b="0">
                <a:solidFill>
                  <a:srgbClr val="567F8D"/>
                </a:solidFill>
                <a:latin typeface="Roboto"/>
              </a:rPr>
              <a:t>recall was still rising at 0.936.</a:t>
            </a:r>
          </a:p>
        </p:txBody>
      </p:sp>
      <p:cxnSp>
        <p:nvCxnSpPr>
          <p:cNvPr id="7" name="mbl:hrule:1" descr="{&quot;mbl&quot;: 1, &quot;c&quot;: &quot;hrule&quot;, &quot;i&quot;: 1}"/>
          <p:cNvCxnSpPr/>
          <p:nvPr/>
        </p:nvCxnSpPr>
        <p:spPr>
          <a:xfrm>
            <a:off x="365760" y="2852928"/>
            <a:ext cx="5501487"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8" name="mbl:runs:2" descr="{&quot;mbl&quot;: 1, &quot;c&quot;: &quot;runs&quot;, &quot;i&quot;: 2}"/>
          <p:cNvSpPr txBox="1"/>
          <p:nvPr/>
        </p:nvSpPr>
        <p:spPr>
          <a:xfrm>
            <a:off x="365760" y="3008376"/>
            <a:ext cx="5501487" cy="822960"/>
          </a:xfrm>
          <a:prstGeom prst="rect">
            <a:avLst/>
          </a:prstGeom>
          <a:noFill/>
        </p:spPr>
        <p:txBody>
          <a:bodyPr wrap="square" anchor="t" lIns="0" rIns="0" tIns="0" bIns="0">
            <a:noAutofit/>
          </a:bodyPr>
          <a:lstStyle/>
          <a:p>
            <a:pPr algn="l">
              <a:lnSpc>
                <a:spcPct val="100000"/>
              </a:lnSpc>
            </a:pPr>
            <a:r>
              <a:rPr sz="1500" b="1">
                <a:solidFill>
                  <a:srgbClr val="28495A"/>
                </a:solidFill>
                <a:latin typeface="Roboto"/>
              </a:rPr>
              <a:t>ClickHouse above ef_search 128: </a:t>
            </a:r>
            <a:r>
              <a:rPr sz="1500" b="0">
                <a:solidFill>
                  <a:srgbClr val="567F8D"/>
                </a:solidFill>
                <a:latin typeface="Roboto"/>
              </a:rPr>
              <a:t>recall was still rising at 0.76.</a:t>
            </a:r>
          </a:p>
        </p:txBody>
      </p:sp>
      <p:cxnSp>
        <p:nvCxnSpPr>
          <p:cNvPr id="9" name="mbl:hrule:2" descr="{&quot;mbl&quot;: 1, &quot;c&quot;: &quot;hrule&quot;, &quot;i&quot;: 2}"/>
          <p:cNvCxnSpPr/>
          <p:nvPr/>
        </p:nvCxnSpPr>
        <p:spPr>
          <a:xfrm>
            <a:off x="365760" y="3877056"/>
            <a:ext cx="5501487"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0" name="mbl:runs:3" descr="{&quot;mbl&quot;: 1, &quot;c&quot;: &quot;runs&quot;, &quot;i&quot;: 3}"/>
          <p:cNvSpPr txBox="1"/>
          <p:nvPr/>
        </p:nvSpPr>
        <p:spPr>
          <a:xfrm>
            <a:off x="365760" y="4032504"/>
            <a:ext cx="5501487" cy="822960"/>
          </a:xfrm>
          <a:prstGeom prst="rect">
            <a:avLst/>
          </a:prstGeom>
          <a:noFill/>
        </p:spPr>
        <p:txBody>
          <a:bodyPr wrap="square" anchor="t" lIns="0" rIns="0" tIns="0" bIns="0">
            <a:noAutofit/>
          </a:bodyPr>
          <a:lstStyle/>
          <a:p>
            <a:pPr algn="l">
              <a:lnSpc>
                <a:spcPct val="100000"/>
              </a:lnSpc>
            </a:pPr>
            <a:r>
              <a:rPr sz="1500" b="1">
                <a:solidFill>
                  <a:srgbClr val="28495A"/>
                </a:solidFill>
                <a:latin typeface="Roboto"/>
              </a:rPr>
              <a:t>Why ivfplus on Postgres stops at 0.886: </a:t>
            </a:r>
            <a:r>
              <a:rPr sz="1500" b="0">
                <a:solidFill>
                  <a:srgbClr val="567F8D"/>
                </a:solidFill>
                <a:latin typeface="Roboto"/>
              </a:rPr>
              <a:t>the cause is not yet known.</a:t>
            </a:r>
          </a:p>
        </p:txBody>
      </p:sp>
      <p:cxnSp>
        <p:nvCxnSpPr>
          <p:cNvPr id="11" name="mbl:hrule:3" descr="{&quot;mbl&quot;: 1, &quot;c&quot;: &quot;hrule&quot;, &quot;i&quot;: 3}"/>
          <p:cNvCxnSpPr/>
          <p:nvPr/>
        </p:nvCxnSpPr>
        <p:spPr>
          <a:xfrm>
            <a:off x="365760" y="4901184"/>
            <a:ext cx="5501487"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2" name="mbl:runs:4" descr="{&quot;mbl&quot;: 1, &quot;c&quot;: &quot;runs&quot;, &quot;i&quot;: 4}"/>
          <p:cNvSpPr txBox="1"/>
          <p:nvPr/>
        </p:nvSpPr>
        <p:spPr>
          <a:xfrm>
            <a:off x="365760" y="5056632"/>
            <a:ext cx="5501487" cy="822960"/>
          </a:xfrm>
          <a:prstGeom prst="rect">
            <a:avLst/>
          </a:prstGeom>
          <a:noFill/>
        </p:spPr>
        <p:txBody>
          <a:bodyPr wrap="square" anchor="t" lIns="0" rIns="0" tIns="0" bIns="0">
            <a:noAutofit/>
          </a:bodyPr>
          <a:lstStyle/>
          <a:p>
            <a:pPr algn="l">
              <a:lnSpc>
                <a:spcPct val="100000"/>
              </a:lnSpc>
            </a:pPr>
            <a:r>
              <a:rPr sz="1500" b="1">
                <a:solidFill>
                  <a:srgbClr val="28495A"/>
                </a:solidFill>
                <a:latin typeface="Roboto"/>
              </a:rPr>
              <a:t>pgvector HNSW at 2M rows, and churn: </a:t>
            </a:r>
            <a:r>
              <a:rPr sz="1500" b="0">
                <a:solidFill>
                  <a:srgbClr val="567F8D"/>
                </a:solidFill>
                <a:latin typeface="Roboto"/>
              </a:rPr>
              <a:t>inserts, updates and deletes.</a:t>
            </a:r>
          </a:p>
        </p:txBody>
      </p:sp>
      <p:sp>
        <p:nvSpPr>
          <p:cNvPr id="13" name="mbl:runs:5" descr="{&quot;mbl&quot;: 1, &quot;c&quot;: &quot;runs&quot;, &quot;i&quot;: 5}"/>
          <p:cNvSpPr txBox="1"/>
          <p:nvPr/>
        </p:nvSpPr>
        <p:spPr>
          <a:xfrm>
            <a:off x="6324447" y="1984248"/>
            <a:ext cx="5501487" cy="822960"/>
          </a:xfrm>
          <a:prstGeom prst="rect">
            <a:avLst/>
          </a:prstGeom>
          <a:noFill/>
        </p:spPr>
        <p:txBody>
          <a:bodyPr wrap="square" anchor="t" lIns="0" rIns="0" tIns="0" bIns="0">
            <a:noAutofit/>
          </a:bodyPr>
          <a:lstStyle/>
          <a:p>
            <a:pPr algn="l">
              <a:lnSpc>
                <a:spcPct val="100000"/>
              </a:lnSpc>
            </a:pPr>
            <a:r>
              <a:rPr sz="1500" b="1">
                <a:solidFill>
                  <a:srgbClr val="28495A"/>
                </a:solidFill>
                <a:latin typeface="Roboto"/>
              </a:rPr>
              <a:t>Settings above 32 probes: </a:t>
            </a:r>
            <a:r>
              <a:rPr sz="1500" b="0">
                <a:solidFill>
                  <a:srgbClr val="567F8D"/>
                </a:solidFill>
                <a:latin typeface="Roboto"/>
              </a:rPr>
              <a:t>one run each, so no repeat to take the lowest of.</a:t>
            </a:r>
          </a:p>
        </p:txBody>
      </p:sp>
      <p:cxnSp>
        <p:nvCxnSpPr>
          <p:cNvPr id="14" name="mbl:hrule:4" descr="{&quot;mbl&quot;: 1, &quot;c&quot;: &quot;hrule&quot;, &quot;i&quot;: 4}"/>
          <p:cNvCxnSpPr/>
          <p:nvPr/>
        </p:nvCxnSpPr>
        <p:spPr>
          <a:xfrm>
            <a:off x="6324447" y="2852928"/>
            <a:ext cx="5501488"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5" name="mbl:runs:6" descr="{&quot;mbl&quot;: 1, &quot;c&quot;: &quot;runs&quot;, &quot;i&quot;: 6}"/>
          <p:cNvSpPr txBox="1"/>
          <p:nvPr/>
        </p:nvSpPr>
        <p:spPr>
          <a:xfrm>
            <a:off x="6324447" y="3008376"/>
            <a:ext cx="5501487" cy="822960"/>
          </a:xfrm>
          <a:prstGeom prst="rect">
            <a:avLst/>
          </a:prstGeom>
          <a:noFill/>
        </p:spPr>
        <p:txBody>
          <a:bodyPr wrap="square" anchor="t" lIns="0" rIns="0" tIns="0" bIns="0">
            <a:noAutofit/>
          </a:bodyPr>
          <a:lstStyle/>
          <a:p>
            <a:pPr algn="l">
              <a:lnSpc>
                <a:spcPct val="100000"/>
              </a:lnSpc>
            </a:pPr>
            <a:r>
              <a:rPr sz="1500" b="1">
                <a:solidFill>
                  <a:srgbClr val="28495A"/>
                </a:solidFill>
                <a:latin typeface="Roboto"/>
              </a:rPr>
              <a:t>Synthetic embeddings, 50 queries: </a:t>
            </a:r>
            <a:r>
              <a:rPr sz="1500" b="0">
                <a:solidFill>
                  <a:srgbClr val="567F8D"/>
                </a:solidFill>
                <a:latin typeface="Roboto"/>
              </a:rPr>
              <a:t>recall standard errors of 0.01 to 0.05.</a:t>
            </a:r>
          </a:p>
        </p:txBody>
      </p:sp>
      <p:cxnSp>
        <p:nvCxnSpPr>
          <p:cNvPr id="16" name="mbl:hrule:5" descr="{&quot;mbl&quot;: 1, &quot;c&quot;: &quot;hrule&quot;, &quot;i&quot;: 5}"/>
          <p:cNvCxnSpPr/>
          <p:nvPr/>
        </p:nvCxnSpPr>
        <p:spPr>
          <a:xfrm>
            <a:off x="6324447" y="3877056"/>
            <a:ext cx="5501488"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7" name="mbl:runs:7" descr="{&quot;mbl&quot;: 1, &quot;c&quot;: &quot;runs&quot;, &quot;i&quot;: 7}"/>
          <p:cNvSpPr txBox="1"/>
          <p:nvPr/>
        </p:nvSpPr>
        <p:spPr>
          <a:xfrm>
            <a:off x="6324447" y="4032504"/>
            <a:ext cx="5501487" cy="822960"/>
          </a:xfrm>
          <a:prstGeom prst="rect">
            <a:avLst/>
          </a:prstGeom>
          <a:noFill/>
        </p:spPr>
        <p:txBody>
          <a:bodyPr wrap="square" anchor="t" lIns="0" rIns="0" tIns="0" bIns="0">
            <a:noAutofit/>
          </a:bodyPr>
          <a:lstStyle/>
          <a:p>
            <a:pPr algn="l">
              <a:lnSpc>
                <a:spcPct val="100000"/>
              </a:lnSpc>
            </a:pPr>
            <a:r>
              <a:rPr sz="1500" b="1">
                <a:solidFill>
                  <a:srgbClr val="28495A"/>
                </a:solidFill>
                <a:latin typeface="Roboto"/>
              </a:rPr>
              <a:t>ClickHouse shared the host </a:t>
            </a:r>
            <a:r>
              <a:rPr sz="1500" b="0">
                <a:solidFill>
                  <a:srgbClr val="567F8D"/>
                </a:solidFill>
                <a:latin typeface="Roboto"/>
              </a:rPr>
              <a:t>with Postgres in runs 3 and 4.</a:t>
            </a:r>
          </a:p>
        </p:txBody>
      </p:sp>
      <p:cxnSp>
        <p:nvCxnSpPr>
          <p:cNvPr id="18" name="mbl:hrule:6" descr="{&quot;mbl&quot;: 1, &quot;c&quot;: &quot;hrule&quot;, &quot;i&quot;: 6}"/>
          <p:cNvCxnSpPr/>
          <p:nvPr/>
        </p:nvCxnSpPr>
        <p:spPr>
          <a:xfrm>
            <a:off x="6324447" y="4901184"/>
            <a:ext cx="5501488"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9" name="mbl:runs:8" descr="{&quot;mbl&quot;: 1, &quot;c&quot;: &quot;runs&quot;, &quot;i&quot;: 8}"/>
          <p:cNvSpPr txBox="1"/>
          <p:nvPr/>
        </p:nvSpPr>
        <p:spPr>
          <a:xfrm>
            <a:off x="6324447" y="5056632"/>
            <a:ext cx="5501487" cy="822960"/>
          </a:xfrm>
          <a:prstGeom prst="rect">
            <a:avLst/>
          </a:prstGeom>
          <a:noFill/>
        </p:spPr>
        <p:txBody>
          <a:bodyPr wrap="square" anchor="t" lIns="0" rIns="0" tIns="0" bIns="0">
            <a:noAutofit/>
          </a:bodyPr>
          <a:lstStyle/>
          <a:p>
            <a:pPr algn="l">
              <a:lnSpc>
                <a:spcPct val="100000"/>
              </a:lnSpc>
            </a:pPr>
            <a:r>
              <a:rPr sz="1500" b="1">
                <a:solidFill>
                  <a:srgbClr val="28495A"/>
                </a:solidFill>
                <a:latin typeface="Roboto"/>
              </a:rPr>
              <a:t>WarehousePG runs Postgres 12: </a:t>
            </a:r>
            <a:r>
              <a:rPr sz="1500" b="0">
                <a:solidFill>
                  <a:srgbClr val="567F8D"/>
                </a:solidFill>
                <a:latin typeface="Roboto"/>
              </a:rPr>
              <a:t>with pgvector 0.7.4, an older stack.</a:t>
            </a:r>
          </a:p>
        </p:txBody>
      </p:sp>
      <p:cxnSp>
        <p:nvCxnSpPr>
          <p:cNvPr id="20" name="mbl:vrule:1" descr="{&quot;mbl&quot;: 1, &quot;c&quot;: &quot;vrule&quot;, &quot;i&quot;: 1}"/>
          <p:cNvCxnSpPr/>
          <p:nvPr/>
        </p:nvCxnSpPr>
        <p:spPr>
          <a:xfrm>
            <a:off x="6095847" y="1920240"/>
            <a:ext cx="0" cy="3931920"/>
          </a:xfrm>
          <a:prstGeom prst="line">
            <a:avLst/>
          </a:prstGeom>
          <a:ln w="12700">
            <a:solidFill>
              <a:srgbClr val="A8C2CA"/>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400" b="1" i="0">
                <a:solidFill>
                  <a:srgbClr val="28495A"/>
                </a:solidFill>
                <a:latin typeface="Roboto Condensed"/>
              </a:rPr>
              <a:t>THE NEXT SWEEP SHOULD FINISH TWO LADDERS AND EXPLAIN ONE CEILING</a:t>
            </a:r>
          </a:p>
        </p:txBody>
      </p:sp>
      <p:sp>
        <p:nvSpPr>
          <p:cNvPr id="4" name="mbl:txt:1" descr="{&quot;mbl&quot;: 1, &quot;c&quot;: &quot;txt&quot;, &quot;i&quot;: 1}"/>
          <p:cNvSpPr txBox="1"/>
          <p:nvPr/>
        </p:nvSpPr>
        <p:spPr>
          <a:xfrm>
            <a:off x="365760" y="2057400"/>
            <a:ext cx="2590723" cy="822960"/>
          </a:xfrm>
          <a:prstGeom prst="rect">
            <a:avLst/>
          </a:prstGeom>
          <a:noFill/>
        </p:spPr>
        <p:txBody>
          <a:bodyPr wrap="square" anchor="ctr" lIns="0" rIns="0" tIns="0" bIns="0">
            <a:noAutofit/>
          </a:bodyPr>
          <a:lstStyle/>
          <a:p>
            <a:pPr algn="l">
              <a:lnSpc>
                <a:spcPct val="100000"/>
              </a:lnSpc>
            </a:pPr>
            <a:r>
              <a:rPr sz="5400" b="1" i="0">
                <a:solidFill>
                  <a:srgbClr val="28495A"/>
                </a:solidFill>
                <a:latin typeface="Roboto Condensed"/>
              </a:rPr>
              <a:t>01</a:t>
            </a:r>
          </a:p>
        </p:txBody>
      </p:sp>
      <p:cxnSp>
        <p:nvCxnSpPr>
          <p:cNvPr id="5" name="mbl:hrule:1" descr="{&quot;mbl&quot;: 1, &quot;c&quot;: &quot;hrule&quot;, &quot;i&quot;: 1}"/>
          <p:cNvCxnSpPr/>
          <p:nvPr/>
        </p:nvCxnSpPr>
        <p:spPr>
          <a:xfrm>
            <a:off x="365760" y="3017520"/>
            <a:ext cx="2590723" cy="0"/>
          </a:xfrm>
          <a:prstGeom prst="line">
            <a:avLst/>
          </a:prstGeom>
          <a:ln w="25400">
            <a:solidFill>
              <a:srgbClr val="28495A"/>
            </a:solidFill>
          </a:ln>
          <a:effectLst/>
        </p:spPr>
        <p:style>
          <a:lnRef idx="2">
            <a:schemeClr val="accent1"/>
          </a:lnRef>
          <a:fillRef idx="0">
            <a:schemeClr val="accent1"/>
          </a:fillRef>
          <a:effectRef idx="0">
            <a:schemeClr val="accent1"/>
          </a:effectRef>
          <a:fontRef idx="minor">
            <a:schemeClr val="tx1"/>
          </a:fontRef>
        </p:style>
      </p:cxnSp>
      <p:sp>
        <p:nvSpPr>
          <p:cNvPr id="6" name="mbl:txt:2" descr="{&quot;mbl&quot;: 1, &quot;c&quot;: &quot;txt&quot;, &quot;i&quot;: 2}"/>
          <p:cNvSpPr txBox="1"/>
          <p:nvPr/>
        </p:nvSpPr>
        <p:spPr>
          <a:xfrm>
            <a:off x="365760" y="3200400"/>
            <a:ext cx="2590723" cy="365760"/>
          </a:xfrm>
          <a:prstGeom prst="rect">
            <a:avLst/>
          </a:prstGeom>
          <a:noFill/>
        </p:spPr>
        <p:txBody>
          <a:bodyPr wrap="square" anchor="t" lIns="0" rIns="0" tIns="0" bIns="0">
            <a:noAutofit/>
          </a:bodyPr>
          <a:lstStyle/>
          <a:p>
            <a:pPr algn="l">
              <a:lnSpc>
                <a:spcPct val="100000"/>
              </a:lnSpc>
            </a:pPr>
            <a:r>
              <a:rPr sz="1800" b="1" i="0">
                <a:solidFill>
                  <a:srgbClr val="28495A"/>
                </a:solidFill>
                <a:latin typeface="Roboto Condensed"/>
              </a:rPr>
              <a:t>Finish the ladder</a:t>
            </a:r>
          </a:p>
        </p:txBody>
      </p:sp>
      <p:sp>
        <p:nvSpPr>
          <p:cNvPr id="7" name="mbl:txt:3" descr="{&quot;mbl&quot;: 1, &quot;c&quot;: &quot;txt&quot;, &quot;i&quot;: 3}"/>
          <p:cNvSpPr txBox="1"/>
          <p:nvPr/>
        </p:nvSpPr>
        <p:spPr>
          <a:xfrm>
            <a:off x="365760" y="3703320"/>
            <a:ext cx="2590723" cy="2194560"/>
          </a:xfrm>
          <a:prstGeom prst="rect">
            <a:avLst/>
          </a:prstGeom>
          <a:noFill/>
        </p:spPr>
        <p:txBody>
          <a:bodyPr wrap="square" anchor="t" lIns="0" rIns="0" tIns="0" bIns="0">
            <a:noAutofit/>
          </a:bodyPr>
          <a:lstStyle/>
          <a:p>
            <a:pPr algn="l">
              <a:lnSpc>
                <a:spcPct val="110000"/>
              </a:lnSpc>
            </a:pPr>
            <a:r>
              <a:rPr sz="1500" b="0" i="0">
                <a:solidFill>
                  <a:srgbClr val="567F8D"/>
                </a:solidFill>
                <a:latin typeface="Roboto"/>
              </a:rPr>
              <a:t>Probes 64 to 256 for ivfplus on WarehousePG, and ef_search up to 1000 for ClickHouse.</a:t>
            </a:r>
          </a:p>
        </p:txBody>
      </p:sp>
      <p:sp>
        <p:nvSpPr>
          <p:cNvPr id="8" name="mbl:txt:4" descr="{&quot;mbl&quot;: 1, &quot;c&quot;: &quot;txt&quot;, &quot;i&quot;: 4}"/>
          <p:cNvSpPr txBox="1"/>
          <p:nvPr/>
        </p:nvSpPr>
        <p:spPr>
          <a:xfrm>
            <a:off x="3322243" y="2057400"/>
            <a:ext cx="2590723" cy="822960"/>
          </a:xfrm>
          <a:prstGeom prst="rect">
            <a:avLst/>
          </a:prstGeom>
          <a:noFill/>
        </p:spPr>
        <p:txBody>
          <a:bodyPr wrap="square" anchor="ctr" lIns="0" rIns="0" tIns="0" bIns="0">
            <a:noAutofit/>
          </a:bodyPr>
          <a:lstStyle/>
          <a:p>
            <a:pPr algn="l">
              <a:lnSpc>
                <a:spcPct val="100000"/>
              </a:lnSpc>
            </a:pPr>
            <a:r>
              <a:rPr sz="5400" b="1" i="0">
                <a:solidFill>
                  <a:srgbClr val="28495A"/>
                </a:solidFill>
                <a:latin typeface="Roboto Condensed"/>
              </a:rPr>
              <a:t>02</a:t>
            </a:r>
          </a:p>
        </p:txBody>
      </p:sp>
      <p:cxnSp>
        <p:nvCxnSpPr>
          <p:cNvPr id="9" name="mbl:hrule:2" descr="{&quot;mbl&quot;: 1, &quot;c&quot;: &quot;hrule&quot;, &quot;i&quot;: 2}"/>
          <p:cNvCxnSpPr/>
          <p:nvPr/>
        </p:nvCxnSpPr>
        <p:spPr>
          <a:xfrm>
            <a:off x="3322243" y="3017520"/>
            <a:ext cx="2590724" cy="0"/>
          </a:xfrm>
          <a:prstGeom prst="line">
            <a:avLst/>
          </a:prstGeom>
          <a:ln w="25400">
            <a:solidFill>
              <a:srgbClr val="28495A"/>
            </a:solidFill>
          </a:ln>
          <a:effectLst/>
        </p:spPr>
        <p:style>
          <a:lnRef idx="2">
            <a:schemeClr val="accent1"/>
          </a:lnRef>
          <a:fillRef idx="0">
            <a:schemeClr val="accent1"/>
          </a:fillRef>
          <a:effectRef idx="0">
            <a:schemeClr val="accent1"/>
          </a:effectRef>
          <a:fontRef idx="minor">
            <a:schemeClr val="tx1"/>
          </a:fontRef>
        </p:style>
      </p:cxnSp>
      <p:sp>
        <p:nvSpPr>
          <p:cNvPr id="10" name="mbl:txt:5" descr="{&quot;mbl&quot;: 1, &quot;c&quot;: &quot;txt&quot;, &quot;i&quot;: 5}"/>
          <p:cNvSpPr txBox="1"/>
          <p:nvPr/>
        </p:nvSpPr>
        <p:spPr>
          <a:xfrm>
            <a:off x="3322243" y="3200400"/>
            <a:ext cx="2590723" cy="365760"/>
          </a:xfrm>
          <a:prstGeom prst="rect">
            <a:avLst/>
          </a:prstGeom>
          <a:noFill/>
        </p:spPr>
        <p:txBody>
          <a:bodyPr wrap="square" anchor="t" lIns="0" rIns="0" tIns="0" bIns="0">
            <a:noAutofit/>
          </a:bodyPr>
          <a:lstStyle/>
          <a:p>
            <a:pPr algn="l">
              <a:lnSpc>
                <a:spcPct val="100000"/>
              </a:lnSpc>
            </a:pPr>
            <a:r>
              <a:rPr sz="1800" b="1" i="0">
                <a:solidFill>
                  <a:srgbClr val="28495A"/>
                </a:solidFill>
                <a:latin typeface="Roboto Condensed"/>
              </a:rPr>
              <a:t>Explain the ceiling</a:t>
            </a:r>
          </a:p>
        </p:txBody>
      </p:sp>
      <p:sp>
        <p:nvSpPr>
          <p:cNvPr id="11" name="mbl:txt:6" descr="{&quot;mbl&quot;: 1, &quot;c&quot;: &quot;txt&quot;, &quot;i&quot;: 6}"/>
          <p:cNvSpPr txBox="1"/>
          <p:nvPr/>
        </p:nvSpPr>
        <p:spPr>
          <a:xfrm>
            <a:off x="3322243" y="3703320"/>
            <a:ext cx="2590723" cy="2194560"/>
          </a:xfrm>
          <a:prstGeom prst="rect">
            <a:avLst/>
          </a:prstGeom>
          <a:noFill/>
        </p:spPr>
        <p:txBody>
          <a:bodyPr wrap="square" anchor="t" lIns="0" rIns="0" tIns="0" bIns="0">
            <a:noAutofit/>
          </a:bodyPr>
          <a:lstStyle/>
          <a:p>
            <a:pPr algn="l">
              <a:lnSpc>
                <a:spcPct val="110000"/>
              </a:lnSpc>
            </a:pPr>
            <a:r>
              <a:rPr sz="1500" b="0" i="0">
                <a:solidFill>
                  <a:srgbClr val="567F8D"/>
                </a:solidFill>
                <a:latin typeface="Roboto"/>
              </a:rPr>
              <a:t>Rebuild ivfplus on Postgres with other lists, rotation and store_vectors settings, and see whether recall passes 0.9.</a:t>
            </a:r>
          </a:p>
        </p:txBody>
      </p:sp>
      <p:sp>
        <p:nvSpPr>
          <p:cNvPr id="12" name="mbl:txt:7" descr="{&quot;mbl&quot;: 1, &quot;c&quot;: &quot;txt&quot;, &quot;i&quot;: 7}"/>
          <p:cNvSpPr txBox="1"/>
          <p:nvPr/>
        </p:nvSpPr>
        <p:spPr>
          <a:xfrm>
            <a:off x="6278727" y="2057400"/>
            <a:ext cx="2590723" cy="822960"/>
          </a:xfrm>
          <a:prstGeom prst="rect">
            <a:avLst/>
          </a:prstGeom>
          <a:noFill/>
        </p:spPr>
        <p:txBody>
          <a:bodyPr wrap="square" anchor="ctr" lIns="0" rIns="0" tIns="0" bIns="0">
            <a:noAutofit/>
          </a:bodyPr>
          <a:lstStyle/>
          <a:p>
            <a:pPr algn="l">
              <a:lnSpc>
                <a:spcPct val="100000"/>
              </a:lnSpc>
            </a:pPr>
            <a:r>
              <a:rPr sz="5400" b="1" i="0">
                <a:solidFill>
                  <a:srgbClr val="28495A"/>
                </a:solidFill>
                <a:latin typeface="Roboto Condensed"/>
              </a:rPr>
              <a:t>03</a:t>
            </a:r>
          </a:p>
        </p:txBody>
      </p:sp>
      <p:cxnSp>
        <p:nvCxnSpPr>
          <p:cNvPr id="13" name="mbl:hrule:3" descr="{&quot;mbl&quot;: 1, &quot;c&quot;: &quot;hrule&quot;, &quot;i&quot;: 3}"/>
          <p:cNvCxnSpPr/>
          <p:nvPr/>
        </p:nvCxnSpPr>
        <p:spPr>
          <a:xfrm>
            <a:off x="6278727" y="3017520"/>
            <a:ext cx="2590724" cy="0"/>
          </a:xfrm>
          <a:prstGeom prst="line">
            <a:avLst/>
          </a:prstGeom>
          <a:ln w="25400">
            <a:solidFill>
              <a:srgbClr val="28495A"/>
            </a:solidFill>
          </a:ln>
          <a:effectLst/>
        </p:spPr>
        <p:style>
          <a:lnRef idx="2">
            <a:schemeClr val="accent1"/>
          </a:lnRef>
          <a:fillRef idx="0">
            <a:schemeClr val="accent1"/>
          </a:fillRef>
          <a:effectRef idx="0">
            <a:schemeClr val="accent1"/>
          </a:effectRef>
          <a:fontRef idx="minor">
            <a:schemeClr val="tx1"/>
          </a:fontRef>
        </p:style>
      </p:cxnSp>
      <p:sp>
        <p:nvSpPr>
          <p:cNvPr id="14" name="mbl:txt:8" descr="{&quot;mbl&quot;: 1, &quot;c&quot;: &quot;txt&quot;, &quot;i&quot;: 8}"/>
          <p:cNvSpPr txBox="1"/>
          <p:nvPr/>
        </p:nvSpPr>
        <p:spPr>
          <a:xfrm>
            <a:off x="6278727" y="3200400"/>
            <a:ext cx="2590723" cy="365760"/>
          </a:xfrm>
          <a:prstGeom prst="rect">
            <a:avLst/>
          </a:prstGeom>
          <a:noFill/>
        </p:spPr>
        <p:txBody>
          <a:bodyPr wrap="square" anchor="t" lIns="0" rIns="0" tIns="0" bIns="0">
            <a:noAutofit/>
          </a:bodyPr>
          <a:lstStyle/>
          <a:p>
            <a:pPr algn="l">
              <a:lnSpc>
                <a:spcPct val="100000"/>
              </a:lnSpc>
            </a:pPr>
            <a:r>
              <a:rPr sz="1800" b="1" i="0">
                <a:solidFill>
                  <a:srgbClr val="28495A"/>
                </a:solidFill>
                <a:latin typeface="Roboto Condensed"/>
              </a:rPr>
              <a:t>Repeat on a quiet host</a:t>
            </a:r>
          </a:p>
        </p:txBody>
      </p:sp>
      <p:sp>
        <p:nvSpPr>
          <p:cNvPr id="15" name="mbl:txt:9" descr="{&quot;mbl&quot;: 1, &quot;c&quot;: &quot;txt&quot;, &quot;i&quot;: 9}"/>
          <p:cNvSpPr txBox="1"/>
          <p:nvPr/>
        </p:nvSpPr>
        <p:spPr>
          <a:xfrm>
            <a:off x="6278727" y="3703320"/>
            <a:ext cx="2590723" cy="2194560"/>
          </a:xfrm>
          <a:prstGeom prst="rect">
            <a:avLst/>
          </a:prstGeom>
          <a:noFill/>
        </p:spPr>
        <p:txBody>
          <a:bodyPr wrap="square" anchor="t" lIns="0" rIns="0" tIns="0" bIns="0">
            <a:noAutofit/>
          </a:bodyPr>
          <a:lstStyle/>
          <a:p>
            <a:pPr algn="l">
              <a:lnSpc>
                <a:spcPct val="110000"/>
              </a:lnSpc>
            </a:pPr>
            <a:r>
              <a:rPr sz="1500" b="0" i="0">
                <a:solidFill>
                  <a:srgbClr val="567F8D"/>
                </a:solidFill>
                <a:latin typeface="Roboto"/>
              </a:rPr>
              <a:t>Run each sweep three times with ClickHouse stopped, using the Repeats and quiet-host options now in the dashboard.</a:t>
            </a:r>
          </a:p>
        </p:txBody>
      </p:sp>
      <p:sp>
        <p:nvSpPr>
          <p:cNvPr id="16" name="mbl:txt:10" descr="{&quot;mbl&quot;: 1, &quot;c&quot;: &quot;txt&quot;, &quot;i&quot;: 10}"/>
          <p:cNvSpPr txBox="1"/>
          <p:nvPr/>
        </p:nvSpPr>
        <p:spPr>
          <a:xfrm>
            <a:off x="9235211" y="2057400"/>
            <a:ext cx="2590723" cy="822960"/>
          </a:xfrm>
          <a:prstGeom prst="rect">
            <a:avLst/>
          </a:prstGeom>
          <a:noFill/>
        </p:spPr>
        <p:txBody>
          <a:bodyPr wrap="square" anchor="ctr" lIns="0" rIns="0" tIns="0" bIns="0">
            <a:noAutofit/>
          </a:bodyPr>
          <a:lstStyle/>
          <a:p>
            <a:pPr algn="l">
              <a:lnSpc>
                <a:spcPct val="100000"/>
              </a:lnSpc>
            </a:pPr>
            <a:r>
              <a:rPr sz="5400" b="1" i="0">
                <a:solidFill>
                  <a:srgbClr val="28495A"/>
                </a:solidFill>
                <a:latin typeface="Roboto Condensed"/>
              </a:rPr>
              <a:t>04</a:t>
            </a:r>
          </a:p>
        </p:txBody>
      </p:sp>
      <p:cxnSp>
        <p:nvCxnSpPr>
          <p:cNvPr id="17" name="mbl:hrule:4" descr="{&quot;mbl&quot;: 1, &quot;c&quot;: &quot;hrule&quot;, &quot;i&quot;: 4}"/>
          <p:cNvCxnSpPr/>
          <p:nvPr/>
        </p:nvCxnSpPr>
        <p:spPr>
          <a:xfrm>
            <a:off x="9235211" y="3017520"/>
            <a:ext cx="2590724" cy="0"/>
          </a:xfrm>
          <a:prstGeom prst="line">
            <a:avLst/>
          </a:prstGeom>
          <a:ln w="25400">
            <a:solidFill>
              <a:srgbClr val="28495A"/>
            </a:solidFill>
          </a:ln>
          <a:effectLst/>
        </p:spPr>
        <p:style>
          <a:lnRef idx="2">
            <a:schemeClr val="accent1"/>
          </a:lnRef>
          <a:fillRef idx="0">
            <a:schemeClr val="accent1"/>
          </a:fillRef>
          <a:effectRef idx="0">
            <a:schemeClr val="accent1"/>
          </a:effectRef>
          <a:fontRef idx="minor">
            <a:schemeClr val="tx1"/>
          </a:fontRef>
        </p:style>
      </p:cxnSp>
      <p:sp>
        <p:nvSpPr>
          <p:cNvPr id="18" name="mbl:txt:11" descr="{&quot;mbl&quot;: 1, &quot;c&quot;: &quot;txt&quot;, &quot;i&quot;: 11}"/>
          <p:cNvSpPr txBox="1"/>
          <p:nvPr/>
        </p:nvSpPr>
        <p:spPr>
          <a:xfrm>
            <a:off x="9235211" y="3200400"/>
            <a:ext cx="2590723" cy="365760"/>
          </a:xfrm>
          <a:prstGeom prst="rect">
            <a:avLst/>
          </a:prstGeom>
          <a:noFill/>
        </p:spPr>
        <p:txBody>
          <a:bodyPr wrap="square" anchor="t" lIns="0" rIns="0" tIns="0" bIns="0">
            <a:noAutofit/>
          </a:bodyPr>
          <a:lstStyle/>
          <a:p>
            <a:pPr algn="l">
              <a:lnSpc>
                <a:spcPct val="100000"/>
              </a:lnSpc>
            </a:pPr>
            <a:r>
              <a:rPr sz="1800" b="1" i="0">
                <a:solidFill>
                  <a:srgbClr val="28495A"/>
                </a:solidFill>
                <a:latin typeface="Roboto Condensed"/>
              </a:rPr>
              <a:t>Fill the gaps</a:t>
            </a:r>
          </a:p>
        </p:txBody>
      </p:sp>
      <p:sp>
        <p:nvSpPr>
          <p:cNvPr id="19" name="mbl:txt:12" descr="{&quot;mbl&quot;: 1, &quot;c&quot;: &quot;txt&quot;, &quot;i&quot;: 12}"/>
          <p:cNvSpPr txBox="1"/>
          <p:nvPr/>
        </p:nvSpPr>
        <p:spPr>
          <a:xfrm>
            <a:off x="9235211" y="3703320"/>
            <a:ext cx="2590723" cy="2194560"/>
          </a:xfrm>
          <a:prstGeom prst="rect">
            <a:avLst/>
          </a:prstGeom>
          <a:noFill/>
        </p:spPr>
        <p:txBody>
          <a:bodyPr wrap="square" anchor="t" lIns="0" rIns="0" tIns="0" bIns="0">
            <a:noAutofit/>
          </a:bodyPr>
          <a:lstStyle/>
          <a:p>
            <a:pPr algn="l">
              <a:lnSpc>
                <a:spcPct val="110000"/>
              </a:lnSpc>
            </a:pPr>
            <a:r>
              <a:rPr sz="1500" b="0" i="0">
                <a:solidFill>
                  <a:srgbClr val="567F8D"/>
                </a:solidFill>
                <a:latin typeface="Roboto"/>
              </a:rPr>
              <a:t>pgvector HNSW at 2M rows, a churn run for maintenance cost, then 10M rows.</a:t>
            </a:r>
          </a:p>
        </p:txBody>
      </p:sp>
    </p:spTree>
  </p:cSld>
  <p:clrMapOvr>
    <a:masterClrMapping/>
  </p:clrMapOvr>
</p:sld>
</file>

<file path=ppt/theme/theme1.xml><?xml version="1.0" encoding="utf-8"?>
<a:theme xmlns:a="http://schemas.openxmlformats.org/drawingml/2006/main" name="Office Theme">
  <a:themeElements>
    <a:clrScheme name="Office">
      <a:dk1>
        <a:srgbClr val="28495A"/>
      </a:dk1>
      <a:lt1>
        <a:sysClr val="window" lastClr="FFFFFF"/>
      </a:lt1>
      <a:dk2>
        <a:srgbClr val="0D1E25"/>
      </a:dk2>
      <a:lt2>
        <a:srgbClr val="E8F2F5"/>
      </a:lt2>
      <a:accent1>
        <a:srgbClr val="28495A"/>
      </a:accent1>
      <a:accent2>
        <a:srgbClr val="E7C568"/>
      </a:accent2>
      <a:accent3>
        <a:srgbClr val="567F8D"/>
      </a:accent3>
      <a:accent4>
        <a:srgbClr val="1E3D4A"/>
      </a:accent4>
      <a:accent5>
        <a:srgbClr val="A8C2CA"/>
      </a:accent5>
      <a:accent6>
        <a:srgbClr val="E96F4C"/>
      </a:accent6>
      <a:hlink>
        <a:srgbClr val="567F8D"/>
      </a:hlink>
      <a:folHlink>
        <a:srgbClr val="567F8D"/>
      </a:folHlink>
    </a:clrScheme>
    <a:fontScheme name="Office">
      <a:majorFont>
        <a:latin typeface="Roboto Condense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{"living_deck": 1, "skill": "edb-bento-lite", "folder": "/mnt/user-data/outputs/2026-10-23 Vector Search Benchmark Review", "build": "build_deck.py", "protocol": "reconcile-before-rebuild"}</dc:description>
  <cp:lastModifiedBy>Steve Canny</cp:lastModifiedBy>
  <cp:revision>1</cp:revision>
  <dcterms:created xsi:type="dcterms:W3CDTF">2013-01-27T09:14:16Z</dcterms:created>
  <dcterms:modified xsi:type="dcterms:W3CDTF">2013-01-27T09:15:58Z</dcterms:modified>
  <cp:category/>
</cp:coreProperties>
</file>